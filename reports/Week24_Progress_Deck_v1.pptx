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914_6 (1.30 m)</c:v>
                </c:pt>
              </c:strCache>
            </c:strRef>
          </c:tx>
          <c:spPr>
            <a:solidFill>
              <a:srgbClr val="A5B4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−6 h</c:v>
                  </c:pt>
                  <c:pt idx="1">
                    <c:v>−3 h</c:v>
                  </c:pt>
                  <c:pt idx="2">
                    <c:v>+3 h</c:v>
                  </c:pt>
                  <c:pt idx="3">
                    <c:v>+6 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1.9</c:v>
                </c:pt>
                <c:pt idx="1">
                  <c:v>1</c:v>
                </c:pt>
                <c:pt idx="2">
                  <c:v>-2</c:v>
                </c:pt>
                <c:pt idx="3">
                  <c:v>-2.2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880_9 (2.66 m)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−6 h</c:v>
                  </c:pt>
                  <c:pt idx="1">
                    <c:v>−3 h</c:v>
                  </c:pt>
                  <c:pt idx="2">
                    <c:v>+3 h</c:v>
                  </c:pt>
                  <c:pt idx="3">
                    <c:v>+6 h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13.2</c:v>
                </c:pt>
                <c:pt idx="1">
                  <c:v>12.7</c:v>
                </c:pt>
                <c:pt idx="2">
                  <c:v>-1.8</c:v>
                </c:pt>
                <c:pt idx="3">
                  <c:v>-1.9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605_5 (3.76 m)</c:v>
                </c:pt>
              </c:strCache>
            </c:strRef>
          </c:tx>
          <c:spPr>
            <a:solidFill>
              <a:srgbClr val="312E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−6 h</c:v>
                  </c:pt>
                  <c:pt idx="1">
                    <c:v>−3 h</c:v>
                  </c:pt>
                  <c:pt idx="2">
                    <c:v>+3 h</c:v>
                  </c:pt>
                  <c:pt idx="3">
                    <c:v>+6 h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0.05</c:v>
                </c:pt>
                <c:pt idx="1">
                  <c:v>0.15</c:v>
                </c:pt>
                <c:pt idx="2">
                  <c:v>-0.36</c:v>
                </c:pt>
                <c:pt idx="3">
                  <c:v>0.21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280"/>
                    </a:solidFill>
                    <a:latin typeface="Arial"/>
                  </a:rPr>
                  <a:t>Δ end state vs unshifted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7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pre-peak failures</c:v>
                </c:pt>
              </c:strCache>
            </c:strRef>
          </c:tx>
          <c:spPr>
            <a:solidFill>
              <a:srgbClr val="4338C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12E81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−6 h (early)</c:v>
                  </c:pt>
                  <c:pt idx="1">
                    <c:v>−3 h</c:v>
                  </c:pt>
                  <c:pt idx="2">
                    <c:v>+3 h</c:v>
                  </c:pt>
                  <c:pt idx="3">
                    <c:v>+6 h (late)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988</c:v>
                </c:pt>
                <c:pt idx="1">
                  <c:v>933</c:v>
                </c:pt>
                <c:pt idx="2">
                  <c:v>659</c:v>
                </c:pt>
                <c:pt idx="3">
                  <c:v>370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12E81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280"/>
                    </a:solidFill>
                    <a:latin typeface="Arial"/>
                  </a:rPr>
                  <a:t>mean failures before the surge peak (per run)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Frame: a course-heavy week spent hardening rather than expanding. Three results: (1) arrival-error robustness closes the last reviewer check on the dynamic-forcing memo; (2) the approved GNN 2x2 ran end to end — dynamic labels are genuinely harder, timing features close about a quarter of the gap; (3) the GISSR audit went to Gwen, unblocking the production flood-map batch. Everything is committed and pushed at 1f21668.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runs: 4 uniform shifts x 3 storms, N=100, paired seeds against the unshifted arrival run. Crash fractions identical in every arm. End-state deltas: 914_6 up to 2.2% (monotone in shift, +/-6 brackets +/-3 as pre-registered); 605_5 at most 0.4% — the saturated storm absorbs arrival error entirely. 880_9 is the exception — next slide. This closes the arrival-uncertainty reviewer check in memo v2 section 4.6.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Mechanism, in Sandy terms: if the water reaches equipment hours before the worst of the surge, the grid is already degraded when the big hit lands — like ConEd fighting outages all afternoon before the 21:00 East 13th St failure. Pre-peak failures swing 370 to 988 across +6h to −6h. End state rises up to +13% (+315 nodes) with early arrival; later arrival moves it at most 2%. The sensitivity exists only in the tipping zone — the same 2.4–3.2 m band flagged by variance amplification (Wk22), end-state divergence (Wk23), and now the surrogate's difficulty ordering. For Dr. Lin: asymmetry is physical (damage accumulation is monotone in exposure time before the peak), not an artifact; N=100 per arm, paired seeds.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 loss is the cross-cell metric (PR-AUC can't cross label rows: different prevalence). Twin fills the (static, mask) cell. Findings: (1) timing features help even on static labels (−9.4%) — they act as flood-severity covariates; (2) dynamic labels +73% — pre-registered and confirmed; (3) timing closes (0.1877−0.1653)/(0.1877−0.0981) ≈ 25%. Held-out difficulty ranks with saturation: 914_6 0.126 &lt; 258_9 0.273 &lt; gc2050 0.332 &lt; 808_27 0.381 &lt; 605_5 0.479 — same ordering as World 1 variance amplification. Honest caveat for Dr. Lin: single seed per arm; converged-regime val drift &lt;0.003 over final two epochs, but a seed-repeat of one arm is the formal bound — offered as follow-up.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cascade-only metric recovered the initial-failure mask positionally as the last input column; appending timing features silently pointed it at time_to_peak/96 instead — nothing dropped, so CASCADE equaled ALL bit-for-bit in 4 of 5 held-out scenarios (605_5 escaped because its scaled timing values cross 0.5). One-line fix: index the mask at −1 − N_TIMING_FEATURES; the default build is unchanged by construction, so the trained twin's numbers stand. Re-smoke passed all sharp criteria before production launched. Process point: this is why every campaign starts with a smoke and a fingerprint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order: (1) surge-clock anchor — recommend peak (Sandy call-volume record argues for it; +21–58% persistent end-state effect), but present onset honestly (mean-neutral with a fat two-sided tail). This decision picks the canonical dynamic labels for the full timing retrain, which also waits on Gwen's corrected maps. (2) GISSR: batch design once Gwen replies; SLR added by storm year; spatial-diversity question is an advisor call. (3) Dr. Lin: offer the seed-repeat proactively; N_MC 200–300 as a learning-curve experiment. Next week preview: Sandy hindcast timeline check on the existing arrival-ordered GeoClaw runs — zero new simulation, converts the timing claim from model-conditional to empirically anchored.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24: the timing story survives its stress tests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10058400" y="34747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CERA · Week 24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611880" cy="3246120"/>
          </a:xfrm>
          <a:prstGeom prst="roundRect">
            <a:avLst>
              <a:gd name="adj" fmla="val 2535"/>
            </a:avLst>
          </a:prstGeom>
          <a:solidFill>
            <a:srgbClr val="F4F1FB"/>
          </a:solidFill>
          <a:ln/>
          <a:effectLst>
            <a:outerShdw sx="100000" sy="100000" kx="0" ky="0" algn="bl" rotWithShape="0" blurRad="76200" dist="25400" dir="5400000">
              <a:srgbClr val="B7AEDB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733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 closed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±6 h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33756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arrival error never changes whether the city crashes — 12 of 12 shift arms agree on every crash decision.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88536" y="1417320"/>
            <a:ext cx="3611880" cy="3246120"/>
          </a:xfrm>
          <a:prstGeom prst="roundRect">
            <a:avLst>
              <a:gd name="adj" fmla="val 2535"/>
            </a:avLst>
          </a:prstGeom>
          <a:solidFill>
            <a:srgbClr val="F4F1FB"/>
          </a:solidFill>
          <a:ln/>
          <a:effectLst>
            <a:outerShdw sx="100000" sy="100000" kx="0" ky="0" algn="bl" rotWithShape="0" blurRad="76200" dist="25400" dir="5400000">
              <a:srgbClr val="B7AEDB">
                <a:alpha val="3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62856" y="16733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GNN 2×2 delivered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62856" y="219456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~25%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4562856" y="333756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dynamic-label difficulty gap closed by timing features; dynamic labels are +73% harder than static.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74152" y="1417320"/>
            <a:ext cx="3611880" cy="3246120"/>
          </a:xfrm>
          <a:prstGeom prst="roundRect">
            <a:avLst>
              <a:gd name="adj" fmla="val 2535"/>
            </a:avLst>
          </a:prstGeom>
          <a:solidFill>
            <a:srgbClr val="F4F1FB"/>
          </a:solidFill>
          <a:ln/>
          <a:effectLst>
            <a:outerShdw sx="100000" sy="100000" kx="0" ky="0" algn="bl" rotWithShape="0" blurRad="76200" dist="25400" dir="5400000">
              <a:srgbClr val="B7AEDB">
                <a:alpha val="3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48472" y="16733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GISSR unblocked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48472" y="219456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8348472" y="333756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audited findings sent to Gwen with reproduction to machine precision; fixes scoped to her repo.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8920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feat/dynamic-flood-maps @ 1f21668  ·  Torch jobs 16802536 / 16803830 / 16805213  ·  memo v2 §4.6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5925312"/>
            <a:ext cx="11183112" cy="566928"/>
          </a:xfrm>
          <a:prstGeom prst="roundRect">
            <a:avLst>
              <a:gd name="adj" fmla="val 11290"/>
            </a:avLst>
          </a:prstGeom>
          <a:solidFill>
            <a:srgbClr val="EDEA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" y="592531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298448" y="592531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stress-tested every Week 23 timing claim — the story held, and the surrogate now tells the same story from the other side.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Arrival error never changes IF — barely HOW MUCH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10058400" y="34747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5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371600"/>
          <a:ext cx="70408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371600"/>
            <a:ext cx="3822192" cy="1920240"/>
          </a:xfrm>
          <a:prstGeom prst="roundRect">
            <a:avLst>
              <a:gd name="adj" fmla="val 4286"/>
            </a:avLst>
          </a:prstGeom>
          <a:solidFill>
            <a:srgbClr val="F4F1FB"/>
          </a:solidFill>
          <a:ln/>
          <a:effectLst>
            <a:outerShdw sx="100000" sy="100000" kx="0" ky="0" algn="bl" rotWithShape="0" blurRad="76200" dist="25400" dir="5400000">
              <a:srgbClr val="B7AEDB">
                <a:alpha val="3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138160" y="1572768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/ 12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248716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arms that change any crash decision (N=100, paired seeds, t360)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863840" y="3520440"/>
            <a:ext cx="3822192" cy="2057400"/>
          </a:xfrm>
          <a:prstGeom prst="roundRect">
            <a:avLst>
              <a:gd name="adj" fmla="val 4000"/>
            </a:avLst>
          </a:prstGeom>
          <a:solidFill>
            <a:srgbClr val="F4F1FB"/>
          </a:solidFill>
          <a:ln/>
          <a:effectLst>
            <a:outerShdw sx="100000" sy="100000" kx="0" ky="0" algn="bl" rotWithShape="0" blurRad="76200" dist="25400" dir="5400000">
              <a:srgbClr val="B7AEDB">
                <a:alpha val="3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138160" y="37033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914_6   ≤ 2.2%
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605_5   ≤ 0.4%
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880_9   +13% early only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4846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end-state delta per storm across all four shifts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" y="5925312"/>
            <a:ext cx="11183112" cy="566928"/>
          </a:xfrm>
          <a:prstGeom prst="roundRect">
            <a:avLst>
              <a:gd name="adj" fmla="val 11290"/>
            </a:avLst>
          </a:prstGeom>
          <a:solidFill>
            <a:srgbClr val="EDEAF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3232" y="592531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298448" y="592531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slid every node's arrival by up to six hours in both directions. Whether the city crashes never changes; end states barely move — except in one place.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sensitivity sits exactly on the tipping point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10058400" y="34747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 880_9 · 2.66 m surge · crash probability 0.98–1.00 — the crash-edge storm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554480"/>
          <a:ext cx="70408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1554480"/>
            <a:ext cx="3822192" cy="1874520"/>
          </a:xfrm>
          <a:prstGeom prst="roundRect">
            <a:avLst>
              <a:gd name="adj" fmla="val 4390"/>
            </a:avLst>
          </a:prstGeom>
          <a:solidFill>
            <a:srgbClr val="FDF1DC"/>
          </a:solidFill>
          <a:ln/>
          <a:effectLst>
            <a:outerShdw sx="100000" sy="100000" kx="0" ky="0" algn="bl" rotWithShape="0" blurRad="76200" dist="25400" dir="5400000">
              <a:srgbClr val="B7AEDB">
                <a:alpha val="3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138160" y="1737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2.7×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26060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damage carried into the surge peak when water arrives early vs late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863840" y="3657600"/>
            <a:ext cx="3822192" cy="1874520"/>
          </a:xfrm>
          <a:prstGeom prst="roundRect">
            <a:avLst>
              <a:gd name="adj" fmla="val 4390"/>
            </a:avLst>
          </a:prstGeom>
          <a:solidFill>
            <a:srgbClr val="F4F1FB"/>
          </a:solidFill>
          <a:ln/>
          <a:effectLst>
            <a:outerShdw sx="100000" sy="100000" kx="0" ky="0" algn="bl" rotWithShape="0" blurRad="76200" dist="25400" dir="5400000">
              <a:srgbClr val="B7AEDB">
                <a:alpha val="3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138160" y="38404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+13% / ≤2%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572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end-state shift for early vs late arrival — asymmetric, and confined to this storm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2920" y="5925312"/>
            <a:ext cx="11183112" cy="566928"/>
          </a:xfrm>
          <a:prstGeom prst="roundRect">
            <a:avLst>
              <a:gd name="adj" fmla="val 11290"/>
            </a:avLst>
          </a:prstGeom>
          <a:solidFill>
            <a:srgbClr val="EDEAF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13232" y="592531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298448" y="592531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water means the system carries almost three times more damage into the peak — a fourth independent instrument finding the same regime boundary.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2 agrees: timing opens outcome space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10058400" y="34747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2377440" y="13258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inputs: t0 mask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556248" y="13258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inputs: mask + timing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783080"/>
            <a:ext cx="17373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</a:t>
            </a:r>
            <a:endParaRPr lang="en-US" sz="1300" dirty="0"/>
          </a:p>
          <a:p>
            <a:pPr algn="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557016"/>
            <a:ext cx="17373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</a:t>
            </a:r>
            <a:endParaRPr lang="en-US" sz="1300" dirty="0"/>
          </a:p>
          <a:p>
            <a:pPr algn="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arrival</a:t>
            </a:r>
            <a:endParaRPr lang="en-US" sz="1300" dirty="0"/>
          </a:p>
          <a:p>
            <a:pPr algn="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77440" y="1783080"/>
            <a:ext cx="397764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9050">
            <a:solidFill>
              <a:srgbClr val="A5B4FC"/>
            </a:solidFill>
            <a:prstDash val="solid"/>
          </a:ln>
          <a:effectLst>
            <a:outerShdw sx="100000" sy="100000" kx="0" ky="0" algn="bl" rotWithShape="0" blurRad="76200" dist="25400" dir="5400000">
              <a:srgbClr val="B7AEDB">
                <a:alpha val="3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651760" y="194767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0.1082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679192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twin — reference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56248" y="1783080"/>
            <a:ext cx="3977640" cy="1572768"/>
          </a:xfrm>
          <a:prstGeom prst="roundRect">
            <a:avLst>
              <a:gd name="adj" fmla="val 5233"/>
            </a:avLst>
          </a:prstGeom>
          <a:solidFill>
            <a:srgbClr val="F4F1FB"/>
          </a:solidFill>
          <a:ln/>
          <a:effectLst>
            <a:outerShdw sx="100000" sy="100000" kx="0" ky="0" algn="bl" rotWithShape="0" blurRad="76200" dist="25400" dir="5400000">
              <a:srgbClr val="B7AEDB">
                <a:alpha val="3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830568" y="194767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0.0981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830568" y="2679192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−9.4% — timing helps even here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377440" y="3557016"/>
            <a:ext cx="3977640" cy="1572768"/>
          </a:xfrm>
          <a:prstGeom prst="roundRect">
            <a:avLst>
              <a:gd name="adj" fmla="val 5233"/>
            </a:avLst>
          </a:prstGeom>
          <a:solidFill>
            <a:srgbClr val="F4F1FB"/>
          </a:solidFill>
          <a:ln/>
          <a:effectLst>
            <a:outerShdw sx="100000" sy="100000" kx="0" ky="0" algn="bl" rotWithShape="0" blurRad="76200" dist="25400" dir="5400000">
              <a:srgbClr val="B7AEDB">
                <a:alpha val="3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2651760" y="3721608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0.1877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2651760" y="445312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+73% — arrival-ordered labels are harder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56248" y="3557016"/>
            <a:ext cx="3977640" cy="1572768"/>
          </a:xfrm>
          <a:prstGeom prst="roundRect">
            <a:avLst>
              <a:gd name="adj" fmla="val 5233"/>
            </a:avLst>
          </a:prstGeom>
          <a:solidFill>
            <a:srgbClr val="FDF1DC"/>
          </a:solidFill>
          <a:ln/>
          <a:effectLst>
            <a:outerShdw sx="100000" sy="100000" kx="0" ky="0" algn="bl" rotWithShape="0" blurRad="76200" dist="25400" dir="5400000">
              <a:srgbClr val="B7AEDB">
                <a:alpha val="3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830568" y="3721608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0.1653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6830568" y="445312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closes ~25% of the dynamic gap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2377440" y="5175504"/>
            <a:ext cx="8156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val loss @ epoch 5 · identical seed / config / 5-way holdout · job 16805213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5504688"/>
            <a:ext cx="11183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told when the water arrives, the surrogate can't recover static-world predictability — the residual gap is genuine unpredictability.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5925312"/>
            <a:ext cx="11183112" cy="566928"/>
          </a:xfrm>
          <a:prstGeom prst="roundRect">
            <a:avLst>
              <a:gd name="adj" fmla="val 11290"/>
            </a:avLst>
          </a:prstGeom>
          <a:solidFill>
            <a:srgbClr val="EDEAF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592531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298448" y="592531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labels are 73 percent harder to fit; arrival features claw back a quarter of that. The rest is the system being genuinely less predictable.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4-minute smoke caught a silent metric bug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10058400" y="34747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289304" y="1600200"/>
            <a:ext cx="603504" cy="603504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89304" y="1600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5000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752344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arms, 1 epoch,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minutes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615184" y="1792224"/>
            <a:ext cx="329184" cy="219456"/>
          </a:xfrm>
          <a:prstGeom prst="rightArrow">
            <a:avLst/>
          </a:prstGeom>
          <a:solidFill>
            <a:srgbClr val="A5B4FC"/>
          </a:solidFill>
          <a:ln/>
        </p:spPr>
      </p:sp>
      <p:sp>
        <p:nvSpPr>
          <p:cNvPr id="9" name="Shape 7"/>
          <p:cNvSpPr/>
          <p:nvPr/>
        </p:nvSpPr>
        <p:spPr>
          <a:xfrm>
            <a:off x="3666744" y="1600200"/>
            <a:ext cx="603504" cy="603504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66744" y="1600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971800" y="235000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Fingerprint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2752344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CASCADE ≡ ALL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16 digits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92624" y="1792224"/>
            <a:ext cx="329184" cy="219456"/>
          </a:xfrm>
          <a:prstGeom prst="rightArrow">
            <a:avLst/>
          </a:prstGeom>
          <a:solidFill>
            <a:srgbClr val="A5B4FC"/>
          </a:solidFill>
          <a:ln/>
        </p:spPr>
      </p:sp>
      <p:sp>
        <p:nvSpPr>
          <p:cNvPr id="14" name="Shape 12"/>
          <p:cNvSpPr/>
          <p:nvPr/>
        </p:nvSpPr>
        <p:spPr>
          <a:xfrm>
            <a:off x="6044184" y="1600200"/>
            <a:ext cx="603504" cy="603504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044184" y="1600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349240" y="235000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2752344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 read at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x[:, −1]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70064" y="1792224"/>
            <a:ext cx="329184" cy="219456"/>
          </a:xfrm>
          <a:prstGeom prst="rightArrow">
            <a:avLst/>
          </a:prstGeom>
          <a:solidFill>
            <a:srgbClr val="A5B4FC"/>
          </a:solidFill>
          <a:ln/>
        </p:spPr>
      </p:sp>
      <p:sp>
        <p:nvSpPr>
          <p:cNvPr id="19" name="Shape 17"/>
          <p:cNvSpPr/>
          <p:nvPr/>
        </p:nvSpPr>
        <p:spPr>
          <a:xfrm>
            <a:off x="8421624" y="1600200"/>
            <a:ext cx="603504" cy="603504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421624" y="1600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235000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+ re-smoke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726680" y="2752344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−1 − N_TIMING_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747504" y="1792224"/>
            <a:ext cx="329184" cy="219456"/>
          </a:xfrm>
          <a:prstGeom prst="rightArrow">
            <a:avLst/>
          </a:prstGeom>
          <a:solidFill>
            <a:srgbClr val="A5B4FC"/>
          </a:solidFill>
          <a:ln/>
        </p:spPr>
      </p:sp>
      <p:sp>
        <p:nvSpPr>
          <p:cNvPr id="24" name="Shape 22"/>
          <p:cNvSpPr/>
          <p:nvPr/>
        </p:nvSpPr>
        <p:spPr>
          <a:xfrm>
            <a:off x="10799064" y="1600200"/>
            <a:ext cx="603504" cy="603504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799064" y="1600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0104120" y="235000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launch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104120" y="2752344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× 90 min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377440" y="3977640"/>
            <a:ext cx="7434072" cy="1417320"/>
          </a:xfrm>
          <a:prstGeom prst="roundRect">
            <a:avLst>
              <a:gd name="adj" fmla="val 5806"/>
            </a:avLst>
          </a:prstGeom>
          <a:solidFill>
            <a:srgbClr val="FDF1DC"/>
          </a:solidFill>
          <a:ln/>
          <a:effectLst>
            <a:outerShdw sx="100000" sy="100000" kx="0" ky="0" algn="bl" rotWithShape="0" blurRad="76200" dist="25400" dir="5400000">
              <a:srgbClr val="B7AEDB">
                <a:alpha val="3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2697480" y="416052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GPU·h</a:t>
            </a:r>
            <a:endParaRPr lang="en-US" sz="4000" dirty="0"/>
          </a:p>
        </p:txBody>
      </p:sp>
      <p:sp>
        <p:nvSpPr>
          <p:cNvPr id="30" name="Text 28"/>
          <p:cNvSpPr txBox="1"/>
          <p:nvPr/>
        </p:nvSpPr>
        <p:spPr>
          <a:xfrm>
            <a:off x="5760720" y="416052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production compute lost — the bug would have silently equated the honest cascade-only metric with the inflated all-nodes one in every timing arm.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02920" y="5925312"/>
            <a:ext cx="11183112" cy="566928"/>
          </a:xfrm>
          <a:prstGeom prst="roundRect">
            <a:avLst>
              <a:gd name="adj" fmla="val 11290"/>
            </a:avLst>
          </a:prstGeom>
          <a:solidFill>
            <a:srgbClr val="EDEAF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13232" y="592531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298448" y="592531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identical-distribution fingerprint we adopted after earlier incidents caught this in the smoke, not in the paper.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needed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10058400" y="34747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3112" cy="1325880"/>
          </a:xfrm>
          <a:prstGeom prst="roundRect">
            <a:avLst>
              <a:gd name="adj" fmla="val 6207"/>
            </a:avLst>
          </a:prstGeom>
          <a:solidFill>
            <a:srgbClr val="FDF1DC"/>
          </a:solidFill>
          <a:ln/>
          <a:effectLst>
            <a:outerShdw sx="100000" sy="100000" kx="0" ky="0" algn="bl" rotWithShape="0" blurRad="76200" dist="25400" dir="5400000">
              <a:srgbClr val="B7AEDB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581912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Dr. Miura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514600" y="1563624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Surge-clock anchor: peak vs onset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2020824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= Sandy-consistent, +21–58% persistent · onset = mean-neutral, fat two-sided tail. Gates the full timing retrain.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898648"/>
            <a:ext cx="11183112" cy="1325880"/>
          </a:xfrm>
          <a:prstGeom prst="roundRect">
            <a:avLst>
              <a:gd name="adj" fmla="val 6207"/>
            </a:avLst>
          </a:prstGeom>
          <a:solidFill>
            <a:srgbClr val="F4F1FB"/>
          </a:solidFill>
          <a:ln/>
          <a:effectLst>
            <a:outerShdw sx="100000" sy="100000" kx="0" ky="0" algn="bl" rotWithShape="0" blurRad="76200" dist="25400" dir="5400000">
              <a:srgbClr val="B7AEDB">
                <a:alpha val="3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306324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Gwen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304495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GISSR production batch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3502152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pending replies to the audit · SLR by storm year (0.41 / 0.72 / 0.91 m) · spatial diversity: GeoClaw or gauge-scaled maps.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4379976"/>
            <a:ext cx="11183112" cy="1325880"/>
          </a:xfrm>
          <a:prstGeom prst="roundRect">
            <a:avLst>
              <a:gd name="adj" fmla="val 6207"/>
            </a:avLst>
          </a:prstGeom>
          <a:solidFill>
            <a:srgbClr val="F4F1FB"/>
          </a:solidFill>
          <a:ln/>
          <a:effectLst>
            <a:outerShdw sx="100000" sy="100000" kx="0" ky="0" algn="bl" rotWithShape="0" blurRad="76200" dist="25400" dir="5400000">
              <a:srgbClr val="B7AEDB">
                <a:alpha val="3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4544568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Dr. Lin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514600" y="452628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 follow-ups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514600" y="498348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single-seed caveat: seed-repeat of one 2×2 arm offered · N_MC 200–300 learning-curve question · ordering of reviewer checks.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925312"/>
            <a:ext cx="11183112" cy="566928"/>
          </a:xfrm>
          <a:prstGeom prst="roundRect">
            <a:avLst>
              <a:gd name="adj" fmla="val 11290"/>
            </a:avLst>
          </a:prstGeom>
          <a:solidFill>
            <a:srgbClr val="EDEA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" y="592531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592531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decision that gates this week is the surge-clock anchor — everything else can proceed in parallel.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2026-09-03T00:07:31Z</dcterms:created>
  <dcterms:modified xsi:type="dcterms:W3CDTF">2026-09-03T00:07:31Z</dcterms:modified>
</cp:coreProperties>
</file>