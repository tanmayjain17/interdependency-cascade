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F2E"/>
                </a:solidFill>
                <a:latin typeface="Arial"/>
              </a:defRPr>
            </a:pPr>
            <a:r>
              <a:rPr sz="1100" b="0" i="0" u="none" strike="noStrike">
                <a:solidFill>
                  <a:srgbClr val="1F1F2E"/>
                </a:solidFill>
                <a:latin typeface="Arial"/>
              </a:rPr>
              <a:t>Predicted ÷ simulated failures by 96 h, five unseen storms (1.0 = correct)</a:t>
            </a:r>
          </a:p>
        </c:rich>
      </c:tx>
      <c:layout/>
      <c:overlay val="0"/>
    </c:title>
    <c:autoTitleDeleted val="0"/>
    <c:plotArea>
      <c:layout/>
      <c:barChart>
        <c:barDir val="col"/>
        <c:grouping val="clustered"/>
        <c:varyColors val="0"/>
        <c:ser>
          <c:idx val="0"/>
          <c:order val="0"/>
          <c:tx>
            <c:strRef>
              <c:f>Sheet1!$B$1</c:f>
              <c:strCache>
                <c:ptCount val="1"/>
                <c:pt idx="0">
                  <c:v>static labels, with timing inputs</c:v>
                </c:pt>
              </c:strCache>
            </c:strRef>
          </c:tx>
          <c:spPr>
            <a:solidFill>
              <a:srgbClr val="9A8AD0"/>
            </a:solidFill>
            <a:effectLst/>
          </c:spPr>
          <c:invertIfNegative val="0"/>
          <c:dLbls>
            <c:numFmt formatCode="0.0" sourceLinked="0"/>
            <c:txPr>
              <a:bodyPr/>
              <a:lstStyle/>
              <a:p>
                <a:pPr>
                  <a:defRPr b="0" i="0" strike="noStrike" sz="900" u="none">
                    <a:solidFill>
                      <a:srgbClr val="1F1F2E"/>
                    </a:solidFill>
                    <a:latin typeface="Arial"/>
                  </a:defRPr>
                </a:pPr>
              </a:p>
            </c:txPr>
            <c:showLegendKey val="0"/>
            <c:showVal val="1"/>
            <c:showCatName val="0"/>
            <c:showSerName val="0"/>
            <c:showPercent val="0"/>
            <c:showBubbleSize val="0"/>
            <c:showLeaderLines val="0"/>
          </c:dLbls>
          <c:cat>
            <c:multiLvlStrRef>
              <c:f>Sheet1!$A$2:$A$6</c:f>
              <c:multiLvlStrCache>
                <c:ptCount val="5"/>
                <c:lvl>
                  <c:pt idx="0">
                    <c:v>914_6
(2.2 m)</c:v>
                  </c:pt>
                  <c:pt idx="1">
                    <c:v>258_9
(3.4 m)</c:v>
                  </c:pt>
                  <c:pt idx="2">
                    <c:v>GeoClaw
2050</c:v>
                  </c:pt>
                  <c:pt idx="3">
                    <c:v>808_27
(3.7 m)</c:v>
                  </c:pt>
                  <c:pt idx="4">
                    <c:v>605_5
(4.5 m)</c:v>
                  </c:pt>
                </c:lvl>
              </c:multiLvlStrCache>
            </c:multiLvlStrRef>
          </c:cat>
          <c:val>
            <c:numRef>
              <c:f>Sheet1!$B$2:$B$6</c:f>
              <c:numCache>
                <c:formatCode>General</c:formatCode>
                <c:ptCount val="5"/>
                <c:pt idx="0">
                  <c:v>3</c:v>
                </c:pt>
                <c:pt idx="1">
                  <c:v>0.81</c:v>
                </c:pt>
                <c:pt idx="2">
                  <c:v>0.82</c:v>
                </c:pt>
                <c:pt idx="3">
                  <c:v>0.89</c:v>
                </c:pt>
                <c:pt idx="4">
                  <c:v>0.89</c:v>
                </c:pt>
              </c:numCache>
            </c:numRef>
          </c:val>
        </c:ser>
        <c:ser>
          <c:idx val="1"/>
          <c:order val="1"/>
          <c:tx>
            <c:strRef>
              <c:f>Sheet1!$C$1</c:f>
              <c:strCache>
                <c:ptCount val="1"/>
                <c:pt idx="0">
                  <c:v>dynamic labels, with timing inputs</c:v>
                </c:pt>
              </c:strCache>
            </c:strRef>
          </c:tx>
          <c:spPr>
            <a:solidFill>
              <a:srgbClr val="4A3D7A"/>
            </a:solidFill>
            <a:effectLst/>
          </c:spPr>
          <c:invertIfNegative val="0"/>
          <c:dLbls>
            <c:numFmt formatCode="0.0" sourceLinked="0"/>
            <c:txPr>
              <a:bodyPr/>
              <a:lstStyle/>
              <a:p>
                <a:pPr>
                  <a:defRPr b="0" i="0" strike="noStrike" sz="900" u="none">
                    <a:solidFill>
                      <a:srgbClr val="1F1F2E"/>
                    </a:solidFill>
                    <a:latin typeface="Arial"/>
                  </a:defRPr>
                </a:pPr>
              </a:p>
            </c:txPr>
            <c:showLegendKey val="0"/>
            <c:showVal val="1"/>
            <c:showCatName val="0"/>
            <c:showSerName val="0"/>
            <c:showPercent val="0"/>
            <c:showBubbleSize val="0"/>
            <c:showLeaderLines val="0"/>
          </c:dLbls>
          <c:cat>
            <c:multiLvlStrRef>
              <c:f>Sheet1!$A$2:$A$6</c:f>
              <c:multiLvlStrCache>
                <c:ptCount val="5"/>
                <c:lvl>
                  <c:pt idx="0">
                    <c:v>914_6
(2.2 m)</c:v>
                  </c:pt>
                  <c:pt idx="1">
                    <c:v>258_9
(3.4 m)</c:v>
                  </c:pt>
                  <c:pt idx="2">
                    <c:v>GeoClaw
2050</c:v>
                  </c:pt>
                  <c:pt idx="3">
                    <c:v>808_27
(3.7 m)</c:v>
                  </c:pt>
                  <c:pt idx="4">
                    <c:v>605_5
(4.5 m)</c:v>
                  </c:pt>
                </c:lvl>
              </c:multiLvlStrCache>
            </c:multiLvlStrRef>
          </c:cat>
          <c:val>
            <c:numRef>
              <c:f>Sheet1!$C$2:$C$6</c:f>
              <c:numCache>
                <c:formatCode>General</c:formatCode>
                <c:ptCount val="5"/>
                <c:pt idx="0">
                  <c:v>3.8</c:v>
                </c:pt>
                <c:pt idx="1">
                  <c:v>0.7</c:v>
                </c:pt>
                <c:pt idx="2">
                  <c:v>0.62</c:v>
                </c:pt>
                <c:pt idx="3">
                  <c:v>0.7</c:v>
                </c:pt>
                <c:pt idx="4">
                  <c:v>0.72</c:v>
                </c:pt>
              </c:numCache>
            </c:numRef>
          </c:val>
        </c:ser>
        <c:dLbls>
          <c:numFmt formatCode="0.0" sourceLinked="0"/>
          <c:txPr>
            <a:bodyPr/>
            <a:lstStyle/>
            <a:p>
              <a:pPr>
                <a:defRPr b="0" i="0" strike="noStrike" sz="900" u="none">
                  <a:solidFill>
                    <a:srgbClr val="1F1F2E"/>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5B70"/>
                </a:solidFill>
                <a:latin typeface="Arial"/>
              </a:defRPr>
            </a:pPr>
            <a:endParaRPr lang="en-US"/>
          </a:p>
        </c:txPr>
        <c:crossAx val="2094734552"/>
        <c:crosses val="autoZero"/>
        <c:auto val="1"/>
        <c:lblAlgn val="ctr"/>
        <c:noMultiLvlLbl val="1"/>
      </c:catAx>
      <c:valAx>
        <c:axId val="2094734552"/>
        <c:scaling>
          <c:orientation val="minMax"/>
          <c:max val="4"/>
          <c:min val="0"/>
        </c:scaling>
        <c:delete val="0"/>
        <c:axPos val="l"/>
        <c:majorGridlines>
          <c:spPr>
            <a:ln w="6350" cap="flat">
              <a:solidFill>
                <a:srgbClr val="E4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B70"/>
                </a:solidFill>
                <a:latin typeface="Arial"/>
              </a:defRPr>
            </a:pPr>
            <a:endParaRPr lang="en-US"/>
          </a:p>
        </c:txPr>
        <c:crossAx val="2094734554"/>
        <c:crosses val="autoZero"/>
        <c:crossBetween val="between"/>
        <c:majorUnit val="1"/>
      </c:valAx>
      <c:spPr>
        <a:noFill/>
        <a:ln>
          <a:noFill/>
        </a:ln>
        <a:effectLst/>
      </c:spPr>
    </c:plotArea>
    <c:legend>
      <c:legendPos val="b"/>
      <c:overlay val="0"/>
      <c:txPr>
        <a:bodyPr/>
        <a:lstStyle/>
        <a:p>
          <a:pPr>
            <a:defRPr sz="1000">
              <a:solidFill>
                <a:srgbClr val="1F1F2E"/>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F2E"/>
                </a:solidFill>
                <a:latin typeface="Arial"/>
              </a:defRPr>
            </a:pPr>
            <a:r>
              <a:rPr sz="1100" b="0" i="0" u="none" strike="noStrike">
                <a:solidFill>
                  <a:srgbClr val="1F1F2E"/>
                </a:solidFill>
                <a:latin typeface="Arial"/>
              </a:rPr>
              <a:t>By storm size (peak water level at the Battery, m)</a:t>
            </a:r>
          </a:p>
        </c:rich>
      </c:tx>
      <c:layout/>
      <c:overlay val="0"/>
    </c:title>
    <c:autoTitleDeleted val="0"/>
    <c:plotArea>
      <c:layout/>
      <c:lineChart>
        <c:varyColors val="0"/>
        <c:ser>
          <c:idx val="0"/>
          <c:order val="0"/>
          <c:tx>
            <c:strRef>
              <c:f>Sheet1!$B$1</c:f>
              <c:strCache>
                <c:ptCount val="1"/>
                <c:pt idx="0">
                  <c:v>Sites with no flooded site within two links (%)</c:v>
                </c:pt>
              </c:strCache>
            </c:strRef>
          </c:tx>
          <c:spPr>
            <a:solidFill>
              <a:srgbClr val="4A3D7A"/>
            </a:solidFill>
            <a:ln w="28575" cap="flat">
              <a:solidFill>
                <a:srgbClr val="4A3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4A3D7A"/>
              </a:solidFill>
              <a:ln w="9525" cap="flat">
                <a:solidFill>
                  <a:srgbClr val="4A3D7A"/>
                </a:solidFill>
                <a:prstDash val="solid"/>
                <a:round/>
              </a:ln>
              <a:effectLst/>
            </c:spPr>
          </c:marker>
          <c:cat>
            <c:multiLvlStrRef>
              <c:f>Sheet1!$A$2:$A$13</c:f>
              <c:multiLvlStrCache>
                <c:ptCount val="12"/>
                <c:lvl>
                  <c:pt idx="0">
                    <c:v>1.9</c:v>
                  </c:pt>
                  <c:pt idx="1">
                    <c:v>2.1</c:v>
                  </c:pt>
                  <c:pt idx="2">
                    <c:v>2.3</c:v>
                  </c:pt>
                  <c:pt idx="3">
                    <c:v>2.4</c:v>
                  </c:pt>
                  <c:pt idx="4">
                    <c:v>2.7</c:v>
                  </c:pt>
                  <c:pt idx="5">
                    <c:v>3.0</c:v>
                  </c:pt>
                  <c:pt idx="6">
                    <c:v>3.2</c:v>
                  </c:pt>
                  <c:pt idx="7">
                    <c:v>3.4</c:v>
                  </c:pt>
                  <c:pt idx="8">
                    <c:v>3.7</c:v>
                  </c:pt>
                  <c:pt idx="9">
                    <c:v>4.0</c:v>
                  </c:pt>
                  <c:pt idx="10">
                    <c:v>4.3</c:v>
                  </c:pt>
                  <c:pt idx="11">
                    <c:v>4.7</c:v>
                  </c:pt>
                </c:lvl>
              </c:multiLvlStrCache>
            </c:multiLvlStrRef>
          </c:cat>
          <c:val>
            <c:numRef>
              <c:f>Sheet1!$B$2:$B$13</c:f>
              <c:numCache>
                <c:formatCode>General</c:formatCode>
                <c:ptCount val="12"/>
                <c:pt idx="0">
                  <c:v>88.3</c:v>
                </c:pt>
                <c:pt idx="1">
                  <c:v>84.1</c:v>
                </c:pt>
                <c:pt idx="2">
                  <c:v>80.4</c:v>
                </c:pt>
                <c:pt idx="3">
                  <c:v>76.5</c:v>
                </c:pt>
                <c:pt idx="4">
                  <c:v>73.2</c:v>
                </c:pt>
                <c:pt idx="5">
                  <c:v>69.1</c:v>
                </c:pt>
                <c:pt idx="6">
                  <c:v>66.8</c:v>
                </c:pt>
                <c:pt idx="7">
                  <c:v>65.4</c:v>
                </c:pt>
                <c:pt idx="8">
                  <c:v>64.2</c:v>
                </c:pt>
                <c:pt idx="9">
                  <c:v>61.4</c:v>
                </c:pt>
                <c:pt idx="10">
                  <c:v>59.3</c:v>
                </c:pt>
                <c:pt idx="11">
                  <c:v>58.5</c:v>
                </c:pt>
              </c:numCache>
            </c:numRef>
          </c:val>
          <c:smooth val="0"/>
        </c:ser>
        <c:ser>
          <c:idx val="1"/>
          <c:order val="1"/>
          <c:tx>
            <c:strRef>
              <c:f>Sheet1!$C$1</c:f>
              <c:strCache>
                <c:ptCount val="1"/>
                <c:pt idx="0">
                  <c:v>Of those sites, the share that really fails by 96 h (%)</c:v>
                </c:pt>
              </c:strCache>
            </c:strRef>
          </c:tx>
          <c:spPr>
            <a:solidFill>
              <a:srgbClr val="B5443C"/>
            </a:solidFill>
            <a:ln w="28575" cap="flat">
              <a:solidFill>
                <a:srgbClr val="B544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5443C"/>
              </a:solidFill>
              <a:ln w="9525" cap="flat">
                <a:solidFill>
                  <a:srgbClr val="B5443C"/>
                </a:solidFill>
                <a:prstDash val="solid"/>
                <a:round/>
              </a:ln>
              <a:effectLst/>
            </c:spPr>
          </c:marker>
          <c:cat>
            <c:multiLvlStrRef>
              <c:f>Sheet1!$A$2:$A$13</c:f>
              <c:multiLvlStrCache>
                <c:ptCount val="12"/>
                <c:lvl>
                  <c:pt idx="0">
                    <c:v>1.9</c:v>
                  </c:pt>
                  <c:pt idx="1">
                    <c:v>2.1</c:v>
                  </c:pt>
                  <c:pt idx="2">
                    <c:v>2.3</c:v>
                  </c:pt>
                  <c:pt idx="3">
                    <c:v>2.4</c:v>
                  </c:pt>
                  <c:pt idx="4">
                    <c:v>2.7</c:v>
                  </c:pt>
                  <c:pt idx="5">
                    <c:v>3.0</c:v>
                  </c:pt>
                  <c:pt idx="6">
                    <c:v>3.2</c:v>
                  </c:pt>
                  <c:pt idx="7">
                    <c:v>3.4</c:v>
                  </c:pt>
                  <c:pt idx="8">
                    <c:v>3.7</c:v>
                  </c:pt>
                  <c:pt idx="9">
                    <c:v>4.0</c:v>
                  </c:pt>
                  <c:pt idx="10">
                    <c:v>4.3</c:v>
                  </c:pt>
                  <c:pt idx="11">
                    <c:v>4.7</c:v>
                  </c:pt>
                </c:lvl>
              </c:multiLvlStrCache>
            </c:multiLvlStrRef>
          </c:cat>
          <c:val>
            <c:numRef>
              <c:f>Sheet1!$C$2:$C$13</c:f>
              <c:numCache>
                <c:formatCode>General</c:formatCode>
                <c:ptCount val="12"/>
                <c:pt idx="0">
                  <c:v>0.3</c:v>
                </c:pt>
                <c:pt idx="1">
                  <c:v>1.2</c:v>
                </c:pt>
                <c:pt idx="2">
                  <c:v>5.4</c:v>
                </c:pt>
                <c:pt idx="3">
                  <c:v>14.9</c:v>
                </c:pt>
                <c:pt idx="4">
                  <c:v>16.1</c:v>
                </c:pt>
                <c:pt idx="5">
                  <c:v>18.2</c:v>
                </c:pt>
                <c:pt idx="6">
                  <c:v>18.1</c:v>
                </c:pt>
                <c:pt idx="7">
                  <c:v>18.4</c:v>
                </c:pt>
                <c:pt idx="8">
                  <c:v>18.6</c:v>
                </c:pt>
                <c:pt idx="9">
                  <c:v>15.7</c:v>
                </c:pt>
                <c:pt idx="10">
                  <c:v>13.7</c:v>
                </c:pt>
                <c:pt idx="11">
                  <c:v>14.5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5B7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4E2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B70"/>
                </a:solidFill>
                <a:latin typeface="Arial"/>
              </a:defRPr>
            </a:pPr>
            <a:endParaRPr lang="en-US"/>
          </a:p>
        </c:txPr>
        <c:crossAx val="2094734554"/>
        <c:crosses val="autoZero"/>
        <c:crossBetween val="between"/>
        <c:majorUnit val="20"/>
      </c:valAx>
      <c:spPr>
        <a:noFill/>
        <a:ln>
          <a:noFill/>
        </a:ln>
        <a:effectLst/>
      </c:spPr>
    </c:plotArea>
    <c:legend>
      <c:legendPos val="b"/>
      <c:overlay val="0"/>
      <c:txPr>
        <a:bodyPr/>
        <a:lstStyle/>
        <a:p>
          <a:pPr>
            <a:defRPr sz="1000">
              <a:solidFill>
                <a:srgbClr val="1F1F2E"/>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F2E"/>
                </a:solidFill>
                <a:latin typeface="Arial"/>
              </a:defRPr>
            </a:pPr>
            <a:r>
              <a:rPr sz="1100" b="0" i="0" u="none" strike="noStrike">
                <a:solidFill>
                  <a:srgbClr val="1F1F2E"/>
                </a:solidFill>
                <a:latin typeface="Arial"/>
              </a:rPr>
              <a:t>Hours the typical flooded site is wet before the peak, by storm size</a:t>
            </a:r>
          </a:p>
        </c:rich>
      </c:tx>
      <c:layout/>
      <c:overlay val="0"/>
    </c:title>
    <c:autoTitleDeleted val="0"/>
    <c:plotArea>
      <c:layout/>
      <c:scatterChart>
        <c:scatterStyle val="lineMarker"/>
        <c:varyColors val="0"/>
        <c:ser>
          <c:idx val="0"/>
          <c:order val="0"/>
          <c:tx>
            <c:strRef>
              <c:f>Sheet1!$B$1</c:f>
              <c:strCache>
                <c:ptCount val="1"/>
                <c:pt idx="0">
                  <c:v>20 delivered storms</c:v>
                </c:pt>
              </c:strCache>
            </c:strRef>
          </c:tx>
          <c:spPr>
            <a:solidFill>
              <a:srgbClr val="8A8A99"/>
            </a:solidFill>
            <a:ln>
              <a:noFill/>
            </a:ln>
            <a:effectLst/>
          </c:spPr>
          <c:marker>
            <c:symbol val="circle"/>
            <c:size val="7"/>
            <c:spPr>
              <a:solidFill>
                <a:srgbClr val="8A8A99"/>
              </a:solidFill>
              <a:ln w="9525" cap="flat">
                <a:solidFill>
                  <a:srgbClr val="8A8A99"/>
                </a:solidFill>
                <a:prstDash val="solid"/>
                <a:round/>
              </a:ln>
              <a:effectLst/>
            </c:spPr>
          </c:marker>
          <c:xVal>
            <c:numRef>
              <c:f>Sheet1!$A$2:$A$69</c:f>
              <c:numCache>
                <c:formatCode>General</c:formatCode>
                <c:ptCount val="68"/>
                <c:pt idx="0">
                  <c:v>1.911</c:v>
                </c:pt>
                <c:pt idx="1">
                  <c:v>1.922</c:v>
                </c:pt>
                <c:pt idx="2">
                  <c:v>1.922</c:v>
                </c:pt>
                <c:pt idx="3">
                  <c:v>2.017</c:v>
                </c:pt>
                <c:pt idx="4">
                  <c:v>2.102</c:v>
                </c:pt>
                <c:pt idx="5">
                  <c:v>2.15</c:v>
                </c:pt>
                <c:pt idx="6">
                  <c:v>2.166</c:v>
                </c:pt>
                <c:pt idx="7">
                  <c:v>2.272</c:v>
                </c:pt>
                <c:pt idx="8">
                  <c:v>2.292</c:v>
                </c:pt>
                <c:pt idx="9">
                  <c:v>2.369</c:v>
                </c:pt>
                <c:pt idx="10">
                  <c:v>2.563</c:v>
                </c:pt>
                <c:pt idx="11">
                  <c:v>2.632</c:v>
                </c:pt>
                <c:pt idx="12">
                  <c:v>2.797</c:v>
                </c:pt>
                <c:pt idx="13">
                  <c:v>3.092</c:v>
                </c:pt>
                <c:pt idx="14">
                  <c:v>3.24</c:v>
                </c:pt>
                <c:pt idx="15">
                  <c:v>3.372</c:v>
                </c:pt>
                <c:pt idx="16">
                  <c:v>3.444</c:v>
                </c:pt>
                <c:pt idx="17">
                  <c:v>3.64</c:v>
                </c:pt>
                <c:pt idx="18">
                  <c:v>3.745</c:v>
                </c:pt>
                <c:pt idx="19">
                  <c:v>4.458</c:v>
                </c:pt>
                <c:pt idx="20">
                  <c:v>1.935</c:v>
                </c:pt>
                <c:pt idx="21">
                  <c:v>2.002</c:v>
                </c:pt>
                <c:pt idx="22">
                  <c:v>2.07</c:v>
                </c:pt>
                <c:pt idx="23">
                  <c:v>2.138</c:v>
                </c:pt>
                <c:pt idx="24">
                  <c:v>2.205</c:v>
                </c:pt>
                <c:pt idx="25">
                  <c:v>2.272</c:v>
                </c:pt>
                <c:pt idx="26">
                  <c:v>2.339</c:v>
                </c:pt>
                <c:pt idx="27">
                  <c:v>2.408</c:v>
                </c:pt>
                <c:pt idx="28">
                  <c:v>2.477</c:v>
                </c:pt>
                <c:pt idx="29">
                  <c:v>2.544</c:v>
                </c:pt>
                <c:pt idx="30">
                  <c:v>2.614</c:v>
                </c:pt>
                <c:pt idx="31">
                  <c:v>2.684</c:v>
                </c:pt>
                <c:pt idx="32">
                  <c:v>2.755</c:v>
                </c:pt>
                <c:pt idx="33">
                  <c:v>2.807</c:v>
                </c:pt>
                <c:pt idx="34">
                  <c:v>2.88</c:v>
                </c:pt>
                <c:pt idx="35">
                  <c:v>2.959</c:v>
                </c:pt>
                <c:pt idx="36">
                  <c:v>3.011</c:v>
                </c:pt>
                <c:pt idx="37">
                  <c:v>3.089</c:v>
                </c:pt>
                <c:pt idx="38">
                  <c:v>3.142</c:v>
                </c:pt>
                <c:pt idx="39">
                  <c:v>3.232</c:v>
                </c:pt>
                <c:pt idx="40">
                  <c:v>3.299</c:v>
                </c:pt>
                <c:pt idx="41">
                  <c:v>3.342</c:v>
                </c:pt>
                <c:pt idx="42">
                  <c:v>3.407</c:v>
                </c:pt>
                <c:pt idx="43">
                  <c:v>3.498</c:v>
                </c:pt>
                <c:pt idx="44">
                  <c:v>3.557</c:v>
                </c:pt>
                <c:pt idx="45">
                  <c:v>3.632</c:v>
                </c:pt>
                <c:pt idx="46">
                  <c:v>3.687</c:v>
                </c:pt>
                <c:pt idx="47">
                  <c:v>3.759</c:v>
                </c:pt>
                <c:pt idx="48">
                  <c:v>3.827</c:v>
                </c:pt>
                <c:pt idx="49">
                  <c:v>3.89</c:v>
                </c:pt>
                <c:pt idx="50">
                  <c:v>3.963</c:v>
                </c:pt>
                <c:pt idx="51">
                  <c:v>4.027</c:v>
                </c:pt>
                <c:pt idx="52">
                  <c:v>4.105</c:v>
                </c:pt>
                <c:pt idx="53">
                  <c:v>4.153</c:v>
                </c:pt>
                <c:pt idx="54">
                  <c:v>4.23</c:v>
                </c:pt>
                <c:pt idx="55">
                  <c:v>4.297</c:v>
                </c:pt>
                <c:pt idx="56">
                  <c:v>4.363</c:v>
                </c:pt>
                <c:pt idx="57">
                  <c:v>4.437</c:v>
                </c:pt>
                <c:pt idx="58">
                  <c:v>4.508</c:v>
                </c:pt>
                <c:pt idx="59">
                  <c:v>4.572</c:v>
                </c:pt>
                <c:pt idx="60">
                  <c:v>2.103</c:v>
                </c:pt>
                <c:pt idx="61">
                  <c:v>2.439</c:v>
                </c:pt>
                <c:pt idx="62">
                  <c:v>2.777</c:v>
                </c:pt>
                <c:pt idx="63">
                  <c:v>3.116</c:v>
                </c:pt>
                <c:pt idx="64">
                  <c:v>3.458</c:v>
                </c:pt>
                <c:pt idx="65">
                  <c:v>3.8</c:v>
                </c:pt>
                <c:pt idx="66">
                  <c:v>4.13</c:v>
                </c:pt>
                <c:pt idx="67">
                  <c:v>4.722</c:v>
                </c:pt>
              </c:numCache>
            </c:numRef>
          </c:xVal>
          <c:yVal>
            <c:numRef>
              <c:f>Sheet1!$B$2:$B$69</c:f>
              <c:numCache>
                <c:formatCode>General</c:formatCode>
                <c:ptCount val="68"/>
                <c:pt idx="0">
                  <c:v>1.86</c:v>
                </c:pt>
                <c:pt idx="1">
                  <c:v>1.8</c:v>
                </c:pt>
                <c:pt idx="2">
                  <c:v>1.89</c:v>
                </c:pt>
                <c:pt idx="3">
                  <c:v>1.6</c:v>
                </c:pt>
                <c:pt idx="4">
                  <c:v>2.22</c:v>
                </c:pt>
                <c:pt idx="5">
                  <c:v>2.46</c:v>
                </c:pt>
                <c:pt idx="6">
                  <c:v>1.69</c:v>
                </c:pt>
                <c:pt idx="7">
                  <c:v>2.08</c:v>
                </c:pt>
                <c:pt idx="8">
                  <c:v>2.42</c:v>
                </c:pt>
                <c:pt idx="9">
                  <c:v>2.6</c:v>
                </c:pt>
                <c:pt idx="10">
                  <c:v>1.52</c:v>
                </c:pt>
                <c:pt idx="11">
                  <c:v>2.2</c:v>
                </c:pt>
                <c:pt idx="12">
                  <c:v>12.92</c:v>
                </c:pt>
                <c:pt idx="13">
                  <c:v>3.54</c:v>
                </c:pt>
                <c:pt idx="14">
                  <c:v>3.28</c:v>
                </c:pt>
                <c:pt idx="15">
                  <c:v>2.55</c:v>
                </c:pt>
                <c:pt idx="16">
                  <c:v>13.95</c:v>
                </c:pt>
                <c:pt idx="17">
                  <c:v>14.48</c:v>
                </c:pt>
                <c:pt idx="18">
                  <c:v>13.45</c:v>
                </c:pt>
                <c:pt idx="19">
                  <c:v>26.38</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numCache>
            </c:numRef>
          </c:yVal>
          <c:smooth val="0"/>
        </c:ser>
        <c:ser>
          <c:idx val="1"/>
          <c:order val="1"/>
          <c:tx>
            <c:strRef>
              <c:f>Sheet1!$C$1</c:f>
              <c:strCache>
                <c:ptCount val="1"/>
                <c:pt idx="0">
                  <c:v>40 new training storms</c:v>
                </c:pt>
              </c:strCache>
            </c:strRef>
          </c:tx>
          <c:spPr>
            <a:solidFill>
              <a:srgbClr val="4A3D7A"/>
            </a:solidFill>
            <a:ln>
              <a:noFill/>
            </a:ln>
            <a:effectLst/>
          </c:spPr>
          <c:marker>
            <c:symbol val="circle"/>
            <c:size val="7"/>
            <c:spPr>
              <a:solidFill>
                <a:srgbClr val="4A3D7A"/>
              </a:solidFill>
              <a:ln w="9525" cap="flat">
                <a:solidFill>
                  <a:srgbClr val="4A3D7A"/>
                </a:solidFill>
                <a:prstDash val="solid"/>
                <a:round/>
              </a:ln>
              <a:effectLst/>
            </c:spPr>
          </c:marker>
          <c:xVal>
            <c:numRef>
              <c:f>Sheet1!$A$2:$A$69</c:f>
              <c:numCache>
                <c:formatCode>General</c:formatCode>
                <c:ptCount val="68"/>
                <c:pt idx="0">
                  <c:v>1.911</c:v>
                </c:pt>
                <c:pt idx="1">
                  <c:v>1.922</c:v>
                </c:pt>
                <c:pt idx="2">
                  <c:v>1.922</c:v>
                </c:pt>
                <c:pt idx="3">
                  <c:v>2.017</c:v>
                </c:pt>
                <c:pt idx="4">
                  <c:v>2.102</c:v>
                </c:pt>
                <c:pt idx="5">
                  <c:v>2.15</c:v>
                </c:pt>
                <c:pt idx="6">
                  <c:v>2.166</c:v>
                </c:pt>
                <c:pt idx="7">
                  <c:v>2.272</c:v>
                </c:pt>
                <c:pt idx="8">
                  <c:v>2.292</c:v>
                </c:pt>
                <c:pt idx="9">
                  <c:v>2.369</c:v>
                </c:pt>
                <c:pt idx="10">
                  <c:v>2.563</c:v>
                </c:pt>
                <c:pt idx="11">
                  <c:v>2.632</c:v>
                </c:pt>
                <c:pt idx="12">
                  <c:v>2.797</c:v>
                </c:pt>
                <c:pt idx="13">
                  <c:v>3.092</c:v>
                </c:pt>
                <c:pt idx="14">
                  <c:v>3.24</c:v>
                </c:pt>
                <c:pt idx="15">
                  <c:v>3.372</c:v>
                </c:pt>
                <c:pt idx="16">
                  <c:v>3.444</c:v>
                </c:pt>
                <c:pt idx="17">
                  <c:v>3.64</c:v>
                </c:pt>
                <c:pt idx="18">
                  <c:v>3.745</c:v>
                </c:pt>
                <c:pt idx="19">
                  <c:v>4.458</c:v>
                </c:pt>
                <c:pt idx="20">
                  <c:v>1.935</c:v>
                </c:pt>
                <c:pt idx="21">
                  <c:v>2.002</c:v>
                </c:pt>
                <c:pt idx="22">
                  <c:v>2.07</c:v>
                </c:pt>
                <c:pt idx="23">
                  <c:v>2.138</c:v>
                </c:pt>
                <c:pt idx="24">
                  <c:v>2.205</c:v>
                </c:pt>
                <c:pt idx="25">
                  <c:v>2.272</c:v>
                </c:pt>
                <c:pt idx="26">
                  <c:v>2.339</c:v>
                </c:pt>
                <c:pt idx="27">
                  <c:v>2.408</c:v>
                </c:pt>
                <c:pt idx="28">
                  <c:v>2.477</c:v>
                </c:pt>
                <c:pt idx="29">
                  <c:v>2.544</c:v>
                </c:pt>
                <c:pt idx="30">
                  <c:v>2.614</c:v>
                </c:pt>
                <c:pt idx="31">
                  <c:v>2.684</c:v>
                </c:pt>
                <c:pt idx="32">
                  <c:v>2.755</c:v>
                </c:pt>
                <c:pt idx="33">
                  <c:v>2.807</c:v>
                </c:pt>
                <c:pt idx="34">
                  <c:v>2.88</c:v>
                </c:pt>
                <c:pt idx="35">
                  <c:v>2.959</c:v>
                </c:pt>
                <c:pt idx="36">
                  <c:v>3.011</c:v>
                </c:pt>
                <c:pt idx="37">
                  <c:v>3.089</c:v>
                </c:pt>
                <c:pt idx="38">
                  <c:v>3.142</c:v>
                </c:pt>
                <c:pt idx="39">
                  <c:v>3.232</c:v>
                </c:pt>
                <c:pt idx="40">
                  <c:v>3.299</c:v>
                </c:pt>
                <c:pt idx="41">
                  <c:v>3.342</c:v>
                </c:pt>
                <c:pt idx="42">
                  <c:v>3.407</c:v>
                </c:pt>
                <c:pt idx="43">
                  <c:v>3.498</c:v>
                </c:pt>
                <c:pt idx="44">
                  <c:v>3.557</c:v>
                </c:pt>
                <c:pt idx="45">
                  <c:v>3.632</c:v>
                </c:pt>
                <c:pt idx="46">
                  <c:v>3.687</c:v>
                </c:pt>
                <c:pt idx="47">
                  <c:v>3.759</c:v>
                </c:pt>
                <c:pt idx="48">
                  <c:v>3.827</c:v>
                </c:pt>
                <c:pt idx="49">
                  <c:v>3.89</c:v>
                </c:pt>
                <c:pt idx="50">
                  <c:v>3.963</c:v>
                </c:pt>
                <c:pt idx="51">
                  <c:v>4.027</c:v>
                </c:pt>
                <c:pt idx="52">
                  <c:v>4.105</c:v>
                </c:pt>
                <c:pt idx="53">
                  <c:v>4.153</c:v>
                </c:pt>
                <c:pt idx="54">
                  <c:v>4.23</c:v>
                </c:pt>
                <c:pt idx="55">
                  <c:v>4.297</c:v>
                </c:pt>
                <c:pt idx="56">
                  <c:v>4.363</c:v>
                </c:pt>
                <c:pt idx="57">
                  <c:v>4.437</c:v>
                </c:pt>
                <c:pt idx="58">
                  <c:v>4.508</c:v>
                </c:pt>
                <c:pt idx="59">
                  <c:v>4.572</c:v>
                </c:pt>
                <c:pt idx="60">
                  <c:v>2.103</c:v>
                </c:pt>
                <c:pt idx="61">
                  <c:v>2.439</c:v>
                </c:pt>
                <c:pt idx="62">
                  <c:v>2.777</c:v>
                </c:pt>
                <c:pt idx="63">
                  <c:v>3.116</c:v>
                </c:pt>
                <c:pt idx="64">
                  <c:v>3.458</c:v>
                </c:pt>
                <c:pt idx="65">
                  <c:v>3.8</c:v>
                </c:pt>
                <c:pt idx="66">
                  <c:v>4.13</c:v>
                </c:pt>
                <c:pt idx="67">
                  <c:v>4.722</c:v>
                </c:pt>
              </c:numCache>
            </c:numRef>
          </c:xVal>
          <c:yVal>
            <c:numRef>
              <c:f>Sheet1!$C$2:$C$69</c:f>
              <c:numCache>
                <c:formatCode>General</c:formatCode>
                <c:ptCount val="68"/>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2</c:v>
                </c:pt>
                <c:pt idx="21">
                  <c:v>12.05</c:v>
                </c:pt>
                <c:pt idx="22">
                  <c:v>2</c:v>
                </c:pt>
                <c:pt idx="23">
                  <c:v>11.91</c:v>
                </c:pt>
                <c:pt idx="24">
                  <c:v>2</c:v>
                </c:pt>
                <c:pt idx="25">
                  <c:v>11.96</c:v>
                </c:pt>
                <c:pt idx="26">
                  <c:v>2</c:v>
                </c:pt>
                <c:pt idx="27">
                  <c:v>11.9</c:v>
                </c:pt>
                <c:pt idx="28">
                  <c:v>1.99</c:v>
                </c:pt>
                <c:pt idx="29">
                  <c:v>11.99</c:v>
                </c:pt>
                <c:pt idx="30">
                  <c:v>2</c:v>
                </c:pt>
                <c:pt idx="31">
                  <c:v>12.02</c:v>
                </c:pt>
                <c:pt idx="32">
                  <c:v>2</c:v>
                </c:pt>
                <c:pt idx="33">
                  <c:v>12</c:v>
                </c:pt>
                <c:pt idx="34">
                  <c:v>2.01</c:v>
                </c:pt>
                <c:pt idx="35">
                  <c:v>11.91</c:v>
                </c:pt>
                <c:pt idx="36">
                  <c:v>2.05</c:v>
                </c:pt>
                <c:pt idx="37">
                  <c:v>12.02</c:v>
                </c:pt>
                <c:pt idx="38">
                  <c:v>1.99</c:v>
                </c:pt>
                <c:pt idx="39">
                  <c:v>11.96</c:v>
                </c:pt>
                <c:pt idx="40">
                  <c:v>2</c:v>
                </c:pt>
                <c:pt idx="41">
                  <c:v>11.77</c:v>
                </c:pt>
                <c:pt idx="42">
                  <c:v>2.01</c:v>
                </c:pt>
                <c:pt idx="43">
                  <c:v>11.41</c:v>
                </c:pt>
                <c:pt idx="44">
                  <c:v>2.02</c:v>
                </c:pt>
                <c:pt idx="45">
                  <c:v>12.01</c:v>
                </c:pt>
                <c:pt idx="46">
                  <c:v>1.99</c:v>
                </c:pt>
                <c:pt idx="47">
                  <c:v>12.08</c:v>
                </c:pt>
                <c:pt idx="48">
                  <c:v>2.05</c:v>
                </c:pt>
                <c:pt idx="49">
                  <c:v>12.6</c:v>
                </c:pt>
                <c:pt idx="50">
                  <c:v>2.42</c:v>
                </c:pt>
                <c:pt idx="51">
                  <c:v>11.97</c:v>
                </c:pt>
                <c:pt idx="52">
                  <c:v>2.42</c:v>
                </c:pt>
                <c:pt idx="53">
                  <c:v>11.91</c:v>
                </c:pt>
                <c:pt idx="54">
                  <c:v>2.98</c:v>
                </c:pt>
                <c:pt idx="55">
                  <c:v>12.29</c:v>
                </c:pt>
                <c:pt idx="56">
                  <c:v>2.62</c:v>
                </c:pt>
                <c:pt idx="57">
                  <c:v>11.87</c:v>
                </c:pt>
                <c:pt idx="58">
                  <c:v>2.63</c:v>
                </c:pt>
                <c:pt idx="59">
                  <c:v>12.72</c:v>
                </c:pt>
                <c:pt idx="60">
                  <c:v/>
                </c:pt>
                <c:pt idx="61">
                  <c:v/>
                </c:pt>
                <c:pt idx="62">
                  <c:v/>
                </c:pt>
                <c:pt idx="63">
                  <c:v/>
                </c:pt>
                <c:pt idx="64">
                  <c:v/>
                </c:pt>
                <c:pt idx="65">
                  <c:v/>
                </c:pt>
                <c:pt idx="66">
                  <c:v/>
                </c:pt>
                <c:pt idx="67">
                  <c:v/>
                </c:pt>
              </c:numCache>
            </c:numRef>
          </c:yVal>
          <c:smooth val="0"/>
        </c:ser>
        <c:ser>
          <c:idx val="2"/>
          <c:order val="2"/>
          <c:tx>
            <c:strRef>
              <c:f>Sheet1!$D$1</c:f>
              <c:strCache>
                <c:ptCount val="1"/>
                <c:pt idx="0">
                  <c:v>8 new held-out storms</c:v>
                </c:pt>
              </c:strCache>
            </c:strRef>
          </c:tx>
          <c:spPr>
            <a:solidFill>
              <a:srgbClr val="B5443C"/>
            </a:solidFill>
            <a:ln>
              <a:noFill/>
            </a:ln>
            <a:effectLst/>
          </c:spPr>
          <c:marker>
            <c:symbol val="circle"/>
            <c:size val="7"/>
            <c:spPr>
              <a:solidFill>
                <a:srgbClr val="B5443C"/>
              </a:solidFill>
              <a:ln w="9525" cap="flat">
                <a:solidFill>
                  <a:srgbClr val="B5443C"/>
                </a:solidFill>
                <a:prstDash val="solid"/>
                <a:round/>
              </a:ln>
              <a:effectLst/>
            </c:spPr>
          </c:marker>
          <c:xVal>
            <c:numRef>
              <c:f>Sheet1!$A$2:$A$69</c:f>
              <c:numCache>
                <c:formatCode>General</c:formatCode>
                <c:ptCount val="68"/>
                <c:pt idx="0">
                  <c:v>1.911</c:v>
                </c:pt>
                <c:pt idx="1">
                  <c:v>1.922</c:v>
                </c:pt>
                <c:pt idx="2">
                  <c:v>1.922</c:v>
                </c:pt>
                <c:pt idx="3">
                  <c:v>2.017</c:v>
                </c:pt>
                <c:pt idx="4">
                  <c:v>2.102</c:v>
                </c:pt>
                <c:pt idx="5">
                  <c:v>2.15</c:v>
                </c:pt>
                <c:pt idx="6">
                  <c:v>2.166</c:v>
                </c:pt>
                <c:pt idx="7">
                  <c:v>2.272</c:v>
                </c:pt>
                <c:pt idx="8">
                  <c:v>2.292</c:v>
                </c:pt>
                <c:pt idx="9">
                  <c:v>2.369</c:v>
                </c:pt>
                <c:pt idx="10">
                  <c:v>2.563</c:v>
                </c:pt>
                <c:pt idx="11">
                  <c:v>2.632</c:v>
                </c:pt>
                <c:pt idx="12">
                  <c:v>2.797</c:v>
                </c:pt>
                <c:pt idx="13">
                  <c:v>3.092</c:v>
                </c:pt>
                <c:pt idx="14">
                  <c:v>3.24</c:v>
                </c:pt>
                <c:pt idx="15">
                  <c:v>3.372</c:v>
                </c:pt>
                <c:pt idx="16">
                  <c:v>3.444</c:v>
                </c:pt>
                <c:pt idx="17">
                  <c:v>3.64</c:v>
                </c:pt>
                <c:pt idx="18">
                  <c:v>3.745</c:v>
                </c:pt>
                <c:pt idx="19">
                  <c:v>4.458</c:v>
                </c:pt>
                <c:pt idx="20">
                  <c:v>1.935</c:v>
                </c:pt>
                <c:pt idx="21">
                  <c:v>2.002</c:v>
                </c:pt>
                <c:pt idx="22">
                  <c:v>2.07</c:v>
                </c:pt>
                <c:pt idx="23">
                  <c:v>2.138</c:v>
                </c:pt>
                <c:pt idx="24">
                  <c:v>2.205</c:v>
                </c:pt>
                <c:pt idx="25">
                  <c:v>2.272</c:v>
                </c:pt>
                <c:pt idx="26">
                  <c:v>2.339</c:v>
                </c:pt>
                <c:pt idx="27">
                  <c:v>2.408</c:v>
                </c:pt>
                <c:pt idx="28">
                  <c:v>2.477</c:v>
                </c:pt>
                <c:pt idx="29">
                  <c:v>2.544</c:v>
                </c:pt>
                <c:pt idx="30">
                  <c:v>2.614</c:v>
                </c:pt>
                <c:pt idx="31">
                  <c:v>2.684</c:v>
                </c:pt>
                <c:pt idx="32">
                  <c:v>2.755</c:v>
                </c:pt>
                <c:pt idx="33">
                  <c:v>2.807</c:v>
                </c:pt>
                <c:pt idx="34">
                  <c:v>2.88</c:v>
                </c:pt>
                <c:pt idx="35">
                  <c:v>2.959</c:v>
                </c:pt>
                <c:pt idx="36">
                  <c:v>3.011</c:v>
                </c:pt>
                <c:pt idx="37">
                  <c:v>3.089</c:v>
                </c:pt>
                <c:pt idx="38">
                  <c:v>3.142</c:v>
                </c:pt>
                <c:pt idx="39">
                  <c:v>3.232</c:v>
                </c:pt>
                <c:pt idx="40">
                  <c:v>3.299</c:v>
                </c:pt>
                <c:pt idx="41">
                  <c:v>3.342</c:v>
                </c:pt>
                <c:pt idx="42">
                  <c:v>3.407</c:v>
                </c:pt>
                <c:pt idx="43">
                  <c:v>3.498</c:v>
                </c:pt>
                <c:pt idx="44">
                  <c:v>3.557</c:v>
                </c:pt>
                <c:pt idx="45">
                  <c:v>3.632</c:v>
                </c:pt>
                <c:pt idx="46">
                  <c:v>3.687</c:v>
                </c:pt>
                <c:pt idx="47">
                  <c:v>3.759</c:v>
                </c:pt>
                <c:pt idx="48">
                  <c:v>3.827</c:v>
                </c:pt>
                <c:pt idx="49">
                  <c:v>3.89</c:v>
                </c:pt>
                <c:pt idx="50">
                  <c:v>3.963</c:v>
                </c:pt>
                <c:pt idx="51">
                  <c:v>4.027</c:v>
                </c:pt>
                <c:pt idx="52">
                  <c:v>4.105</c:v>
                </c:pt>
                <c:pt idx="53">
                  <c:v>4.153</c:v>
                </c:pt>
                <c:pt idx="54">
                  <c:v>4.23</c:v>
                </c:pt>
                <c:pt idx="55">
                  <c:v>4.297</c:v>
                </c:pt>
                <c:pt idx="56">
                  <c:v>4.363</c:v>
                </c:pt>
                <c:pt idx="57">
                  <c:v>4.437</c:v>
                </c:pt>
                <c:pt idx="58">
                  <c:v>4.508</c:v>
                </c:pt>
                <c:pt idx="59">
                  <c:v>4.572</c:v>
                </c:pt>
                <c:pt idx="60">
                  <c:v>2.103</c:v>
                </c:pt>
                <c:pt idx="61">
                  <c:v>2.439</c:v>
                </c:pt>
                <c:pt idx="62">
                  <c:v>2.777</c:v>
                </c:pt>
                <c:pt idx="63">
                  <c:v>3.116</c:v>
                </c:pt>
                <c:pt idx="64">
                  <c:v>3.458</c:v>
                </c:pt>
                <c:pt idx="65">
                  <c:v>3.8</c:v>
                </c:pt>
                <c:pt idx="66">
                  <c:v>4.13</c:v>
                </c:pt>
                <c:pt idx="67">
                  <c:v>4.722</c:v>
                </c:pt>
              </c:numCache>
            </c:numRef>
          </c:xVal>
          <c:yVal>
            <c:numRef>
              <c:f>Sheet1!$D$2:$D$69</c:f>
              <c:numCache>
                <c:formatCode>General</c:formatCode>
                <c:ptCount val="68"/>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3.77</c:v>
                </c:pt>
                <c:pt idx="61">
                  <c:v>10.65</c:v>
                </c:pt>
                <c:pt idx="62">
                  <c:v>3.96</c:v>
                </c:pt>
                <c:pt idx="63">
                  <c:v>9.26</c:v>
                </c:pt>
                <c:pt idx="64">
                  <c:v>4.02</c:v>
                </c:pt>
                <c:pt idx="65">
                  <c:v>6.68</c:v>
                </c:pt>
                <c:pt idx="66">
                  <c:v>4.06</c:v>
                </c:pt>
                <c:pt idx="67">
                  <c:v>6.72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
          <c:min val="1.5"/>
        </c:scaling>
        <c:delete val="0"/>
        <c:axPos val="b"/>
        <c:title>
          <c:tx>
            <c:rich>
              <a:bodyPr/>
              <a:lstStyle/>
              <a:p>
                <a:pPr>
                  <a:defRPr sz="1000" b="0" i="0" u="none" strike="noStrike">
                    <a:solidFill>
                      <a:srgbClr val="5B5B70"/>
                    </a:solidFill>
                    <a:latin typeface="Arial"/>
                  </a:defRPr>
                </a:pPr>
                <a:r>
                  <a:rPr sz="1000" b="0" i="0" u="none" strike="noStrike">
                    <a:solidFill>
                      <a:srgbClr val="5B5B70"/>
                    </a:solidFill>
                    <a:latin typeface="Arial"/>
                  </a:rPr>
                  <a:t>Peak water level at the Battery (m)</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B5B70"/>
                </a:solidFill>
                <a:latin typeface="Arial"/>
              </a:defRPr>
            </a:pPr>
            <a:endParaRPr lang="en-US"/>
          </a:p>
        </c:txPr>
        <c:crossAx val="2094734552"/>
        <c:crosses val="autoZero"/>
        <c:auto val="1"/>
        <c:lblAlgn val="ctr"/>
        <c:noMultiLvlLbl val="1"/>
      </c:valAx>
      <c:valAx>
        <c:axId val="2094734552"/>
        <c:scaling>
          <c:orientation val="minMax"/>
          <c:max val="30"/>
          <c:min val="0"/>
        </c:scaling>
        <c:delete val="0"/>
        <c:axPos val="l"/>
        <c:majorGridlines>
          <c:spPr>
            <a:ln w="6350" cap="flat">
              <a:solidFill>
                <a:srgbClr val="E4E2EC"/>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B5B70"/>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000">
              <a:solidFill>
                <a:srgbClr val="1F1F2E"/>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F2E"/>
                </a:solidFill>
                <a:latin typeface="Arial"/>
              </a:defRPr>
            </a:pPr>
            <a:r>
              <a:rPr sz="1100" b="0" i="0" u="none" strike="noStrike">
                <a:solidFill>
                  <a:srgbClr val="1F1F2E"/>
                </a:solidFill>
                <a:latin typeface="Arial"/>
              </a:rPr>
              <a:t>Mean failed sites by 96 h (1,000 runs per storm)</a:t>
            </a:r>
          </a:p>
        </c:rich>
      </c:tx>
      <c:layout/>
      <c:overlay val="0"/>
    </c:title>
    <c:autoTitleDeleted val="0"/>
    <c:plotArea>
      <c:layout/>
      <c:scatterChart>
        <c:scatterStyle val="lineMarker"/>
        <c:varyColors val="0"/>
        <c:ser>
          <c:idx val="0"/>
          <c:order val="0"/>
          <c:tx>
            <c:strRef>
              <c:f>Sheet1!$B$1</c:f>
              <c:strCache>
                <c:ptCount val="1"/>
                <c:pt idx="0">
                  <c:v>static labels (all 48)</c:v>
                </c:pt>
              </c:strCache>
            </c:strRef>
          </c:tx>
          <c:spPr>
            <a:solidFill>
              <a:srgbClr val="8A8A99"/>
            </a:solidFill>
            <a:ln>
              <a:noFill/>
            </a:ln>
            <a:effectLst/>
          </c:spPr>
          <c:marker>
            <c:symbol val="circle"/>
            <c:size val="6"/>
            <c:spPr>
              <a:solidFill>
                <a:srgbClr val="8A8A99"/>
              </a:solidFill>
              <a:ln w="9525" cap="flat">
                <a:solidFill>
                  <a:srgbClr val="8A8A99"/>
                </a:solidFill>
                <a:prstDash val="solid"/>
                <a:round/>
              </a:ln>
              <a:effectLst/>
            </c:spPr>
          </c:marker>
          <c:xVal>
            <c:numRef>
              <c:f>Sheet1!$A$2:$A$97</c:f>
              <c:numCache>
                <c:formatCode>General</c:formatCode>
                <c:ptCount val="96"/>
                <c:pt idx="0">
                  <c:v>1.935</c:v>
                </c:pt>
                <c:pt idx="1">
                  <c:v>2.002</c:v>
                </c:pt>
                <c:pt idx="2">
                  <c:v>2.07</c:v>
                </c:pt>
                <c:pt idx="3">
                  <c:v>2.103</c:v>
                </c:pt>
                <c:pt idx="4">
                  <c:v>2.138</c:v>
                </c:pt>
                <c:pt idx="5">
                  <c:v>2.205</c:v>
                </c:pt>
                <c:pt idx="6">
                  <c:v>2.272</c:v>
                </c:pt>
                <c:pt idx="7">
                  <c:v>2.339</c:v>
                </c:pt>
                <c:pt idx="8">
                  <c:v>2.408</c:v>
                </c:pt>
                <c:pt idx="9">
                  <c:v>2.439</c:v>
                </c:pt>
                <c:pt idx="10">
                  <c:v>2.477</c:v>
                </c:pt>
                <c:pt idx="11">
                  <c:v>2.544</c:v>
                </c:pt>
                <c:pt idx="12">
                  <c:v>2.614</c:v>
                </c:pt>
                <c:pt idx="13">
                  <c:v>2.684</c:v>
                </c:pt>
                <c:pt idx="14">
                  <c:v>2.755</c:v>
                </c:pt>
                <c:pt idx="15">
                  <c:v>2.777</c:v>
                </c:pt>
                <c:pt idx="16">
                  <c:v>2.807</c:v>
                </c:pt>
                <c:pt idx="17">
                  <c:v>2.88</c:v>
                </c:pt>
                <c:pt idx="18">
                  <c:v>2.959</c:v>
                </c:pt>
                <c:pt idx="19">
                  <c:v>3.011</c:v>
                </c:pt>
                <c:pt idx="20">
                  <c:v>3.089</c:v>
                </c:pt>
                <c:pt idx="21">
                  <c:v>3.116</c:v>
                </c:pt>
                <c:pt idx="22">
                  <c:v>3.142</c:v>
                </c:pt>
                <c:pt idx="23">
                  <c:v>3.232</c:v>
                </c:pt>
                <c:pt idx="24">
                  <c:v>3.299</c:v>
                </c:pt>
                <c:pt idx="25">
                  <c:v>3.342</c:v>
                </c:pt>
                <c:pt idx="26">
                  <c:v>3.407</c:v>
                </c:pt>
                <c:pt idx="27">
                  <c:v>3.458</c:v>
                </c:pt>
                <c:pt idx="28">
                  <c:v>3.498</c:v>
                </c:pt>
                <c:pt idx="29">
                  <c:v>3.557</c:v>
                </c:pt>
                <c:pt idx="30">
                  <c:v>3.632</c:v>
                </c:pt>
                <c:pt idx="31">
                  <c:v>3.687</c:v>
                </c:pt>
                <c:pt idx="32">
                  <c:v>3.759</c:v>
                </c:pt>
                <c:pt idx="33">
                  <c:v>3.8</c:v>
                </c:pt>
                <c:pt idx="34">
                  <c:v>3.827</c:v>
                </c:pt>
                <c:pt idx="35">
                  <c:v>3.89</c:v>
                </c:pt>
                <c:pt idx="36">
                  <c:v>3.963</c:v>
                </c:pt>
                <c:pt idx="37">
                  <c:v>4.027</c:v>
                </c:pt>
                <c:pt idx="38">
                  <c:v>4.105</c:v>
                </c:pt>
                <c:pt idx="39">
                  <c:v>4.13</c:v>
                </c:pt>
                <c:pt idx="40">
                  <c:v>4.153</c:v>
                </c:pt>
                <c:pt idx="41">
                  <c:v>4.23</c:v>
                </c:pt>
                <c:pt idx="42">
                  <c:v>4.297</c:v>
                </c:pt>
                <c:pt idx="43">
                  <c:v>4.363</c:v>
                </c:pt>
                <c:pt idx="44">
                  <c:v>4.437</c:v>
                </c:pt>
                <c:pt idx="45">
                  <c:v>4.508</c:v>
                </c:pt>
                <c:pt idx="46">
                  <c:v>4.572</c:v>
                </c:pt>
                <c:pt idx="47">
                  <c:v>4.722</c:v>
                </c:pt>
                <c:pt idx="48">
                  <c:v>1.935</c:v>
                </c:pt>
                <c:pt idx="49">
                  <c:v>2.07</c:v>
                </c:pt>
                <c:pt idx="50">
                  <c:v>2.205</c:v>
                </c:pt>
                <c:pt idx="51">
                  <c:v>2.339</c:v>
                </c:pt>
                <c:pt idx="52">
                  <c:v>2.477</c:v>
                </c:pt>
                <c:pt idx="53">
                  <c:v>2.614</c:v>
                </c:pt>
                <c:pt idx="54">
                  <c:v>2.755</c:v>
                </c:pt>
                <c:pt idx="55">
                  <c:v>2.88</c:v>
                </c:pt>
                <c:pt idx="56">
                  <c:v>3.011</c:v>
                </c:pt>
                <c:pt idx="57">
                  <c:v>3.142</c:v>
                </c:pt>
                <c:pt idx="58">
                  <c:v>3.299</c:v>
                </c:pt>
                <c:pt idx="59">
                  <c:v>3.407</c:v>
                </c:pt>
                <c:pt idx="60">
                  <c:v>3.557</c:v>
                </c:pt>
                <c:pt idx="61">
                  <c:v>3.687</c:v>
                </c:pt>
                <c:pt idx="62">
                  <c:v>3.827</c:v>
                </c:pt>
                <c:pt idx="63">
                  <c:v>3.963</c:v>
                </c:pt>
                <c:pt idx="64">
                  <c:v>4.105</c:v>
                </c:pt>
                <c:pt idx="65">
                  <c:v>4.23</c:v>
                </c:pt>
                <c:pt idx="66">
                  <c:v>4.363</c:v>
                </c:pt>
                <c:pt idx="67">
                  <c:v>4.508</c:v>
                </c:pt>
                <c:pt idx="68">
                  <c:v>2.002</c:v>
                </c:pt>
                <c:pt idx="69">
                  <c:v>2.138</c:v>
                </c:pt>
                <c:pt idx="70">
                  <c:v>2.272</c:v>
                </c:pt>
                <c:pt idx="71">
                  <c:v>2.408</c:v>
                </c:pt>
                <c:pt idx="72">
                  <c:v>2.544</c:v>
                </c:pt>
                <c:pt idx="73">
                  <c:v>2.684</c:v>
                </c:pt>
                <c:pt idx="74">
                  <c:v>2.807</c:v>
                </c:pt>
                <c:pt idx="75">
                  <c:v>2.959</c:v>
                </c:pt>
                <c:pt idx="76">
                  <c:v>3.089</c:v>
                </c:pt>
                <c:pt idx="77">
                  <c:v>3.232</c:v>
                </c:pt>
                <c:pt idx="78">
                  <c:v>3.342</c:v>
                </c:pt>
                <c:pt idx="79">
                  <c:v>3.498</c:v>
                </c:pt>
                <c:pt idx="80">
                  <c:v>3.632</c:v>
                </c:pt>
                <c:pt idx="81">
                  <c:v>3.759</c:v>
                </c:pt>
                <c:pt idx="82">
                  <c:v>3.89</c:v>
                </c:pt>
                <c:pt idx="83">
                  <c:v>4.027</c:v>
                </c:pt>
                <c:pt idx="84">
                  <c:v>4.153</c:v>
                </c:pt>
                <c:pt idx="85">
                  <c:v>4.297</c:v>
                </c:pt>
                <c:pt idx="86">
                  <c:v>4.437</c:v>
                </c:pt>
                <c:pt idx="87">
                  <c:v>4.572</c:v>
                </c:pt>
                <c:pt idx="88">
                  <c:v>2.103</c:v>
                </c:pt>
                <c:pt idx="89">
                  <c:v>2.439</c:v>
                </c:pt>
                <c:pt idx="90">
                  <c:v>2.777</c:v>
                </c:pt>
                <c:pt idx="91">
                  <c:v>3.116</c:v>
                </c:pt>
                <c:pt idx="92">
                  <c:v>3.458</c:v>
                </c:pt>
                <c:pt idx="93">
                  <c:v>3.8</c:v>
                </c:pt>
                <c:pt idx="94">
                  <c:v>4.13</c:v>
                </c:pt>
                <c:pt idx="95">
                  <c:v>4.722</c:v>
                </c:pt>
              </c:numCache>
            </c:numRef>
          </c:xVal>
          <c:yVal>
            <c:numRef>
              <c:f>Sheet1!$B$2:$B$97</c:f>
              <c:numCache>
                <c:formatCode>General</c:formatCode>
                <c:ptCount val="96"/>
                <c:pt idx="0">
                  <c:v>133</c:v>
                </c:pt>
                <c:pt idx="1">
                  <c:v>170</c:v>
                </c:pt>
                <c:pt idx="2">
                  <c:v>239</c:v>
                </c:pt>
                <c:pt idx="3">
                  <c:v>270</c:v>
                </c:pt>
                <c:pt idx="4">
                  <c:v>294</c:v>
                </c:pt>
                <c:pt idx="5">
                  <c:v>368</c:v>
                </c:pt>
                <c:pt idx="6">
                  <c:v>580</c:v>
                </c:pt>
                <c:pt idx="7">
                  <c:v>824</c:v>
                </c:pt>
                <c:pt idx="8">
                  <c:v>1066</c:v>
                </c:pt>
                <c:pt idx="9">
                  <c:v>1167</c:v>
                </c:pt>
                <c:pt idx="10">
                  <c:v>1265</c:v>
                </c:pt>
                <c:pt idx="11">
                  <c:v>1396</c:v>
                </c:pt>
                <c:pt idx="12">
                  <c:v>1522</c:v>
                </c:pt>
                <c:pt idx="13">
                  <c:v>1604</c:v>
                </c:pt>
                <c:pt idx="14">
                  <c:v>1674</c:v>
                </c:pt>
                <c:pt idx="15">
                  <c:v>1692</c:v>
                </c:pt>
                <c:pt idx="16">
                  <c:v>1726</c:v>
                </c:pt>
                <c:pt idx="17">
                  <c:v>1779</c:v>
                </c:pt>
                <c:pt idx="18">
                  <c:v>1845</c:v>
                </c:pt>
                <c:pt idx="19">
                  <c:v>1894</c:v>
                </c:pt>
                <c:pt idx="20">
                  <c:v>1971</c:v>
                </c:pt>
                <c:pt idx="21">
                  <c:v>1994</c:v>
                </c:pt>
                <c:pt idx="22">
                  <c:v>2017</c:v>
                </c:pt>
                <c:pt idx="23">
                  <c:v>2086</c:v>
                </c:pt>
                <c:pt idx="24">
                  <c:v>2132</c:v>
                </c:pt>
                <c:pt idx="25">
                  <c:v>2158</c:v>
                </c:pt>
                <c:pt idx="26">
                  <c:v>2198</c:v>
                </c:pt>
                <c:pt idx="27">
                  <c:v>2226</c:v>
                </c:pt>
                <c:pt idx="28">
                  <c:v>2251</c:v>
                </c:pt>
                <c:pt idx="29">
                  <c:v>2290</c:v>
                </c:pt>
                <c:pt idx="30">
                  <c:v>2330</c:v>
                </c:pt>
                <c:pt idx="31">
                  <c:v>2360</c:v>
                </c:pt>
                <c:pt idx="32">
                  <c:v>2392</c:v>
                </c:pt>
                <c:pt idx="33">
                  <c:v>2409</c:v>
                </c:pt>
                <c:pt idx="34">
                  <c:v>2419</c:v>
                </c:pt>
                <c:pt idx="35">
                  <c:v>2443</c:v>
                </c:pt>
                <c:pt idx="36">
                  <c:v>2464</c:v>
                </c:pt>
                <c:pt idx="37">
                  <c:v>2478</c:v>
                </c:pt>
                <c:pt idx="38">
                  <c:v>2500</c:v>
                </c:pt>
                <c:pt idx="39">
                  <c:v>2504</c:v>
                </c:pt>
                <c:pt idx="40">
                  <c:v>2508</c:v>
                </c:pt>
                <c:pt idx="41">
                  <c:v>2523</c:v>
                </c:pt>
                <c:pt idx="42">
                  <c:v>2540</c:v>
                </c:pt>
                <c:pt idx="43">
                  <c:v>2556</c:v>
                </c:pt>
                <c:pt idx="44">
                  <c:v>2572</c:v>
                </c:pt>
                <c:pt idx="45">
                  <c:v>2584</c:v>
                </c:pt>
                <c:pt idx="46">
                  <c:v>2598</c:v>
                </c:pt>
                <c:pt idx="47">
                  <c:v>2660</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numCache>
            </c:numRef>
          </c:yVal>
          <c:smooth val="0"/>
        </c:ser>
        <c:ser>
          <c:idx val="1"/>
          <c:order val="1"/>
          <c:tx>
            <c:strRef>
              <c:f>Sheet1!$C$1</c:f>
              <c:strCache>
                <c:ptCount val="1"/>
                <c:pt idx="0">
                  <c:v>arrival labels, fast storms</c:v>
                </c:pt>
              </c:strCache>
            </c:strRef>
          </c:tx>
          <c:spPr>
            <a:solidFill>
              <a:srgbClr val="9A8AD0"/>
            </a:solidFill>
            <a:ln>
              <a:noFill/>
            </a:ln>
            <a:effectLst/>
          </c:spPr>
          <c:marker>
            <c:symbol val="circle"/>
            <c:size val="6"/>
            <c:spPr>
              <a:solidFill>
                <a:srgbClr val="9A8AD0"/>
              </a:solidFill>
              <a:ln w="9525" cap="flat">
                <a:solidFill>
                  <a:srgbClr val="9A8AD0"/>
                </a:solidFill>
                <a:prstDash val="solid"/>
                <a:round/>
              </a:ln>
              <a:effectLst/>
            </c:spPr>
          </c:marker>
          <c:xVal>
            <c:numRef>
              <c:f>Sheet1!$A$2:$A$97</c:f>
              <c:numCache>
                <c:formatCode>General</c:formatCode>
                <c:ptCount val="96"/>
                <c:pt idx="0">
                  <c:v>1.935</c:v>
                </c:pt>
                <c:pt idx="1">
                  <c:v>2.002</c:v>
                </c:pt>
                <c:pt idx="2">
                  <c:v>2.07</c:v>
                </c:pt>
                <c:pt idx="3">
                  <c:v>2.103</c:v>
                </c:pt>
                <c:pt idx="4">
                  <c:v>2.138</c:v>
                </c:pt>
                <c:pt idx="5">
                  <c:v>2.205</c:v>
                </c:pt>
                <c:pt idx="6">
                  <c:v>2.272</c:v>
                </c:pt>
                <c:pt idx="7">
                  <c:v>2.339</c:v>
                </c:pt>
                <c:pt idx="8">
                  <c:v>2.408</c:v>
                </c:pt>
                <c:pt idx="9">
                  <c:v>2.439</c:v>
                </c:pt>
                <c:pt idx="10">
                  <c:v>2.477</c:v>
                </c:pt>
                <c:pt idx="11">
                  <c:v>2.544</c:v>
                </c:pt>
                <c:pt idx="12">
                  <c:v>2.614</c:v>
                </c:pt>
                <c:pt idx="13">
                  <c:v>2.684</c:v>
                </c:pt>
                <c:pt idx="14">
                  <c:v>2.755</c:v>
                </c:pt>
                <c:pt idx="15">
                  <c:v>2.777</c:v>
                </c:pt>
                <c:pt idx="16">
                  <c:v>2.807</c:v>
                </c:pt>
                <c:pt idx="17">
                  <c:v>2.88</c:v>
                </c:pt>
                <c:pt idx="18">
                  <c:v>2.959</c:v>
                </c:pt>
                <c:pt idx="19">
                  <c:v>3.011</c:v>
                </c:pt>
                <c:pt idx="20">
                  <c:v>3.089</c:v>
                </c:pt>
                <c:pt idx="21">
                  <c:v>3.116</c:v>
                </c:pt>
                <c:pt idx="22">
                  <c:v>3.142</c:v>
                </c:pt>
                <c:pt idx="23">
                  <c:v>3.232</c:v>
                </c:pt>
                <c:pt idx="24">
                  <c:v>3.299</c:v>
                </c:pt>
                <c:pt idx="25">
                  <c:v>3.342</c:v>
                </c:pt>
                <c:pt idx="26">
                  <c:v>3.407</c:v>
                </c:pt>
                <c:pt idx="27">
                  <c:v>3.458</c:v>
                </c:pt>
                <c:pt idx="28">
                  <c:v>3.498</c:v>
                </c:pt>
                <c:pt idx="29">
                  <c:v>3.557</c:v>
                </c:pt>
                <c:pt idx="30">
                  <c:v>3.632</c:v>
                </c:pt>
                <c:pt idx="31">
                  <c:v>3.687</c:v>
                </c:pt>
                <c:pt idx="32">
                  <c:v>3.759</c:v>
                </c:pt>
                <c:pt idx="33">
                  <c:v>3.8</c:v>
                </c:pt>
                <c:pt idx="34">
                  <c:v>3.827</c:v>
                </c:pt>
                <c:pt idx="35">
                  <c:v>3.89</c:v>
                </c:pt>
                <c:pt idx="36">
                  <c:v>3.963</c:v>
                </c:pt>
                <c:pt idx="37">
                  <c:v>4.027</c:v>
                </c:pt>
                <c:pt idx="38">
                  <c:v>4.105</c:v>
                </c:pt>
                <c:pt idx="39">
                  <c:v>4.13</c:v>
                </c:pt>
                <c:pt idx="40">
                  <c:v>4.153</c:v>
                </c:pt>
                <c:pt idx="41">
                  <c:v>4.23</c:v>
                </c:pt>
                <c:pt idx="42">
                  <c:v>4.297</c:v>
                </c:pt>
                <c:pt idx="43">
                  <c:v>4.363</c:v>
                </c:pt>
                <c:pt idx="44">
                  <c:v>4.437</c:v>
                </c:pt>
                <c:pt idx="45">
                  <c:v>4.508</c:v>
                </c:pt>
                <c:pt idx="46">
                  <c:v>4.572</c:v>
                </c:pt>
                <c:pt idx="47">
                  <c:v>4.722</c:v>
                </c:pt>
                <c:pt idx="48">
                  <c:v>1.935</c:v>
                </c:pt>
                <c:pt idx="49">
                  <c:v>2.07</c:v>
                </c:pt>
                <c:pt idx="50">
                  <c:v>2.205</c:v>
                </c:pt>
                <c:pt idx="51">
                  <c:v>2.339</c:v>
                </c:pt>
                <c:pt idx="52">
                  <c:v>2.477</c:v>
                </c:pt>
                <c:pt idx="53">
                  <c:v>2.614</c:v>
                </c:pt>
                <c:pt idx="54">
                  <c:v>2.755</c:v>
                </c:pt>
                <c:pt idx="55">
                  <c:v>2.88</c:v>
                </c:pt>
                <c:pt idx="56">
                  <c:v>3.011</c:v>
                </c:pt>
                <c:pt idx="57">
                  <c:v>3.142</c:v>
                </c:pt>
                <c:pt idx="58">
                  <c:v>3.299</c:v>
                </c:pt>
                <c:pt idx="59">
                  <c:v>3.407</c:v>
                </c:pt>
                <c:pt idx="60">
                  <c:v>3.557</c:v>
                </c:pt>
                <c:pt idx="61">
                  <c:v>3.687</c:v>
                </c:pt>
                <c:pt idx="62">
                  <c:v>3.827</c:v>
                </c:pt>
                <c:pt idx="63">
                  <c:v>3.963</c:v>
                </c:pt>
                <c:pt idx="64">
                  <c:v>4.105</c:v>
                </c:pt>
                <c:pt idx="65">
                  <c:v>4.23</c:v>
                </c:pt>
                <c:pt idx="66">
                  <c:v>4.363</c:v>
                </c:pt>
                <c:pt idx="67">
                  <c:v>4.508</c:v>
                </c:pt>
                <c:pt idx="68">
                  <c:v>2.002</c:v>
                </c:pt>
                <c:pt idx="69">
                  <c:v>2.138</c:v>
                </c:pt>
                <c:pt idx="70">
                  <c:v>2.272</c:v>
                </c:pt>
                <c:pt idx="71">
                  <c:v>2.408</c:v>
                </c:pt>
                <c:pt idx="72">
                  <c:v>2.544</c:v>
                </c:pt>
                <c:pt idx="73">
                  <c:v>2.684</c:v>
                </c:pt>
                <c:pt idx="74">
                  <c:v>2.807</c:v>
                </c:pt>
                <c:pt idx="75">
                  <c:v>2.959</c:v>
                </c:pt>
                <c:pt idx="76">
                  <c:v>3.089</c:v>
                </c:pt>
                <c:pt idx="77">
                  <c:v>3.232</c:v>
                </c:pt>
                <c:pt idx="78">
                  <c:v>3.342</c:v>
                </c:pt>
                <c:pt idx="79">
                  <c:v>3.498</c:v>
                </c:pt>
                <c:pt idx="80">
                  <c:v>3.632</c:v>
                </c:pt>
                <c:pt idx="81">
                  <c:v>3.759</c:v>
                </c:pt>
                <c:pt idx="82">
                  <c:v>3.89</c:v>
                </c:pt>
                <c:pt idx="83">
                  <c:v>4.027</c:v>
                </c:pt>
                <c:pt idx="84">
                  <c:v>4.153</c:v>
                </c:pt>
                <c:pt idx="85">
                  <c:v>4.297</c:v>
                </c:pt>
                <c:pt idx="86">
                  <c:v>4.437</c:v>
                </c:pt>
                <c:pt idx="87">
                  <c:v>4.572</c:v>
                </c:pt>
                <c:pt idx="88">
                  <c:v>2.103</c:v>
                </c:pt>
                <c:pt idx="89">
                  <c:v>2.439</c:v>
                </c:pt>
                <c:pt idx="90">
                  <c:v>2.777</c:v>
                </c:pt>
                <c:pt idx="91">
                  <c:v>3.116</c:v>
                </c:pt>
                <c:pt idx="92">
                  <c:v>3.458</c:v>
                </c:pt>
                <c:pt idx="93">
                  <c:v>3.8</c:v>
                </c:pt>
                <c:pt idx="94">
                  <c:v>4.13</c:v>
                </c:pt>
                <c:pt idx="95">
                  <c:v>4.722</c:v>
                </c:pt>
              </c:numCache>
            </c:numRef>
          </c:xVal>
          <c:yVal>
            <c:numRef>
              <c:f>Sheet1!$C$2:$C$97</c:f>
              <c:numCache>
                <c:formatCode>General</c:formatCode>
                <c:ptCount val="9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136</c:v>
                </c:pt>
                <c:pt idx="49">
                  <c:v>248</c:v>
                </c:pt>
                <c:pt idx="50">
                  <c:v>379</c:v>
                </c:pt>
                <c:pt idx="51">
                  <c:v>844</c:v>
                </c:pt>
                <c:pt idx="52">
                  <c:v>1309</c:v>
                </c:pt>
                <c:pt idx="53">
                  <c:v>1578</c:v>
                </c:pt>
                <c:pt idx="54">
                  <c:v>1810</c:v>
                </c:pt>
                <c:pt idx="55">
                  <c:v>1864</c:v>
                </c:pt>
                <c:pt idx="56">
                  <c:v>2004</c:v>
                </c:pt>
                <c:pt idx="57">
                  <c:v>2278</c:v>
                </c:pt>
                <c:pt idx="58">
                  <c:v>2768</c:v>
                </c:pt>
                <c:pt idx="59">
                  <c:v>3052</c:v>
                </c:pt>
                <c:pt idx="60">
                  <c:v>3342</c:v>
                </c:pt>
                <c:pt idx="61">
                  <c:v>3328</c:v>
                </c:pt>
                <c:pt idx="62">
                  <c:v>3215</c:v>
                </c:pt>
                <c:pt idx="63">
                  <c:v>3187</c:v>
                </c:pt>
                <c:pt idx="64">
                  <c:v>3120</c:v>
                </c:pt>
                <c:pt idx="65">
                  <c:v>3625</c:v>
                </c:pt>
                <c:pt idx="66">
                  <c:v>3090</c:v>
                </c:pt>
                <c:pt idx="67">
                  <c:v>3159</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numCache>
            </c:numRef>
          </c:yVal>
          <c:smooth val="0"/>
        </c:ser>
        <c:ser>
          <c:idx val="2"/>
          <c:order val="2"/>
          <c:tx>
            <c:strRef>
              <c:f>Sheet1!$D$1</c:f>
              <c:strCache>
                <c:ptCount val="1"/>
                <c:pt idx="0">
                  <c:v>arrival labels, slow storms</c:v>
                </c:pt>
              </c:strCache>
            </c:strRef>
          </c:tx>
          <c:spPr>
            <a:solidFill>
              <a:srgbClr val="4A3D7A"/>
            </a:solidFill>
            <a:ln>
              <a:noFill/>
            </a:ln>
            <a:effectLst/>
          </c:spPr>
          <c:marker>
            <c:symbol val="circle"/>
            <c:size val="6"/>
            <c:spPr>
              <a:solidFill>
                <a:srgbClr val="4A3D7A"/>
              </a:solidFill>
              <a:ln w="9525" cap="flat">
                <a:solidFill>
                  <a:srgbClr val="4A3D7A"/>
                </a:solidFill>
                <a:prstDash val="solid"/>
                <a:round/>
              </a:ln>
              <a:effectLst/>
            </c:spPr>
          </c:marker>
          <c:xVal>
            <c:numRef>
              <c:f>Sheet1!$A$2:$A$97</c:f>
              <c:numCache>
                <c:formatCode>General</c:formatCode>
                <c:ptCount val="96"/>
                <c:pt idx="0">
                  <c:v>1.935</c:v>
                </c:pt>
                <c:pt idx="1">
                  <c:v>2.002</c:v>
                </c:pt>
                <c:pt idx="2">
                  <c:v>2.07</c:v>
                </c:pt>
                <c:pt idx="3">
                  <c:v>2.103</c:v>
                </c:pt>
                <c:pt idx="4">
                  <c:v>2.138</c:v>
                </c:pt>
                <c:pt idx="5">
                  <c:v>2.205</c:v>
                </c:pt>
                <c:pt idx="6">
                  <c:v>2.272</c:v>
                </c:pt>
                <c:pt idx="7">
                  <c:v>2.339</c:v>
                </c:pt>
                <c:pt idx="8">
                  <c:v>2.408</c:v>
                </c:pt>
                <c:pt idx="9">
                  <c:v>2.439</c:v>
                </c:pt>
                <c:pt idx="10">
                  <c:v>2.477</c:v>
                </c:pt>
                <c:pt idx="11">
                  <c:v>2.544</c:v>
                </c:pt>
                <c:pt idx="12">
                  <c:v>2.614</c:v>
                </c:pt>
                <c:pt idx="13">
                  <c:v>2.684</c:v>
                </c:pt>
                <c:pt idx="14">
                  <c:v>2.755</c:v>
                </c:pt>
                <c:pt idx="15">
                  <c:v>2.777</c:v>
                </c:pt>
                <c:pt idx="16">
                  <c:v>2.807</c:v>
                </c:pt>
                <c:pt idx="17">
                  <c:v>2.88</c:v>
                </c:pt>
                <c:pt idx="18">
                  <c:v>2.959</c:v>
                </c:pt>
                <c:pt idx="19">
                  <c:v>3.011</c:v>
                </c:pt>
                <c:pt idx="20">
                  <c:v>3.089</c:v>
                </c:pt>
                <c:pt idx="21">
                  <c:v>3.116</c:v>
                </c:pt>
                <c:pt idx="22">
                  <c:v>3.142</c:v>
                </c:pt>
                <c:pt idx="23">
                  <c:v>3.232</c:v>
                </c:pt>
                <c:pt idx="24">
                  <c:v>3.299</c:v>
                </c:pt>
                <c:pt idx="25">
                  <c:v>3.342</c:v>
                </c:pt>
                <c:pt idx="26">
                  <c:v>3.407</c:v>
                </c:pt>
                <c:pt idx="27">
                  <c:v>3.458</c:v>
                </c:pt>
                <c:pt idx="28">
                  <c:v>3.498</c:v>
                </c:pt>
                <c:pt idx="29">
                  <c:v>3.557</c:v>
                </c:pt>
                <c:pt idx="30">
                  <c:v>3.632</c:v>
                </c:pt>
                <c:pt idx="31">
                  <c:v>3.687</c:v>
                </c:pt>
                <c:pt idx="32">
                  <c:v>3.759</c:v>
                </c:pt>
                <c:pt idx="33">
                  <c:v>3.8</c:v>
                </c:pt>
                <c:pt idx="34">
                  <c:v>3.827</c:v>
                </c:pt>
                <c:pt idx="35">
                  <c:v>3.89</c:v>
                </c:pt>
                <c:pt idx="36">
                  <c:v>3.963</c:v>
                </c:pt>
                <c:pt idx="37">
                  <c:v>4.027</c:v>
                </c:pt>
                <c:pt idx="38">
                  <c:v>4.105</c:v>
                </c:pt>
                <c:pt idx="39">
                  <c:v>4.13</c:v>
                </c:pt>
                <c:pt idx="40">
                  <c:v>4.153</c:v>
                </c:pt>
                <c:pt idx="41">
                  <c:v>4.23</c:v>
                </c:pt>
                <c:pt idx="42">
                  <c:v>4.297</c:v>
                </c:pt>
                <c:pt idx="43">
                  <c:v>4.363</c:v>
                </c:pt>
                <c:pt idx="44">
                  <c:v>4.437</c:v>
                </c:pt>
                <c:pt idx="45">
                  <c:v>4.508</c:v>
                </c:pt>
                <c:pt idx="46">
                  <c:v>4.572</c:v>
                </c:pt>
                <c:pt idx="47">
                  <c:v>4.722</c:v>
                </c:pt>
                <c:pt idx="48">
                  <c:v>1.935</c:v>
                </c:pt>
                <c:pt idx="49">
                  <c:v>2.07</c:v>
                </c:pt>
                <c:pt idx="50">
                  <c:v>2.205</c:v>
                </c:pt>
                <c:pt idx="51">
                  <c:v>2.339</c:v>
                </c:pt>
                <c:pt idx="52">
                  <c:v>2.477</c:v>
                </c:pt>
                <c:pt idx="53">
                  <c:v>2.614</c:v>
                </c:pt>
                <c:pt idx="54">
                  <c:v>2.755</c:v>
                </c:pt>
                <c:pt idx="55">
                  <c:v>2.88</c:v>
                </c:pt>
                <c:pt idx="56">
                  <c:v>3.011</c:v>
                </c:pt>
                <c:pt idx="57">
                  <c:v>3.142</c:v>
                </c:pt>
                <c:pt idx="58">
                  <c:v>3.299</c:v>
                </c:pt>
                <c:pt idx="59">
                  <c:v>3.407</c:v>
                </c:pt>
                <c:pt idx="60">
                  <c:v>3.557</c:v>
                </c:pt>
                <c:pt idx="61">
                  <c:v>3.687</c:v>
                </c:pt>
                <c:pt idx="62">
                  <c:v>3.827</c:v>
                </c:pt>
                <c:pt idx="63">
                  <c:v>3.963</c:v>
                </c:pt>
                <c:pt idx="64">
                  <c:v>4.105</c:v>
                </c:pt>
                <c:pt idx="65">
                  <c:v>4.23</c:v>
                </c:pt>
                <c:pt idx="66">
                  <c:v>4.363</c:v>
                </c:pt>
                <c:pt idx="67">
                  <c:v>4.508</c:v>
                </c:pt>
                <c:pt idx="68">
                  <c:v>2.002</c:v>
                </c:pt>
                <c:pt idx="69">
                  <c:v>2.138</c:v>
                </c:pt>
                <c:pt idx="70">
                  <c:v>2.272</c:v>
                </c:pt>
                <c:pt idx="71">
                  <c:v>2.408</c:v>
                </c:pt>
                <c:pt idx="72">
                  <c:v>2.544</c:v>
                </c:pt>
                <c:pt idx="73">
                  <c:v>2.684</c:v>
                </c:pt>
                <c:pt idx="74">
                  <c:v>2.807</c:v>
                </c:pt>
                <c:pt idx="75">
                  <c:v>2.959</c:v>
                </c:pt>
                <c:pt idx="76">
                  <c:v>3.089</c:v>
                </c:pt>
                <c:pt idx="77">
                  <c:v>3.232</c:v>
                </c:pt>
                <c:pt idx="78">
                  <c:v>3.342</c:v>
                </c:pt>
                <c:pt idx="79">
                  <c:v>3.498</c:v>
                </c:pt>
                <c:pt idx="80">
                  <c:v>3.632</c:v>
                </c:pt>
                <c:pt idx="81">
                  <c:v>3.759</c:v>
                </c:pt>
                <c:pt idx="82">
                  <c:v>3.89</c:v>
                </c:pt>
                <c:pt idx="83">
                  <c:v>4.027</c:v>
                </c:pt>
                <c:pt idx="84">
                  <c:v>4.153</c:v>
                </c:pt>
                <c:pt idx="85">
                  <c:v>4.297</c:v>
                </c:pt>
                <c:pt idx="86">
                  <c:v>4.437</c:v>
                </c:pt>
                <c:pt idx="87">
                  <c:v>4.572</c:v>
                </c:pt>
                <c:pt idx="88">
                  <c:v>2.103</c:v>
                </c:pt>
                <c:pt idx="89">
                  <c:v>2.439</c:v>
                </c:pt>
                <c:pt idx="90">
                  <c:v>2.777</c:v>
                </c:pt>
                <c:pt idx="91">
                  <c:v>3.116</c:v>
                </c:pt>
                <c:pt idx="92">
                  <c:v>3.458</c:v>
                </c:pt>
                <c:pt idx="93">
                  <c:v>3.8</c:v>
                </c:pt>
                <c:pt idx="94">
                  <c:v>4.13</c:v>
                </c:pt>
                <c:pt idx="95">
                  <c:v>4.722</c:v>
                </c:pt>
              </c:numCache>
            </c:numRef>
          </c:xVal>
          <c:yVal>
            <c:numRef>
              <c:f>Sheet1!$D$2:$D$97</c:f>
              <c:numCache>
                <c:formatCode>General</c:formatCode>
                <c:ptCount val="9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197</c:v>
                </c:pt>
                <c:pt idx="69">
                  <c:v>353</c:v>
                </c:pt>
                <c:pt idx="70">
                  <c:v>623</c:v>
                </c:pt>
                <c:pt idx="71">
                  <c:v>1145</c:v>
                </c:pt>
                <c:pt idx="72">
                  <c:v>1619</c:v>
                </c:pt>
                <c:pt idx="73">
                  <c:v>1815</c:v>
                </c:pt>
                <c:pt idx="74">
                  <c:v>1953</c:v>
                </c:pt>
                <c:pt idx="75">
                  <c:v>2190</c:v>
                </c:pt>
                <c:pt idx="76">
                  <c:v>2199</c:v>
                </c:pt>
                <c:pt idx="77">
                  <c:v>3017</c:v>
                </c:pt>
                <c:pt idx="78">
                  <c:v>3054</c:v>
                </c:pt>
                <c:pt idx="79">
                  <c:v>3293</c:v>
                </c:pt>
                <c:pt idx="80">
                  <c:v>3494</c:v>
                </c:pt>
                <c:pt idx="81">
                  <c:v>3422</c:v>
                </c:pt>
                <c:pt idx="82">
                  <c:v>3633</c:v>
                </c:pt>
                <c:pt idx="83">
                  <c:v>3630</c:v>
                </c:pt>
                <c:pt idx="84">
                  <c:v>3652</c:v>
                </c:pt>
                <c:pt idx="85">
                  <c:v>3648</c:v>
                </c:pt>
                <c:pt idx="86">
                  <c:v>3717</c:v>
                </c:pt>
                <c:pt idx="87">
                  <c:v>3701</c:v>
                </c:pt>
                <c:pt idx="88">
                  <c:v/>
                </c:pt>
                <c:pt idx="89">
                  <c:v/>
                </c:pt>
                <c:pt idx="90">
                  <c:v/>
                </c:pt>
                <c:pt idx="91">
                  <c:v/>
                </c:pt>
                <c:pt idx="92">
                  <c:v/>
                </c:pt>
                <c:pt idx="93">
                  <c:v/>
                </c:pt>
                <c:pt idx="94">
                  <c:v/>
                </c:pt>
                <c:pt idx="95">
                  <c:v/>
                </c:pt>
              </c:numCache>
            </c:numRef>
          </c:yVal>
          <c:smooth val="0"/>
        </c:ser>
        <c:ser>
          <c:idx val="3"/>
          <c:order val="3"/>
          <c:tx>
            <c:strRef>
              <c:f>Sheet1!$E$1</c:f>
              <c:strCache>
                <c:ptCount val="1"/>
                <c:pt idx="0">
                  <c:v>arrival labels, held-out</c:v>
                </c:pt>
              </c:strCache>
            </c:strRef>
          </c:tx>
          <c:spPr>
            <a:solidFill>
              <a:srgbClr val="B5443C"/>
            </a:solidFill>
            <a:ln>
              <a:noFill/>
            </a:ln>
            <a:effectLst/>
          </c:spPr>
          <c:marker>
            <c:symbol val="circle"/>
            <c:size val="6"/>
            <c:spPr>
              <a:solidFill>
                <a:srgbClr val="B5443C"/>
              </a:solidFill>
              <a:ln w="9525" cap="flat">
                <a:solidFill>
                  <a:srgbClr val="B5443C"/>
                </a:solidFill>
                <a:prstDash val="solid"/>
                <a:round/>
              </a:ln>
              <a:effectLst/>
            </c:spPr>
          </c:marker>
          <c:xVal>
            <c:numRef>
              <c:f>Sheet1!$A$2:$A$97</c:f>
              <c:numCache>
                <c:formatCode>General</c:formatCode>
                <c:ptCount val="96"/>
                <c:pt idx="0">
                  <c:v>1.935</c:v>
                </c:pt>
                <c:pt idx="1">
                  <c:v>2.002</c:v>
                </c:pt>
                <c:pt idx="2">
                  <c:v>2.07</c:v>
                </c:pt>
                <c:pt idx="3">
                  <c:v>2.103</c:v>
                </c:pt>
                <c:pt idx="4">
                  <c:v>2.138</c:v>
                </c:pt>
                <c:pt idx="5">
                  <c:v>2.205</c:v>
                </c:pt>
                <c:pt idx="6">
                  <c:v>2.272</c:v>
                </c:pt>
                <c:pt idx="7">
                  <c:v>2.339</c:v>
                </c:pt>
                <c:pt idx="8">
                  <c:v>2.408</c:v>
                </c:pt>
                <c:pt idx="9">
                  <c:v>2.439</c:v>
                </c:pt>
                <c:pt idx="10">
                  <c:v>2.477</c:v>
                </c:pt>
                <c:pt idx="11">
                  <c:v>2.544</c:v>
                </c:pt>
                <c:pt idx="12">
                  <c:v>2.614</c:v>
                </c:pt>
                <c:pt idx="13">
                  <c:v>2.684</c:v>
                </c:pt>
                <c:pt idx="14">
                  <c:v>2.755</c:v>
                </c:pt>
                <c:pt idx="15">
                  <c:v>2.777</c:v>
                </c:pt>
                <c:pt idx="16">
                  <c:v>2.807</c:v>
                </c:pt>
                <c:pt idx="17">
                  <c:v>2.88</c:v>
                </c:pt>
                <c:pt idx="18">
                  <c:v>2.959</c:v>
                </c:pt>
                <c:pt idx="19">
                  <c:v>3.011</c:v>
                </c:pt>
                <c:pt idx="20">
                  <c:v>3.089</c:v>
                </c:pt>
                <c:pt idx="21">
                  <c:v>3.116</c:v>
                </c:pt>
                <c:pt idx="22">
                  <c:v>3.142</c:v>
                </c:pt>
                <c:pt idx="23">
                  <c:v>3.232</c:v>
                </c:pt>
                <c:pt idx="24">
                  <c:v>3.299</c:v>
                </c:pt>
                <c:pt idx="25">
                  <c:v>3.342</c:v>
                </c:pt>
                <c:pt idx="26">
                  <c:v>3.407</c:v>
                </c:pt>
                <c:pt idx="27">
                  <c:v>3.458</c:v>
                </c:pt>
                <c:pt idx="28">
                  <c:v>3.498</c:v>
                </c:pt>
                <c:pt idx="29">
                  <c:v>3.557</c:v>
                </c:pt>
                <c:pt idx="30">
                  <c:v>3.632</c:v>
                </c:pt>
                <c:pt idx="31">
                  <c:v>3.687</c:v>
                </c:pt>
                <c:pt idx="32">
                  <c:v>3.759</c:v>
                </c:pt>
                <c:pt idx="33">
                  <c:v>3.8</c:v>
                </c:pt>
                <c:pt idx="34">
                  <c:v>3.827</c:v>
                </c:pt>
                <c:pt idx="35">
                  <c:v>3.89</c:v>
                </c:pt>
                <c:pt idx="36">
                  <c:v>3.963</c:v>
                </c:pt>
                <c:pt idx="37">
                  <c:v>4.027</c:v>
                </c:pt>
                <c:pt idx="38">
                  <c:v>4.105</c:v>
                </c:pt>
                <c:pt idx="39">
                  <c:v>4.13</c:v>
                </c:pt>
                <c:pt idx="40">
                  <c:v>4.153</c:v>
                </c:pt>
                <c:pt idx="41">
                  <c:v>4.23</c:v>
                </c:pt>
                <c:pt idx="42">
                  <c:v>4.297</c:v>
                </c:pt>
                <c:pt idx="43">
                  <c:v>4.363</c:v>
                </c:pt>
                <c:pt idx="44">
                  <c:v>4.437</c:v>
                </c:pt>
                <c:pt idx="45">
                  <c:v>4.508</c:v>
                </c:pt>
                <c:pt idx="46">
                  <c:v>4.572</c:v>
                </c:pt>
                <c:pt idx="47">
                  <c:v>4.722</c:v>
                </c:pt>
                <c:pt idx="48">
                  <c:v>1.935</c:v>
                </c:pt>
                <c:pt idx="49">
                  <c:v>2.07</c:v>
                </c:pt>
                <c:pt idx="50">
                  <c:v>2.205</c:v>
                </c:pt>
                <c:pt idx="51">
                  <c:v>2.339</c:v>
                </c:pt>
                <c:pt idx="52">
                  <c:v>2.477</c:v>
                </c:pt>
                <c:pt idx="53">
                  <c:v>2.614</c:v>
                </c:pt>
                <c:pt idx="54">
                  <c:v>2.755</c:v>
                </c:pt>
                <c:pt idx="55">
                  <c:v>2.88</c:v>
                </c:pt>
                <c:pt idx="56">
                  <c:v>3.011</c:v>
                </c:pt>
                <c:pt idx="57">
                  <c:v>3.142</c:v>
                </c:pt>
                <c:pt idx="58">
                  <c:v>3.299</c:v>
                </c:pt>
                <c:pt idx="59">
                  <c:v>3.407</c:v>
                </c:pt>
                <c:pt idx="60">
                  <c:v>3.557</c:v>
                </c:pt>
                <c:pt idx="61">
                  <c:v>3.687</c:v>
                </c:pt>
                <c:pt idx="62">
                  <c:v>3.827</c:v>
                </c:pt>
                <c:pt idx="63">
                  <c:v>3.963</c:v>
                </c:pt>
                <c:pt idx="64">
                  <c:v>4.105</c:v>
                </c:pt>
                <c:pt idx="65">
                  <c:v>4.23</c:v>
                </c:pt>
                <c:pt idx="66">
                  <c:v>4.363</c:v>
                </c:pt>
                <c:pt idx="67">
                  <c:v>4.508</c:v>
                </c:pt>
                <c:pt idx="68">
                  <c:v>2.002</c:v>
                </c:pt>
                <c:pt idx="69">
                  <c:v>2.138</c:v>
                </c:pt>
                <c:pt idx="70">
                  <c:v>2.272</c:v>
                </c:pt>
                <c:pt idx="71">
                  <c:v>2.408</c:v>
                </c:pt>
                <c:pt idx="72">
                  <c:v>2.544</c:v>
                </c:pt>
                <c:pt idx="73">
                  <c:v>2.684</c:v>
                </c:pt>
                <c:pt idx="74">
                  <c:v>2.807</c:v>
                </c:pt>
                <c:pt idx="75">
                  <c:v>2.959</c:v>
                </c:pt>
                <c:pt idx="76">
                  <c:v>3.089</c:v>
                </c:pt>
                <c:pt idx="77">
                  <c:v>3.232</c:v>
                </c:pt>
                <c:pt idx="78">
                  <c:v>3.342</c:v>
                </c:pt>
                <c:pt idx="79">
                  <c:v>3.498</c:v>
                </c:pt>
                <c:pt idx="80">
                  <c:v>3.632</c:v>
                </c:pt>
                <c:pt idx="81">
                  <c:v>3.759</c:v>
                </c:pt>
                <c:pt idx="82">
                  <c:v>3.89</c:v>
                </c:pt>
                <c:pt idx="83">
                  <c:v>4.027</c:v>
                </c:pt>
                <c:pt idx="84">
                  <c:v>4.153</c:v>
                </c:pt>
                <c:pt idx="85">
                  <c:v>4.297</c:v>
                </c:pt>
                <c:pt idx="86">
                  <c:v>4.437</c:v>
                </c:pt>
                <c:pt idx="87">
                  <c:v>4.572</c:v>
                </c:pt>
                <c:pt idx="88">
                  <c:v>2.103</c:v>
                </c:pt>
                <c:pt idx="89">
                  <c:v>2.439</c:v>
                </c:pt>
                <c:pt idx="90">
                  <c:v>2.777</c:v>
                </c:pt>
                <c:pt idx="91">
                  <c:v>3.116</c:v>
                </c:pt>
                <c:pt idx="92">
                  <c:v>3.458</c:v>
                </c:pt>
                <c:pt idx="93">
                  <c:v>3.8</c:v>
                </c:pt>
                <c:pt idx="94">
                  <c:v>4.13</c:v>
                </c:pt>
                <c:pt idx="95">
                  <c:v>4.722</c:v>
                </c:pt>
              </c:numCache>
            </c:numRef>
          </c:xVal>
          <c:yVal>
            <c:numRef>
              <c:f>Sheet1!$E$2:$E$97</c:f>
              <c:numCache>
                <c:formatCode>General</c:formatCode>
                <c:ptCount val="96"/>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
                </c:pt>
                <c:pt idx="81">
                  <c:v/>
                </c:pt>
                <c:pt idx="82">
                  <c:v/>
                </c:pt>
                <c:pt idx="83">
                  <c:v/>
                </c:pt>
                <c:pt idx="84">
                  <c:v/>
                </c:pt>
                <c:pt idx="85">
                  <c:v/>
                </c:pt>
                <c:pt idx="86">
                  <c:v/>
                </c:pt>
                <c:pt idx="87">
                  <c:v/>
                </c:pt>
                <c:pt idx="88">
                  <c:v>353</c:v>
                </c:pt>
                <c:pt idx="89">
                  <c:v>1225</c:v>
                </c:pt>
                <c:pt idx="90">
                  <c:v>1855</c:v>
                </c:pt>
                <c:pt idx="91">
                  <c:v>2259</c:v>
                </c:pt>
                <c:pt idx="92">
                  <c:v>3308</c:v>
                </c:pt>
                <c:pt idx="93">
                  <c:v>3444</c:v>
                </c:pt>
                <c:pt idx="94">
                  <c:v>3640</c:v>
                </c:pt>
                <c:pt idx="95">
                  <c:v>3749</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
          <c:min val="1.5"/>
        </c:scaling>
        <c:delete val="0"/>
        <c:axPos val="b"/>
        <c:title>
          <c:tx>
            <c:rich>
              <a:bodyPr/>
              <a:lstStyle/>
              <a:p>
                <a:pPr>
                  <a:defRPr sz="1000" b="0" i="0" u="none" strike="noStrike">
                    <a:solidFill>
                      <a:srgbClr val="5B5B70"/>
                    </a:solidFill>
                    <a:latin typeface="Arial"/>
                  </a:defRPr>
                </a:pPr>
                <a:r>
                  <a:rPr sz="1000" b="0" i="0" u="none" strike="noStrike">
                    <a:solidFill>
                      <a:srgbClr val="5B5B70"/>
                    </a:solidFill>
                    <a:latin typeface="Arial"/>
                  </a:rPr>
                  <a:t>Peak water level at the Battery (m)</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B5B70"/>
                </a:solidFill>
                <a:latin typeface="Arial"/>
              </a:defRPr>
            </a:pPr>
            <a:endParaRPr lang="en-US"/>
          </a:p>
        </c:txPr>
        <c:crossAx val="2094734552"/>
        <c:crosses val="autoZero"/>
        <c:auto val="1"/>
        <c:lblAlgn val="ctr"/>
        <c:noMultiLvlLbl val="1"/>
      </c:valAx>
      <c:valAx>
        <c:axId val="2094734552"/>
        <c:scaling>
          <c:orientation val="minMax"/>
          <c:max val="4000"/>
          <c:min val="0"/>
        </c:scaling>
        <c:delete val="0"/>
        <c:axPos val="l"/>
        <c:majorGridlines>
          <c:spPr>
            <a:ln w="6350" cap="flat">
              <a:solidFill>
                <a:srgbClr val="E4E2EC"/>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B5B70"/>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000">
              <a:solidFill>
                <a:srgbClr val="1F1F2E"/>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F2E"/>
                </a:solidFill>
                <a:latin typeface="Arial"/>
              </a:defRPr>
            </a:pPr>
            <a:r>
              <a:rPr sz="1100" b="0" i="0" u="none" strike="noStrike">
                <a:solidFill>
                  <a:srgbClr val="1F1F2E"/>
                </a:solidFill>
                <a:latin typeface="Arial"/>
              </a:rPr>
              <a:t>Mean log loss on the 13 unseen storms (lower is better)</a:t>
            </a:r>
          </a:p>
        </c:rich>
      </c:tx>
      <c:layout/>
      <c:overlay val="0"/>
    </c:title>
    <c:autoTitleDeleted val="0"/>
    <c:plotArea>
      <c:layout/>
      <c:barChart>
        <c:barDir val="col"/>
        <c:grouping val="clustered"/>
        <c:varyColors val="0"/>
        <c:ser>
          <c:idx val="0"/>
          <c:order val="0"/>
          <c:tx>
            <c:strRef>
              <c:f>Sheet1!$B$1</c:f>
              <c:strCache>
                <c:ptCount val="1"/>
                <c:pt idx="0">
                  <c:v>17 storms</c:v>
                </c:pt>
              </c:strCache>
            </c:strRef>
          </c:tx>
          <c:spPr>
            <a:solidFill>
              <a:srgbClr val="C4C4CF"/>
            </a:solidFill>
            <a:effectLst/>
          </c:spPr>
          <c:invertIfNegative val="0"/>
          <c:dLbls>
            <c:numFmt formatCode="0.000" sourceLinked="0"/>
            <c:txPr>
              <a:bodyPr/>
              <a:lstStyle/>
              <a:p>
                <a:pPr>
                  <a:defRPr b="0" i="0" strike="noStrike" sz="800" u="none">
                    <a:solidFill>
                      <a:srgbClr val="1F1F2E"/>
                    </a:solidFill>
                    <a:latin typeface="Arial"/>
                  </a:defRPr>
                </a:pPr>
              </a:p>
            </c:txPr>
            <c:showLegendKey val="0"/>
            <c:showVal val="1"/>
            <c:showCatName val="0"/>
            <c:showSerName val="0"/>
            <c:showPercent val="0"/>
            <c:showBubbleSize val="0"/>
            <c:showLeaderLines val="0"/>
          </c:dLbls>
          <c:cat>
            <c:multiLvlStrRef>
              <c:f>Sheet1!$A$2:$A$3</c:f>
              <c:multiLvlStrCache>
                <c:ptCount val="2"/>
                <c:lvl>
                  <c:pt idx="0">
                    <c:v>static labels, mask input</c:v>
                  </c:pt>
                  <c:pt idx="1">
                    <c:v>dynamic labels, timing inputs</c:v>
                  </c:pt>
                </c:lvl>
              </c:multiLvlStrCache>
            </c:multiLvlStrRef>
          </c:cat>
          <c:val>
            <c:numRef>
              <c:f>Sheet1!$B$2:$B$3</c:f>
              <c:numCache>
                <c:formatCode>General</c:formatCode>
                <c:ptCount val="2"/>
                <c:pt idx="0">
                  <c:v>0.1079</c:v>
                </c:pt>
                <c:pt idx="1">
                  <c:v>0.2292</c:v>
                </c:pt>
              </c:numCache>
            </c:numRef>
          </c:val>
        </c:ser>
        <c:ser>
          <c:idx val="1"/>
          <c:order val="1"/>
          <c:tx>
            <c:strRef>
              <c:f>Sheet1!$C$1</c:f>
              <c:strCache>
                <c:ptCount val="1"/>
                <c:pt idx="0">
                  <c:v>57 storms</c:v>
                </c:pt>
              </c:strCache>
            </c:strRef>
          </c:tx>
          <c:spPr>
            <a:solidFill>
              <a:srgbClr val="8A8A99"/>
            </a:solidFill>
            <a:effectLst/>
          </c:spPr>
          <c:invertIfNegative val="0"/>
          <c:dLbls>
            <c:numFmt formatCode="0.000" sourceLinked="0"/>
            <c:txPr>
              <a:bodyPr/>
              <a:lstStyle/>
              <a:p>
                <a:pPr>
                  <a:defRPr b="0" i="0" strike="noStrike" sz="800" u="none">
                    <a:solidFill>
                      <a:srgbClr val="1F1F2E"/>
                    </a:solidFill>
                    <a:latin typeface="Arial"/>
                  </a:defRPr>
                </a:pPr>
              </a:p>
            </c:txPr>
            <c:showLegendKey val="0"/>
            <c:showVal val="1"/>
            <c:showCatName val="0"/>
            <c:showSerName val="0"/>
            <c:showPercent val="0"/>
            <c:showBubbleSize val="0"/>
            <c:showLeaderLines val="0"/>
          </c:dLbls>
          <c:cat>
            <c:multiLvlStrRef>
              <c:f>Sheet1!$A$2:$A$3</c:f>
              <c:multiLvlStrCache>
                <c:ptCount val="2"/>
                <c:lvl>
                  <c:pt idx="0">
                    <c:v>static labels, mask input</c:v>
                  </c:pt>
                  <c:pt idx="1">
                    <c:v>dynamic labels, timing inputs</c:v>
                  </c:pt>
                </c:lvl>
              </c:multiLvlStrCache>
            </c:multiLvlStrRef>
          </c:cat>
          <c:val>
            <c:numRef>
              <c:f>Sheet1!$C$2:$C$3</c:f>
              <c:numCache>
                <c:formatCode>General</c:formatCode>
                <c:ptCount val="2"/>
                <c:pt idx="0">
                  <c:v>0.0883</c:v>
                </c:pt>
                <c:pt idx="1">
                  <c:v>0.1789</c:v>
                </c:pt>
              </c:numCache>
            </c:numRef>
          </c:val>
        </c:ser>
        <c:ser>
          <c:idx val="2"/>
          <c:order val="2"/>
          <c:tx>
            <c:strRef>
              <c:f>Sheet1!$D$1</c:f>
              <c:strCache>
                <c:ptCount val="1"/>
                <c:pt idx="0">
                  <c:v>lookup table from 57 storms</c:v>
                </c:pt>
              </c:strCache>
            </c:strRef>
          </c:tx>
          <c:spPr>
            <a:solidFill>
              <a:srgbClr val="B5443C"/>
            </a:solidFill>
            <a:effectLst/>
          </c:spPr>
          <c:invertIfNegative val="0"/>
          <c:dLbls>
            <c:numFmt formatCode="0.000" sourceLinked="0"/>
            <c:txPr>
              <a:bodyPr/>
              <a:lstStyle/>
              <a:p>
                <a:pPr>
                  <a:defRPr b="0" i="0" strike="noStrike" sz="800" u="none">
                    <a:solidFill>
                      <a:srgbClr val="1F1F2E"/>
                    </a:solidFill>
                    <a:latin typeface="Arial"/>
                  </a:defRPr>
                </a:pPr>
              </a:p>
            </c:txPr>
            <c:showLegendKey val="0"/>
            <c:showVal val="1"/>
            <c:showCatName val="0"/>
            <c:showSerName val="0"/>
            <c:showPercent val="0"/>
            <c:showBubbleSize val="0"/>
            <c:showLeaderLines val="0"/>
          </c:dLbls>
          <c:cat>
            <c:multiLvlStrRef>
              <c:f>Sheet1!$A$2:$A$3</c:f>
              <c:multiLvlStrCache>
                <c:ptCount val="2"/>
                <c:lvl>
                  <c:pt idx="0">
                    <c:v>static labels, mask input</c:v>
                  </c:pt>
                  <c:pt idx="1">
                    <c:v>dynamic labels, timing inputs</c:v>
                  </c:pt>
                </c:lvl>
              </c:multiLvlStrCache>
            </c:multiLvlStrRef>
          </c:cat>
          <c:val>
            <c:numRef>
              <c:f>Sheet1!$D$2:$D$3</c:f>
              <c:numCache>
                <c:formatCode>General</c:formatCode>
                <c:ptCount val="2"/>
                <c:pt idx="0">
                  <c:v>0.0743</c:v>
                </c:pt>
                <c:pt idx="1">
                  <c:v>0.1631</c:v>
                </c:pt>
              </c:numCache>
            </c:numRef>
          </c:val>
        </c:ser>
        <c:ser>
          <c:idx val="3"/>
          <c:order val="3"/>
          <c:tx>
            <c:strRef>
              <c:f>Sheet1!$E$1</c:f>
              <c:strCache>
                <c:ptCount val="1"/>
                <c:pt idx="0">
                  <c:v>17 storms + storm size</c:v>
                </c:pt>
              </c:strCache>
            </c:strRef>
          </c:tx>
          <c:spPr>
            <a:solidFill>
              <a:srgbClr val="9A8AD0"/>
            </a:solidFill>
            <a:effectLst/>
          </c:spPr>
          <c:invertIfNegative val="0"/>
          <c:dLbls>
            <c:numFmt formatCode="0.000" sourceLinked="0"/>
            <c:txPr>
              <a:bodyPr/>
              <a:lstStyle/>
              <a:p>
                <a:pPr>
                  <a:defRPr b="0" i="0" strike="noStrike" sz="800" u="none">
                    <a:solidFill>
                      <a:srgbClr val="1F1F2E"/>
                    </a:solidFill>
                    <a:latin typeface="Arial"/>
                  </a:defRPr>
                </a:pPr>
              </a:p>
            </c:txPr>
            <c:showLegendKey val="0"/>
            <c:showVal val="1"/>
            <c:showCatName val="0"/>
            <c:showSerName val="0"/>
            <c:showPercent val="0"/>
            <c:showBubbleSize val="0"/>
            <c:showLeaderLines val="0"/>
          </c:dLbls>
          <c:cat>
            <c:multiLvlStrRef>
              <c:f>Sheet1!$A$2:$A$3</c:f>
              <c:multiLvlStrCache>
                <c:ptCount val="2"/>
                <c:lvl>
                  <c:pt idx="0">
                    <c:v>static labels, mask input</c:v>
                  </c:pt>
                  <c:pt idx="1">
                    <c:v>dynamic labels, timing inputs</c:v>
                  </c:pt>
                </c:lvl>
              </c:multiLvlStrCache>
            </c:multiLvlStrRef>
          </c:cat>
          <c:val>
            <c:numRef>
              <c:f>Sheet1!$E$2:$E$3</c:f>
              <c:numCache>
                <c:formatCode>General</c:formatCode>
                <c:ptCount val="2"/>
                <c:pt idx="0">
                  <c:v>0.0633</c:v>
                </c:pt>
                <c:pt idx="1">
                  <c:v>0.1262</c:v>
                </c:pt>
              </c:numCache>
            </c:numRef>
          </c:val>
        </c:ser>
        <c:ser>
          <c:idx val="4"/>
          <c:order val="4"/>
          <c:tx>
            <c:strRef>
              <c:f>Sheet1!$F$1</c:f>
              <c:strCache>
                <c:ptCount val="1"/>
                <c:pt idx="0">
                  <c:v>57 storms + storm size</c:v>
                </c:pt>
              </c:strCache>
            </c:strRef>
          </c:tx>
          <c:spPr>
            <a:solidFill>
              <a:srgbClr val="4A3D7A"/>
            </a:solidFill>
            <a:effectLst/>
          </c:spPr>
          <c:invertIfNegative val="0"/>
          <c:dLbls>
            <c:numFmt formatCode="0.000" sourceLinked="0"/>
            <c:txPr>
              <a:bodyPr/>
              <a:lstStyle/>
              <a:p>
                <a:pPr>
                  <a:defRPr b="0" i="0" strike="noStrike" sz="800" u="none">
                    <a:solidFill>
                      <a:srgbClr val="1F1F2E"/>
                    </a:solidFill>
                    <a:latin typeface="Arial"/>
                  </a:defRPr>
                </a:pPr>
              </a:p>
            </c:txPr>
            <c:showLegendKey val="0"/>
            <c:showVal val="1"/>
            <c:showCatName val="0"/>
            <c:showSerName val="0"/>
            <c:showPercent val="0"/>
            <c:showBubbleSize val="0"/>
            <c:showLeaderLines val="0"/>
          </c:dLbls>
          <c:cat>
            <c:multiLvlStrRef>
              <c:f>Sheet1!$A$2:$A$3</c:f>
              <c:multiLvlStrCache>
                <c:ptCount val="2"/>
                <c:lvl>
                  <c:pt idx="0">
                    <c:v>static labels, mask input</c:v>
                  </c:pt>
                  <c:pt idx="1">
                    <c:v>dynamic labels, timing inputs</c:v>
                  </c:pt>
                </c:lvl>
              </c:multiLvlStrCache>
            </c:multiLvlStrRef>
          </c:cat>
          <c:val>
            <c:numRef>
              <c:f>Sheet1!$F$2:$F$3</c:f>
              <c:numCache>
                <c:formatCode>General</c:formatCode>
                <c:ptCount val="2"/>
                <c:pt idx="0">
                  <c:v>0.0552</c:v>
                </c:pt>
                <c:pt idx="1">
                  <c:v>0.0994</c:v>
                </c:pt>
              </c:numCache>
            </c:numRef>
          </c:val>
        </c:ser>
        <c:dLbls>
          <c:numFmt formatCode="0.000" sourceLinked="0"/>
          <c:txPr>
            <a:bodyPr/>
            <a:lstStyle/>
            <a:p>
              <a:pPr>
                <a:defRPr b="0" i="0" strike="noStrike" sz="800" u="none">
                  <a:solidFill>
                    <a:srgbClr val="1F1F2E"/>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5B70"/>
                </a:solidFill>
                <a:latin typeface="Arial"/>
              </a:defRPr>
            </a:pPr>
            <a:endParaRPr lang="en-US"/>
          </a:p>
        </c:txPr>
        <c:crossAx val="2094734552"/>
        <c:crosses val="autoZero"/>
        <c:auto val="1"/>
        <c:lblAlgn val="ctr"/>
        <c:noMultiLvlLbl val="1"/>
      </c:catAx>
      <c:valAx>
        <c:axId val="2094734552"/>
        <c:scaling>
          <c:orientation val="minMax"/>
          <c:max val="0.25"/>
          <c:min val="0"/>
        </c:scaling>
        <c:delete val="0"/>
        <c:axPos val="l"/>
        <c:majorGridlines>
          <c:spPr>
            <a:ln w="6350" cap="flat">
              <a:solidFill>
                <a:srgbClr val="E4E2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B70"/>
                </a:solidFill>
                <a:latin typeface="Arial"/>
              </a:defRPr>
            </a:pPr>
            <a:endParaRPr lang="en-US"/>
          </a:p>
        </c:txPr>
        <c:crossAx val="2094734554"/>
        <c:crosses val="autoZero"/>
        <c:crossBetween val="between"/>
        <c:majorUnit val="0.05"/>
      </c:valAx>
      <c:spPr>
        <a:noFill/>
        <a:ln>
          <a:noFill/>
        </a:ln>
        <a:effectLst/>
      </c:spPr>
    </c:plotArea>
    <c:legend>
      <c:legendPos val="b"/>
      <c:overlay val="0"/>
      <c:txPr>
        <a:bodyPr/>
        <a:lstStyle/>
        <a:p>
          <a:pPr>
            <a:defRPr sz="1000">
              <a:solidFill>
                <a:srgbClr val="1F1F2E"/>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F2E"/>
                </a:solidFill>
                <a:latin typeface="Arial"/>
              </a:defRPr>
            </a:pPr>
            <a:r>
              <a:rPr sz="1100" b="0" i="0" u="none" strike="noStrike">
                <a:solidFill>
                  <a:srgbClr val="1F1F2E"/>
                </a:solidFill>
                <a:latin typeface="Arial"/>
              </a:rPr>
              <a:t>Static labels, mask input</a:t>
            </a:r>
          </a:p>
        </c:rich>
      </c:tx>
      <c:layout/>
      <c:overlay val="0"/>
    </c:title>
    <c:autoTitleDeleted val="0"/>
    <c:plotArea>
      <c:layout/>
      <c:lineChart>
        <c:varyColors val="0"/>
        <c:ser>
          <c:idx val="0"/>
          <c:order val="0"/>
          <c:tx>
            <c:strRef>
              <c:f>Sheet1!$B$1</c:f>
              <c:strCache>
                <c:ptCount val="1"/>
                <c:pt idx="0">
                  <c:v>17 storms</c:v>
                </c:pt>
              </c:strCache>
            </c:strRef>
          </c:tx>
          <c:spPr>
            <a:solidFill>
              <a:srgbClr val="C4C4CF"/>
            </a:solidFill>
            <a:ln w="25400" cap="flat">
              <a:solidFill>
                <a:srgbClr val="C4C4C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4C4CF"/>
              </a:solidFill>
              <a:ln w="9525" cap="flat">
                <a:solidFill>
                  <a:srgbClr val="C4C4CF"/>
                </a:solidFill>
                <a:prstDash val="solid"/>
                <a:round/>
              </a:ln>
              <a:effectLst/>
            </c:spPr>
          </c:marker>
          <c:cat>
            <c:multiLvlStrRef>
              <c:f>Sheet1!$A$2:$A$13</c:f>
              <c:multiLvlStrCache>
                <c:ptCount val="12"/>
                <c:lvl>
                  <c:pt idx="0">
                    <c:v>2.10</c:v>
                  </c:pt>
                  <c:pt idx="1">
                    <c:v>2.17</c:v>
                  </c:pt>
                  <c:pt idx="2">
                    <c:v>2.44</c:v>
                  </c:pt>
                  <c:pt idx="3">
                    <c:v>2.78</c:v>
                  </c:pt>
                  <c:pt idx="4">
                    <c:v>3.12</c:v>
                  </c:pt>
                  <c:pt idx="5">
                    <c:v>3.37</c:v>
                  </c:pt>
                  <c:pt idx="6">
                    <c:v>3.46</c:v>
                  </c:pt>
                  <c:pt idx="7">
                    <c:v>3.75*</c:v>
                  </c:pt>
                  <c:pt idx="8">
                    <c:v>3.80*</c:v>
                  </c:pt>
                  <c:pt idx="9">
                    <c:v>4.13*</c:v>
                  </c:pt>
                  <c:pt idx="10">
                    <c:v>4.46*</c:v>
                  </c:pt>
                  <c:pt idx="11">
                    <c:v>4.72*</c:v>
                  </c:pt>
                </c:lvl>
              </c:multiLvlStrCache>
            </c:multiLvlStrRef>
          </c:cat>
          <c:val>
            <c:numRef>
              <c:f>Sheet1!$B$2:$B$13</c:f>
              <c:numCache>
                <c:formatCode>General</c:formatCode>
                <c:ptCount val="12"/>
                <c:pt idx="0">
                  <c:v>0.0603</c:v>
                </c:pt>
                <c:pt idx="1">
                  <c:v>0.061</c:v>
                </c:pt>
                <c:pt idx="2">
                  <c:v>0.0891</c:v>
                </c:pt>
                <c:pt idx="3">
                  <c:v>0.0929</c:v>
                </c:pt>
                <c:pt idx="4">
                  <c:v>0.0942</c:v>
                </c:pt>
                <c:pt idx="5">
                  <c:v>0.096</c:v>
                </c:pt>
                <c:pt idx="6">
                  <c:v>0.0981</c:v>
                </c:pt>
                <c:pt idx="7">
                  <c:v>0.1133</c:v>
                </c:pt>
                <c:pt idx="8">
                  <c:v>0.1176</c:v>
                </c:pt>
                <c:pt idx="9">
                  <c:v>0.1315</c:v>
                </c:pt>
                <c:pt idx="10">
                  <c:v>0.1544</c:v>
                </c:pt>
                <c:pt idx="11">
                  <c:v>0.1978</c:v>
                </c:pt>
              </c:numCache>
            </c:numRef>
          </c:val>
          <c:smooth val="0"/>
        </c:ser>
        <c:ser>
          <c:idx val="1"/>
          <c:order val="1"/>
          <c:tx>
            <c:strRef>
              <c:f>Sheet1!$C$1</c:f>
              <c:strCache>
                <c:ptCount val="1"/>
                <c:pt idx="0">
                  <c:v>57 storms</c:v>
                </c:pt>
              </c:strCache>
            </c:strRef>
          </c:tx>
          <c:spPr>
            <a:solidFill>
              <a:srgbClr val="8A8A99"/>
            </a:solidFill>
            <a:ln w="25400" cap="flat">
              <a:solidFill>
                <a:srgbClr val="8A8A9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8A8A99"/>
              </a:solidFill>
              <a:ln w="9525" cap="flat">
                <a:solidFill>
                  <a:srgbClr val="8A8A99"/>
                </a:solidFill>
                <a:prstDash val="solid"/>
                <a:round/>
              </a:ln>
              <a:effectLst/>
            </c:spPr>
          </c:marker>
          <c:cat>
            <c:multiLvlStrRef>
              <c:f>Sheet1!$A$2:$A$13</c:f>
              <c:multiLvlStrCache>
                <c:ptCount val="12"/>
                <c:lvl>
                  <c:pt idx="0">
                    <c:v>2.10</c:v>
                  </c:pt>
                  <c:pt idx="1">
                    <c:v>2.17</c:v>
                  </c:pt>
                  <c:pt idx="2">
                    <c:v>2.44</c:v>
                  </c:pt>
                  <c:pt idx="3">
                    <c:v>2.78</c:v>
                  </c:pt>
                  <c:pt idx="4">
                    <c:v>3.12</c:v>
                  </c:pt>
                  <c:pt idx="5">
                    <c:v>3.37</c:v>
                  </c:pt>
                  <c:pt idx="6">
                    <c:v>3.46</c:v>
                  </c:pt>
                  <c:pt idx="7">
                    <c:v>3.75*</c:v>
                  </c:pt>
                  <c:pt idx="8">
                    <c:v>3.80*</c:v>
                  </c:pt>
                  <c:pt idx="9">
                    <c:v>4.13*</c:v>
                  </c:pt>
                  <c:pt idx="10">
                    <c:v>4.46*</c:v>
                  </c:pt>
                  <c:pt idx="11">
                    <c:v>4.72*</c:v>
                  </c:pt>
                </c:lvl>
              </c:multiLvlStrCache>
            </c:multiLvlStrRef>
          </c:cat>
          <c:val>
            <c:numRef>
              <c:f>Sheet1!$C$2:$C$13</c:f>
              <c:numCache>
                <c:formatCode>General</c:formatCode>
                <c:ptCount val="12"/>
                <c:pt idx="0">
                  <c:v>0.0918</c:v>
                </c:pt>
                <c:pt idx="1">
                  <c:v>0.0926</c:v>
                </c:pt>
                <c:pt idx="2">
                  <c:v>0.0913</c:v>
                </c:pt>
                <c:pt idx="3">
                  <c:v>0.0816</c:v>
                </c:pt>
                <c:pt idx="4">
                  <c:v>0.0793</c:v>
                </c:pt>
                <c:pt idx="5">
                  <c:v>0.0793</c:v>
                </c:pt>
                <c:pt idx="6">
                  <c:v>0.0798</c:v>
                </c:pt>
                <c:pt idx="7">
                  <c:v>0.0816</c:v>
                </c:pt>
                <c:pt idx="8">
                  <c:v>0.0814</c:v>
                </c:pt>
                <c:pt idx="9">
                  <c:v>0.0816</c:v>
                </c:pt>
                <c:pt idx="10">
                  <c:v>0.0936</c:v>
                </c:pt>
                <c:pt idx="11">
                  <c:v>0.1272</c:v>
                </c:pt>
              </c:numCache>
            </c:numRef>
          </c:val>
          <c:smooth val="0"/>
        </c:ser>
        <c:ser>
          <c:idx val="2"/>
          <c:order val="2"/>
          <c:tx>
            <c:strRef>
              <c:f>Sheet1!$D$1</c:f>
              <c:strCache>
                <c:ptCount val="1"/>
                <c:pt idx="0">
                  <c:v>lookup from 57 storms</c:v>
                </c:pt>
              </c:strCache>
            </c:strRef>
          </c:tx>
          <c:spPr>
            <a:solidFill>
              <a:srgbClr val="B5443C"/>
            </a:solidFill>
            <a:ln w="25400" cap="flat">
              <a:solidFill>
                <a:srgbClr val="B544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5443C"/>
              </a:solidFill>
              <a:ln w="9525" cap="flat">
                <a:solidFill>
                  <a:srgbClr val="B5443C"/>
                </a:solidFill>
                <a:prstDash val="solid"/>
                <a:round/>
              </a:ln>
              <a:effectLst/>
            </c:spPr>
          </c:marker>
          <c:cat>
            <c:multiLvlStrRef>
              <c:f>Sheet1!$A$2:$A$13</c:f>
              <c:multiLvlStrCache>
                <c:ptCount val="12"/>
                <c:lvl>
                  <c:pt idx="0">
                    <c:v>2.10</c:v>
                  </c:pt>
                  <c:pt idx="1">
                    <c:v>2.17</c:v>
                  </c:pt>
                  <c:pt idx="2">
                    <c:v>2.44</c:v>
                  </c:pt>
                  <c:pt idx="3">
                    <c:v>2.78</c:v>
                  </c:pt>
                  <c:pt idx="4">
                    <c:v>3.12</c:v>
                  </c:pt>
                  <c:pt idx="5">
                    <c:v>3.37</c:v>
                  </c:pt>
                  <c:pt idx="6">
                    <c:v>3.46</c:v>
                  </c:pt>
                  <c:pt idx="7">
                    <c:v>3.75*</c:v>
                  </c:pt>
                  <c:pt idx="8">
                    <c:v>3.80*</c:v>
                  </c:pt>
                  <c:pt idx="9">
                    <c:v>4.13*</c:v>
                  </c:pt>
                  <c:pt idx="10">
                    <c:v>4.46*</c:v>
                  </c:pt>
                  <c:pt idx="11">
                    <c:v>4.72*</c:v>
                  </c:pt>
                </c:lvl>
              </c:multiLvlStrCache>
            </c:multiLvlStrRef>
          </c:cat>
          <c:val>
            <c:numRef>
              <c:f>Sheet1!$D$2:$D$13</c:f>
              <c:numCache>
                <c:formatCode>General</c:formatCode>
                <c:ptCount val="12"/>
                <c:pt idx="0">
                  <c:v>0.0206</c:v>
                </c:pt>
                <c:pt idx="1">
                  <c:v>0.0194</c:v>
                </c:pt>
                <c:pt idx="2">
                  <c:v>0.0842</c:v>
                </c:pt>
                <c:pt idx="3">
                  <c:v>0.1099</c:v>
                </c:pt>
                <c:pt idx="4">
                  <c:v>0.0788</c:v>
                </c:pt>
                <c:pt idx="5">
                  <c:v>0.0716</c:v>
                </c:pt>
                <c:pt idx="6">
                  <c:v>0.0698</c:v>
                </c:pt>
                <c:pt idx="7">
                  <c:v>0.0713</c:v>
                </c:pt>
                <c:pt idx="8">
                  <c:v>0.0668</c:v>
                </c:pt>
                <c:pt idx="9">
                  <c:v>0.0634</c:v>
                </c:pt>
                <c:pt idx="10">
                  <c:v>0.0777</c:v>
                </c:pt>
                <c:pt idx="11">
                  <c:v>0.0789</c:v>
                </c:pt>
              </c:numCache>
            </c:numRef>
          </c:val>
          <c:smooth val="0"/>
        </c:ser>
        <c:ser>
          <c:idx val="3"/>
          <c:order val="3"/>
          <c:tx>
            <c:strRef>
              <c:f>Sheet1!$E$1</c:f>
              <c:strCache>
                <c:ptCount val="1"/>
                <c:pt idx="0">
                  <c:v>17 + storm size</c:v>
                </c:pt>
              </c:strCache>
            </c:strRef>
          </c:tx>
          <c:spPr>
            <a:solidFill>
              <a:srgbClr val="9A8AD0"/>
            </a:solidFill>
            <a:ln w="25400" cap="flat">
              <a:solidFill>
                <a:srgbClr val="9A8AD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9A8AD0"/>
              </a:solidFill>
              <a:ln w="9525" cap="flat">
                <a:solidFill>
                  <a:srgbClr val="9A8AD0"/>
                </a:solidFill>
                <a:prstDash val="solid"/>
                <a:round/>
              </a:ln>
              <a:effectLst/>
            </c:spPr>
          </c:marker>
          <c:cat>
            <c:multiLvlStrRef>
              <c:f>Sheet1!$A$2:$A$13</c:f>
              <c:multiLvlStrCache>
                <c:ptCount val="12"/>
                <c:lvl>
                  <c:pt idx="0">
                    <c:v>2.10</c:v>
                  </c:pt>
                  <c:pt idx="1">
                    <c:v>2.17</c:v>
                  </c:pt>
                  <c:pt idx="2">
                    <c:v>2.44</c:v>
                  </c:pt>
                  <c:pt idx="3">
                    <c:v>2.78</c:v>
                  </c:pt>
                  <c:pt idx="4">
                    <c:v>3.12</c:v>
                  </c:pt>
                  <c:pt idx="5">
                    <c:v>3.37</c:v>
                  </c:pt>
                  <c:pt idx="6">
                    <c:v>3.46</c:v>
                  </c:pt>
                  <c:pt idx="7">
                    <c:v>3.75*</c:v>
                  </c:pt>
                  <c:pt idx="8">
                    <c:v>3.80*</c:v>
                  </c:pt>
                  <c:pt idx="9">
                    <c:v>4.13*</c:v>
                  </c:pt>
                  <c:pt idx="10">
                    <c:v>4.46*</c:v>
                  </c:pt>
                  <c:pt idx="11">
                    <c:v>4.72*</c:v>
                  </c:pt>
                </c:lvl>
              </c:multiLvlStrCache>
            </c:multiLvlStrRef>
          </c:cat>
          <c:val>
            <c:numRef>
              <c:f>Sheet1!$E$2:$E$13</c:f>
              <c:numCache>
                <c:formatCode>General</c:formatCode>
                <c:ptCount val="12"/>
                <c:pt idx="0">
                  <c:v>0.0127</c:v>
                </c:pt>
                <c:pt idx="1">
                  <c:v>0.012</c:v>
                </c:pt>
                <c:pt idx="2">
                  <c:v>0.081</c:v>
                </c:pt>
                <c:pt idx="3">
                  <c:v>0.0581</c:v>
                </c:pt>
                <c:pt idx="4">
                  <c:v>0.0567</c:v>
                </c:pt>
                <c:pt idx="5">
                  <c:v>0.0548</c:v>
                </c:pt>
                <c:pt idx="6">
                  <c:v>0.056</c:v>
                </c:pt>
                <c:pt idx="7">
                  <c:v>0.0626</c:v>
                </c:pt>
                <c:pt idx="8">
                  <c:v>0.0653</c:v>
                </c:pt>
                <c:pt idx="9">
                  <c:v>0.0767</c:v>
                </c:pt>
                <c:pt idx="10">
                  <c:v>0.1003</c:v>
                </c:pt>
                <c:pt idx="11">
                  <c:v>0.1293</c:v>
                </c:pt>
              </c:numCache>
            </c:numRef>
          </c:val>
          <c:smooth val="0"/>
        </c:ser>
        <c:ser>
          <c:idx val="4"/>
          <c:order val="4"/>
          <c:tx>
            <c:strRef>
              <c:f>Sheet1!$F$1</c:f>
              <c:strCache>
                <c:ptCount val="1"/>
                <c:pt idx="0">
                  <c:v>57 + storm size</c:v>
                </c:pt>
              </c:strCache>
            </c:strRef>
          </c:tx>
          <c:spPr>
            <a:solidFill>
              <a:srgbClr val="4A3D7A"/>
            </a:solidFill>
            <a:ln w="25400" cap="flat">
              <a:solidFill>
                <a:srgbClr val="4A3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4A3D7A"/>
              </a:solidFill>
              <a:ln w="9525" cap="flat">
                <a:solidFill>
                  <a:srgbClr val="4A3D7A"/>
                </a:solidFill>
                <a:prstDash val="solid"/>
                <a:round/>
              </a:ln>
              <a:effectLst/>
            </c:spPr>
          </c:marker>
          <c:cat>
            <c:multiLvlStrRef>
              <c:f>Sheet1!$A$2:$A$13</c:f>
              <c:multiLvlStrCache>
                <c:ptCount val="12"/>
                <c:lvl>
                  <c:pt idx="0">
                    <c:v>2.10</c:v>
                  </c:pt>
                  <c:pt idx="1">
                    <c:v>2.17</c:v>
                  </c:pt>
                  <c:pt idx="2">
                    <c:v>2.44</c:v>
                  </c:pt>
                  <c:pt idx="3">
                    <c:v>2.78</c:v>
                  </c:pt>
                  <c:pt idx="4">
                    <c:v>3.12</c:v>
                  </c:pt>
                  <c:pt idx="5">
                    <c:v>3.37</c:v>
                  </c:pt>
                  <c:pt idx="6">
                    <c:v>3.46</c:v>
                  </c:pt>
                  <c:pt idx="7">
                    <c:v>3.75*</c:v>
                  </c:pt>
                  <c:pt idx="8">
                    <c:v>3.80*</c:v>
                  </c:pt>
                  <c:pt idx="9">
                    <c:v>4.13*</c:v>
                  </c:pt>
                  <c:pt idx="10">
                    <c:v>4.46*</c:v>
                  </c:pt>
                  <c:pt idx="11">
                    <c:v>4.72*</c:v>
                  </c:pt>
                </c:lvl>
              </c:multiLvlStrCache>
            </c:multiLvlStrRef>
          </c:cat>
          <c:val>
            <c:numRef>
              <c:f>Sheet1!$F$2:$F$13</c:f>
              <c:numCache>
                <c:formatCode>General</c:formatCode>
                <c:ptCount val="12"/>
                <c:pt idx="0">
                  <c:v>0.0177</c:v>
                </c:pt>
                <c:pt idx="1">
                  <c:v>0.0198</c:v>
                </c:pt>
                <c:pt idx="2">
                  <c:v>0.0773</c:v>
                </c:pt>
                <c:pt idx="3">
                  <c:v>0.0576</c:v>
                </c:pt>
                <c:pt idx="4">
                  <c:v>0.0557</c:v>
                </c:pt>
                <c:pt idx="5">
                  <c:v>0.0533</c:v>
                </c:pt>
                <c:pt idx="6">
                  <c:v>0.0542</c:v>
                </c:pt>
                <c:pt idx="7">
                  <c:v>0.0563</c:v>
                </c:pt>
                <c:pt idx="8">
                  <c:v>0.055</c:v>
                </c:pt>
                <c:pt idx="9">
                  <c:v>0.0551</c:v>
                </c:pt>
                <c:pt idx="10">
                  <c:v>0.0659</c:v>
                </c:pt>
                <c:pt idx="11">
                  <c:v>0.088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50" b="0" i="0" u="none" strike="noStrike">
                    <a:solidFill>
                      <a:srgbClr val="5B5B70"/>
                    </a:solidFill>
                    <a:latin typeface="Arial"/>
                  </a:defRPr>
                </a:pPr>
                <a:r>
                  <a:rPr sz="950" b="0" i="0" u="none" strike="noStrike">
                    <a:solidFill>
                      <a:srgbClr val="5B5B70"/>
                    </a:solidFill>
                    <a:latin typeface="Arial"/>
                  </a:rPr>
                  <a:t>Peak water level of the unseen storm (m); * = above every old training storm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5B7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4E2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B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1F2E"/>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1F2E"/>
                </a:solidFill>
                <a:latin typeface="Arial"/>
              </a:defRPr>
            </a:pPr>
            <a:r>
              <a:rPr sz="1100" b="0" i="0" u="none" strike="noStrike">
                <a:solidFill>
                  <a:srgbClr val="1F1F2E"/>
                </a:solidFill>
                <a:latin typeface="Arial"/>
              </a:rPr>
              <a:t>Dynamic labels, timing inputs</a:t>
            </a:r>
          </a:p>
        </c:rich>
      </c:tx>
      <c:layout/>
      <c:overlay val="0"/>
    </c:title>
    <c:autoTitleDeleted val="0"/>
    <c:plotArea>
      <c:layout/>
      <c:lineChart>
        <c:varyColors val="0"/>
        <c:ser>
          <c:idx val="0"/>
          <c:order val="0"/>
          <c:tx>
            <c:strRef>
              <c:f>Sheet1!$B$1</c:f>
              <c:strCache>
                <c:ptCount val="1"/>
                <c:pt idx="0">
                  <c:v>17 storms</c:v>
                </c:pt>
              </c:strCache>
            </c:strRef>
          </c:tx>
          <c:spPr>
            <a:solidFill>
              <a:srgbClr val="C4C4CF"/>
            </a:solidFill>
            <a:ln w="25400" cap="flat">
              <a:solidFill>
                <a:srgbClr val="C4C4C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4C4CF"/>
              </a:solidFill>
              <a:ln w="9525" cap="flat">
                <a:solidFill>
                  <a:srgbClr val="C4C4CF"/>
                </a:solidFill>
                <a:prstDash val="solid"/>
                <a:round/>
              </a:ln>
              <a:effectLst/>
            </c:spPr>
          </c:marker>
          <c:cat>
            <c:multiLvlStrRef>
              <c:f>Sheet1!$A$2:$A$13</c:f>
              <c:multiLvlStrCache>
                <c:ptCount val="12"/>
                <c:lvl>
                  <c:pt idx="0">
                    <c:v>2.10</c:v>
                  </c:pt>
                  <c:pt idx="1">
                    <c:v>2.17</c:v>
                  </c:pt>
                  <c:pt idx="2">
                    <c:v>2.44</c:v>
                  </c:pt>
                  <c:pt idx="3">
                    <c:v>2.78</c:v>
                  </c:pt>
                  <c:pt idx="4">
                    <c:v>3.12</c:v>
                  </c:pt>
                  <c:pt idx="5">
                    <c:v>3.37</c:v>
                  </c:pt>
                  <c:pt idx="6">
                    <c:v>3.46</c:v>
                  </c:pt>
                  <c:pt idx="7">
                    <c:v>3.75*</c:v>
                  </c:pt>
                  <c:pt idx="8">
                    <c:v>3.80*</c:v>
                  </c:pt>
                  <c:pt idx="9">
                    <c:v>4.13*</c:v>
                  </c:pt>
                  <c:pt idx="10">
                    <c:v>4.46*</c:v>
                  </c:pt>
                  <c:pt idx="11">
                    <c:v>4.72*</c:v>
                  </c:pt>
                </c:lvl>
              </c:multiLvlStrCache>
            </c:multiLvlStrRef>
          </c:cat>
          <c:val>
            <c:numRef>
              <c:f>Sheet1!$B$2:$B$13</c:f>
              <c:numCache>
                <c:formatCode>General</c:formatCode>
                <c:ptCount val="12"/>
                <c:pt idx="0">
                  <c:v>0.1026</c:v>
                </c:pt>
                <c:pt idx="1">
                  <c:v>0.0837</c:v>
                </c:pt>
                <c:pt idx="2">
                  <c:v>0.1342</c:v>
                </c:pt>
                <c:pt idx="3">
                  <c:v>0.1562</c:v>
                </c:pt>
                <c:pt idx="4">
                  <c:v>0.1744</c:v>
                </c:pt>
                <c:pt idx="5">
                  <c:v>0.2438</c:v>
                </c:pt>
                <c:pt idx="6">
                  <c:v>0.2614</c:v>
                </c:pt>
                <c:pt idx="7">
                  <c:v>0.2994</c:v>
                </c:pt>
                <c:pt idx="8">
                  <c:v>0.2241</c:v>
                </c:pt>
                <c:pt idx="9">
                  <c:v>0.259</c:v>
                </c:pt>
                <c:pt idx="10">
                  <c:v>0.4256</c:v>
                </c:pt>
                <c:pt idx="11">
                  <c:v>0.3178</c:v>
                </c:pt>
              </c:numCache>
            </c:numRef>
          </c:val>
          <c:smooth val="0"/>
        </c:ser>
        <c:ser>
          <c:idx val="1"/>
          <c:order val="1"/>
          <c:tx>
            <c:strRef>
              <c:f>Sheet1!$C$1</c:f>
              <c:strCache>
                <c:ptCount val="1"/>
                <c:pt idx="0">
                  <c:v>57 storms</c:v>
                </c:pt>
              </c:strCache>
            </c:strRef>
          </c:tx>
          <c:spPr>
            <a:solidFill>
              <a:srgbClr val="8A8A99"/>
            </a:solidFill>
            <a:ln w="25400" cap="flat">
              <a:solidFill>
                <a:srgbClr val="8A8A9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8A8A99"/>
              </a:solidFill>
              <a:ln w="9525" cap="flat">
                <a:solidFill>
                  <a:srgbClr val="8A8A99"/>
                </a:solidFill>
                <a:prstDash val="solid"/>
                <a:round/>
              </a:ln>
              <a:effectLst/>
            </c:spPr>
          </c:marker>
          <c:cat>
            <c:multiLvlStrRef>
              <c:f>Sheet1!$A$2:$A$13</c:f>
              <c:multiLvlStrCache>
                <c:ptCount val="12"/>
                <c:lvl>
                  <c:pt idx="0">
                    <c:v>2.10</c:v>
                  </c:pt>
                  <c:pt idx="1">
                    <c:v>2.17</c:v>
                  </c:pt>
                  <c:pt idx="2">
                    <c:v>2.44</c:v>
                  </c:pt>
                  <c:pt idx="3">
                    <c:v>2.78</c:v>
                  </c:pt>
                  <c:pt idx="4">
                    <c:v>3.12</c:v>
                  </c:pt>
                  <c:pt idx="5">
                    <c:v>3.37</c:v>
                  </c:pt>
                  <c:pt idx="6">
                    <c:v>3.46</c:v>
                  </c:pt>
                  <c:pt idx="7">
                    <c:v>3.75*</c:v>
                  </c:pt>
                  <c:pt idx="8">
                    <c:v>3.80*</c:v>
                  </c:pt>
                  <c:pt idx="9">
                    <c:v>4.13*</c:v>
                  </c:pt>
                  <c:pt idx="10">
                    <c:v>4.46*</c:v>
                  </c:pt>
                  <c:pt idx="11">
                    <c:v>4.72*</c:v>
                  </c:pt>
                </c:lvl>
              </c:multiLvlStrCache>
            </c:multiLvlStrRef>
          </c:cat>
          <c:val>
            <c:numRef>
              <c:f>Sheet1!$C$2:$C$13</c:f>
              <c:numCache>
                <c:formatCode>General</c:formatCode>
                <c:ptCount val="12"/>
                <c:pt idx="0">
                  <c:v>0.141</c:v>
                </c:pt>
                <c:pt idx="1">
                  <c:v>0.1323</c:v>
                </c:pt>
                <c:pt idx="2">
                  <c:v>0.1509</c:v>
                </c:pt>
                <c:pt idx="3">
                  <c:v>0.1582</c:v>
                </c:pt>
                <c:pt idx="4">
                  <c:v>0.1586</c:v>
                </c:pt>
                <c:pt idx="5">
                  <c:v>0.1861</c:v>
                </c:pt>
                <c:pt idx="6">
                  <c:v>0.1775</c:v>
                </c:pt>
                <c:pt idx="7">
                  <c:v>0.214</c:v>
                </c:pt>
                <c:pt idx="8">
                  <c:v>0.1659</c:v>
                </c:pt>
                <c:pt idx="9">
                  <c:v>0.1583</c:v>
                </c:pt>
                <c:pt idx="10">
                  <c:v>0.2583</c:v>
                </c:pt>
                <c:pt idx="11">
                  <c:v>0.1794</c:v>
                </c:pt>
              </c:numCache>
            </c:numRef>
          </c:val>
          <c:smooth val="0"/>
        </c:ser>
        <c:ser>
          <c:idx val="2"/>
          <c:order val="2"/>
          <c:tx>
            <c:strRef>
              <c:f>Sheet1!$D$1</c:f>
              <c:strCache>
                <c:ptCount val="1"/>
                <c:pt idx="0">
                  <c:v>lookup from 57 storms</c:v>
                </c:pt>
              </c:strCache>
            </c:strRef>
          </c:tx>
          <c:spPr>
            <a:solidFill>
              <a:srgbClr val="B5443C"/>
            </a:solidFill>
            <a:ln w="25400" cap="flat">
              <a:solidFill>
                <a:srgbClr val="B544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5443C"/>
              </a:solidFill>
              <a:ln w="9525" cap="flat">
                <a:solidFill>
                  <a:srgbClr val="B5443C"/>
                </a:solidFill>
                <a:prstDash val="solid"/>
                <a:round/>
              </a:ln>
              <a:effectLst/>
            </c:spPr>
          </c:marker>
          <c:cat>
            <c:multiLvlStrRef>
              <c:f>Sheet1!$A$2:$A$13</c:f>
              <c:multiLvlStrCache>
                <c:ptCount val="12"/>
                <c:lvl>
                  <c:pt idx="0">
                    <c:v>2.10</c:v>
                  </c:pt>
                  <c:pt idx="1">
                    <c:v>2.17</c:v>
                  </c:pt>
                  <c:pt idx="2">
                    <c:v>2.44</c:v>
                  </c:pt>
                  <c:pt idx="3">
                    <c:v>2.78</c:v>
                  </c:pt>
                  <c:pt idx="4">
                    <c:v>3.12</c:v>
                  </c:pt>
                  <c:pt idx="5">
                    <c:v>3.37</c:v>
                  </c:pt>
                  <c:pt idx="6">
                    <c:v>3.46</c:v>
                  </c:pt>
                  <c:pt idx="7">
                    <c:v>3.75*</c:v>
                  </c:pt>
                  <c:pt idx="8">
                    <c:v>3.80*</c:v>
                  </c:pt>
                  <c:pt idx="9">
                    <c:v>4.13*</c:v>
                  </c:pt>
                  <c:pt idx="10">
                    <c:v>4.46*</c:v>
                  </c:pt>
                  <c:pt idx="11">
                    <c:v>4.72*</c:v>
                  </c:pt>
                </c:lvl>
              </c:multiLvlStrCache>
            </c:multiLvlStrRef>
          </c:cat>
          <c:val>
            <c:numRef>
              <c:f>Sheet1!$D$2:$D$13</c:f>
              <c:numCache>
                <c:formatCode>General</c:formatCode>
                <c:ptCount val="12"/>
                <c:pt idx="0">
                  <c:v>0.0614</c:v>
                </c:pt>
                <c:pt idx="1">
                  <c:v>0.024</c:v>
                </c:pt>
                <c:pt idx="2">
                  <c:v>0.1057</c:v>
                </c:pt>
                <c:pt idx="3">
                  <c:v>0.2034</c:v>
                </c:pt>
                <c:pt idx="4">
                  <c:v>0.1267</c:v>
                </c:pt>
                <c:pt idx="5">
                  <c:v>0.1565</c:v>
                </c:pt>
                <c:pt idx="6">
                  <c:v>0.1317</c:v>
                </c:pt>
                <c:pt idx="7">
                  <c:v>0.2238</c:v>
                </c:pt>
                <c:pt idx="8">
                  <c:v>0.1485</c:v>
                </c:pt>
                <c:pt idx="9">
                  <c:v>0.1272</c:v>
                </c:pt>
                <c:pt idx="10">
                  <c:v>0.2916</c:v>
                </c:pt>
                <c:pt idx="11">
                  <c:v>0.0756</c:v>
                </c:pt>
              </c:numCache>
            </c:numRef>
          </c:val>
          <c:smooth val="0"/>
        </c:ser>
        <c:ser>
          <c:idx val="3"/>
          <c:order val="3"/>
          <c:tx>
            <c:strRef>
              <c:f>Sheet1!$E$1</c:f>
              <c:strCache>
                <c:ptCount val="1"/>
                <c:pt idx="0">
                  <c:v>17 + storm size</c:v>
                </c:pt>
              </c:strCache>
            </c:strRef>
          </c:tx>
          <c:spPr>
            <a:solidFill>
              <a:srgbClr val="9A8AD0"/>
            </a:solidFill>
            <a:ln w="25400" cap="flat">
              <a:solidFill>
                <a:srgbClr val="9A8AD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9A8AD0"/>
              </a:solidFill>
              <a:ln w="9525" cap="flat">
                <a:solidFill>
                  <a:srgbClr val="9A8AD0"/>
                </a:solidFill>
                <a:prstDash val="solid"/>
                <a:round/>
              </a:ln>
              <a:effectLst/>
            </c:spPr>
          </c:marker>
          <c:cat>
            <c:multiLvlStrRef>
              <c:f>Sheet1!$A$2:$A$13</c:f>
              <c:multiLvlStrCache>
                <c:ptCount val="12"/>
                <c:lvl>
                  <c:pt idx="0">
                    <c:v>2.10</c:v>
                  </c:pt>
                  <c:pt idx="1">
                    <c:v>2.17</c:v>
                  </c:pt>
                  <c:pt idx="2">
                    <c:v>2.44</c:v>
                  </c:pt>
                  <c:pt idx="3">
                    <c:v>2.78</c:v>
                  </c:pt>
                  <c:pt idx="4">
                    <c:v>3.12</c:v>
                  </c:pt>
                  <c:pt idx="5">
                    <c:v>3.37</c:v>
                  </c:pt>
                  <c:pt idx="6">
                    <c:v>3.46</c:v>
                  </c:pt>
                  <c:pt idx="7">
                    <c:v>3.75*</c:v>
                  </c:pt>
                  <c:pt idx="8">
                    <c:v>3.80*</c:v>
                  </c:pt>
                  <c:pt idx="9">
                    <c:v>4.13*</c:v>
                  </c:pt>
                  <c:pt idx="10">
                    <c:v>4.46*</c:v>
                  </c:pt>
                  <c:pt idx="11">
                    <c:v>4.72*</c:v>
                  </c:pt>
                </c:lvl>
              </c:multiLvlStrCache>
            </c:multiLvlStrRef>
          </c:cat>
          <c:val>
            <c:numRef>
              <c:f>Sheet1!$E$2:$E$13</c:f>
              <c:numCache>
                <c:formatCode>General</c:formatCode>
                <c:ptCount val="12"/>
                <c:pt idx="0">
                  <c:v>0.0544</c:v>
                </c:pt>
                <c:pt idx="1">
                  <c:v>0.0147</c:v>
                </c:pt>
                <c:pt idx="2">
                  <c:v>0.0983</c:v>
                </c:pt>
                <c:pt idx="3">
                  <c:v>0.0964</c:v>
                </c:pt>
                <c:pt idx="4">
                  <c:v>0.1256</c:v>
                </c:pt>
                <c:pt idx="5">
                  <c:v>0.1703</c:v>
                </c:pt>
                <c:pt idx="6">
                  <c:v>0.1868</c:v>
                </c:pt>
                <c:pt idx="7">
                  <c:v>0.1417</c:v>
                </c:pt>
                <c:pt idx="8">
                  <c:v>0.1125</c:v>
                </c:pt>
                <c:pt idx="9">
                  <c:v>0.1175</c:v>
                </c:pt>
                <c:pt idx="10">
                  <c:v>0.1841</c:v>
                </c:pt>
                <c:pt idx="11">
                  <c:v>0.1455</c:v>
                </c:pt>
              </c:numCache>
            </c:numRef>
          </c:val>
          <c:smooth val="0"/>
        </c:ser>
        <c:ser>
          <c:idx val="4"/>
          <c:order val="4"/>
          <c:tx>
            <c:strRef>
              <c:f>Sheet1!$F$1</c:f>
              <c:strCache>
                <c:ptCount val="1"/>
                <c:pt idx="0">
                  <c:v>57 + storm size</c:v>
                </c:pt>
              </c:strCache>
            </c:strRef>
          </c:tx>
          <c:spPr>
            <a:solidFill>
              <a:srgbClr val="4A3D7A"/>
            </a:solidFill>
            <a:ln w="25400" cap="flat">
              <a:solidFill>
                <a:srgbClr val="4A3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4A3D7A"/>
              </a:solidFill>
              <a:ln w="9525" cap="flat">
                <a:solidFill>
                  <a:srgbClr val="4A3D7A"/>
                </a:solidFill>
                <a:prstDash val="solid"/>
                <a:round/>
              </a:ln>
              <a:effectLst/>
            </c:spPr>
          </c:marker>
          <c:cat>
            <c:multiLvlStrRef>
              <c:f>Sheet1!$A$2:$A$13</c:f>
              <c:multiLvlStrCache>
                <c:ptCount val="12"/>
                <c:lvl>
                  <c:pt idx="0">
                    <c:v>2.10</c:v>
                  </c:pt>
                  <c:pt idx="1">
                    <c:v>2.17</c:v>
                  </c:pt>
                  <c:pt idx="2">
                    <c:v>2.44</c:v>
                  </c:pt>
                  <c:pt idx="3">
                    <c:v>2.78</c:v>
                  </c:pt>
                  <c:pt idx="4">
                    <c:v>3.12</c:v>
                  </c:pt>
                  <c:pt idx="5">
                    <c:v>3.37</c:v>
                  </c:pt>
                  <c:pt idx="6">
                    <c:v>3.46</c:v>
                  </c:pt>
                  <c:pt idx="7">
                    <c:v>3.75*</c:v>
                  </c:pt>
                  <c:pt idx="8">
                    <c:v>3.80*</c:v>
                  </c:pt>
                  <c:pt idx="9">
                    <c:v>4.13*</c:v>
                  </c:pt>
                  <c:pt idx="10">
                    <c:v>4.46*</c:v>
                  </c:pt>
                  <c:pt idx="11">
                    <c:v>4.72*</c:v>
                  </c:pt>
                </c:lvl>
              </c:multiLvlStrCache>
            </c:multiLvlStrRef>
          </c:cat>
          <c:val>
            <c:numRef>
              <c:f>Sheet1!$F$2:$F$13</c:f>
              <c:numCache>
                <c:formatCode>General</c:formatCode>
                <c:ptCount val="12"/>
                <c:pt idx="0">
                  <c:v>0.0443</c:v>
                </c:pt>
                <c:pt idx="1">
                  <c:v>0.0237</c:v>
                </c:pt>
                <c:pt idx="2">
                  <c:v>0.0964</c:v>
                </c:pt>
                <c:pt idx="3">
                  <c:v>0.1037</c:v>
                </c:pt>
                <c:pt idx="4">
                  <c:v>0.1143</c:v>
                </c:pt>
                <c:pt idx="5">
                  <c:v>0.136</c:v>
                </c:pt>
                <c:pt idx="6">
                  <c:v>0.1251</c:v>
                </c:pt>
                <c:pt idx="7">
                  <c:v>0.1022</c:v>
                </c:pt>
                <c:pt idx="8">
                  <c:v>0.1047</c:v>
                </c:pt>
                <c:pt idx="9">
                  <c:v>0.0809</c:v>
                </c:pt>
                <c:pt idx="10">
                  <c:v>0.1327</c:v>
                </c:pt>
                <c:pt idx="11">
                  <c:v>0.0849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50" b="0" i="0" u="none" strike="noStrike">
                    <a:solidFill>
                      <a:srgbClr val="5B5B70"/>
                    </a:solidFill>
                    <a:latin typeface="Arial"/>
                  </a:defRPr>
                </a:pPr>
                <a:r>
                  <a:rPr sz="950" b="0" i="0" u="none" strike="noStrike">
                    <a:solidFill>
                      <a:srgbClr val="5B5B70"/>
                    </a:solidFill>
                    <a:latin typeface="Arial"/>
                  </a:rPr>
                  <a:t>Peak water level of the unseen storm (m); * = above every old training storm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B5B7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4E2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B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1F2E"/>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asked for numbers. The model is good at which sites fail and in which time window, and it is fast. But it gets the size of the cascade wrong: three to four times too many failures for a small storm, a tenth to four tenths too few for big ones. A simple lookup table beats it on storms like those it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it misjudge size? The model passes messages over two links. A cell tower in the Bronx with nothing flooded nearby is told nothing about whether Lower Manhattan is under water, so it gets the same answer in every storm: an average. That average is too high for a small storm and too low for a big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worked, and it worked the way we wrote down beforehand. With one extra input, the count error drops from about half to about one sixth, the small storm is no longer read as a big one, and the model now beats the lookup table almost everywhere. Sandy version: once every operator knows how much of each system is under water, the damage estimate comes out the right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asked for more flood maps. I generated 48 new storms from Gwyn's model by a rule written in advance, and ran the simulator on all of them. They fix a flaw in the first 20, where big storms were always slow ones. One caution: these maps differ in level and timing, not in where the water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 new storms teach us about the simulator itself. When each site switches off as the water reaches it, cascades are larger, and for the big storms a slow one ends about 500 sites above a fast one of the same size. So two storms of the same size can end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comparison you asked for. Adding the new storms helps, mostly for storms bigger than anything in the old set. But it does not fix the size problem by itself; the storm-size input does. With both, the error is about half of where we started. It is an interim result: one seed, and the run that uses all the new simulator runs was cancelled by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finish the runs the cluster cancelled, make the storm summary follow the clock, and test on flood maps that look different, not just bigger. And I still need your call on three things from September, plus one new question about publishing depth tables that come from Gwyn's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asked. Five predictions were written before the run; two held and three missed. The misses are what pointed to the two-link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asked. Every unseen storm improves in every cell. What is left: the GeoClaw map and the first six hours of the largest storms under dynamic labels, and one open question, which is whether the per-site timing inputs still earn their place once the model knows the storm's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asked. On the left of each chart, storms the old set already covered: more storms change little or hurt. On the right, storms bigger than the old set had: more storms help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asked. The storm-size input brings almost every storm to within a few percent. The open point is the smallest storms when we train on all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The surrogate knows which sites fail and when, but not how many: it reads a small storm as a big one and a big one as smaller</a:t>
            </a:r>
            <a:endParaRPr lang="en-US" sz="2200" dirty="0"/>
          </a:p>
        </p:txBody>
      </p:sp>
      <p:graphicFrame>
        <p:nvGraphicFramePr>
          <p:cNvPr id="3" name="Chart 0" descr=""/>
          <p:cNvGraphicFramePr/>
          <p:nvPr/>
        </p:nvGraphicFramePr>
        <p:xfrm>
          <a:off x="457200" y="1371600"/>
          <a:ext cx="5852160" cy="34290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537960" y="1371600"/>
            <a:ext cx="5193792" cy="3429000"/>
          </a:xfrm>
          <a:prstGeom prst="roundRect">
            <a:avLst>
              <a:gd name="adj" fmla="val 1600"/>
            </a:avLst>
          </a:prstGeom>
          <a:solidFill>
            <a:srgbClr val="EFEBF9"/>
          </a:solidFill>
          <a:ln w="9525">
            <a:solidFill>
              <a:srgbClr val="D9D0F0"/>
            </a:solidFill>
            <a:prstDash val="solid"/>
          </a:ln>
        </p:spPr>
      </p:sp>
      <p:sp>
        <p:nvSpPr>
          <p:cNvPr id="5" name="Text 2"/>
          <p:cNvSpPr txBox="1"/>
          <p:nvPr/>
        </p:nvSpPr>
        <p:spPr>
          <a:xfrm>
            <a:off x="6720840" y="1481328"/>
            <a:ext cx="4828032" cy="320040"/>
          </a:xfrm>
          <a:prstGeom prst="rect">
            <a:avLst/>
          </a:prstGeom>
          <a:noFill/>
          <a:ln/>
        </p:spPr>
        <p:txBody>
          <a:bodyPr wrap="square" lIns="0" tIns="0" rIns="0" bIns="0" rtlCol="0" anchor="t"/>
          <a:lstStyle/>
          <a:p>
            <a:pPr indent="0" marL="0">
              <a:buNone/>
            </a:pPr>
            <a:r>
              <a:rPr lang="en-US" sz="1300" b="1" dirty="0">
                <a:solidFill>
                  <a:srgbClr val="4A3D7A"/>
                </a:solidFill>
                <a:latin typeface="Arial" pitchFamily="34" charset="0"/>
                <a:ea typeface="Arial" pitchFamily="34" charset="-122"/>
                <a:cs typeface="Arial" pitchFamily="34" charset="-120"/>
              </a:rPr>
              <a:t>The 8 saved models, re-scored with no retraining</a:t>
            </a:r>
            <a:endParaRPr lang="en-US" sz="1300" dirty="0"/>
          </a:p>
        </p:txBody>
      </p:sp>
      <p:sp>
        <p:nvSpPr>
          <p:cNvPr id="6" name="Text 3"/>
          <p:cNvSpPr txBox="1"/>
          <p:nvPr/>
        </p:nvSpPr>
        <p:spPr>
          <a:xfrm>
            <a:off x="6720840" y="1847088"/>
            <a:ext cx="4828032" cy="2862072"/>
          </a:xfrm>
          <a:prstGeom prst="rect">
            <a:avLst/>
          </a:prstGeom>
          <a:noFill/>
          <a:ln/>
        </p:spPr>
        <p:txBody>
          <a:bodyPr wrap="square" lIns="0" tIns="0" rIns="0" bIns="0" rtlCol="0" anchor="t"/>
          <a:lstStyle/>
          <a:p>
            <a:pPr indent="0" marL="0">
              <a:spcAft>
                <a:spcPts val="700"/>
              </a:spcAft>
              <a:buNone/>
            </a:pPr>
            <a:r>
              <a:rPr lang="en-US" sz="1150" b="1" dirty="0">
                <a:solidFill>
                  <a:srgbClr val="1F1F2E"/>
                </a:solidFill>
                <a:latin typeface="Arial" pitchFamily="34" charset="0"/>
                <a:ea typeface="Arial" pitchFamily="34" charset="-122"/>
                <a:cs typeface="Arial" pitchFamily="34" charset="-120"/>
              </a:rPr>
              <a:t>Works: which sites, and when. </a:t>
            </a:r>
            <a:pPr indent="0" marL="0">
              <a:spcAft>
                <a:spcPts val="700"/>
              </a:spcAft>
              <a:buNone/>
            </a:pPr>
            <a:r>
              <a:rPr lang="en-US" sz="1150" dirty="0">
                <a:solidFill>
                  <a:srgbClr val="1F1F2E"/>
                </a:solidFill>
                <a:latin typeface="Arial" pitchFamily="34" charset="0"/>
                <a:ea typeface="Arial" pitchFamily="34" charset="-122"/>
                <a:cs typeface="Arial" pitchFamily="34" charset="-120"/>
              </a:rPr>
              <a:t>Ranking quality (AP) 0.92–0.93. Among sites that fail, the predicted time window is the right one for 86 % (static labels) and 73–75 % (dynamic). One storm takes 11 ms; the simulator takes 0.2–1.5 s.</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Does not work: how many. </a:t>
            </a:r>
            <a:pPr indent="0" marL="0">
              <a:spcAft>
                <a:spcPts val="700"/>
              </a:spcAft>
              <a:buNone/>
            </a:pPr>
            <a:r>
              <a:rPr lang="en-US" sz="1150" dirty="0">
                <a:solidFill>
                  <a:srgbClr val="1F1F2E"/>
                </a:solidFill>
                <a:latin typeface="Arial" pitchFamily="34" charset="0"/>
                <a:ea typeface="Arial" pitchFamily="34" charset="-122"/>
                <a:cs typeface="Arial" pitchFamily="34" charset="-120"/>
              </a:rPr>
              <a:t>Per-run count error at 96 h is 41–54 %.</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A lookup table does better. </a:t>
            </a:r>
            <a:pPr indent="0" marL="0">
              <a:spcAft>
                <a:spcPts val="700"/>
              </a:spcAft>
              <a:buNone/>
            </a:pPr>
            <a:r>
              <a:rPr lang="en-US" sz="1150" dirty="0">
                <a:solidFill>
                  <a:srgbClr val="1F1F2E"/>
                </a:solidFill>
                <a:latin typeface="Arial" pitchFamily="34" charset="0"/>
                <a:ea typeface="Arial" pitchFamily="34" charset="-122"/>
                <a:cs typeface="Arial" pitchFamily="34" charset="-120"/>
              </a:rPr>
              <a:t>"Take the training storm with the closest number of flooded sites and reuse its failure frequencies": count error 19 %, and a lower log loss than the model on validation in all 8 models.</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Where the model wins: </a:t>
            </a:r>
            <a:pPr indent="0" marL="0">
              <a:spcAft>
                <a:spcPts val="700"/>
              </a:spcAft>
              <a:buNone/>
            </a:pPr>
            <a:r>
              <a:rPr lang="en-US" sz="1150" dirty="0">
                <a:solidFill>
                  <a:srgbClr val="1F1F2E"/>
                </a:solidFill>
                <a:latin typeface="Arial" pitchFamily="34" charset="0"/>
                <a:ea typeface="Arial" pitchFamily="34" charset="-122"/>
                <a:cs typeface="Arial" pitchFamily="34" charset="-120"/>
              </a:rPr>
              <a:t>the GeoClaw map (a different flood model) and the storm above the training range, where no similar storm exists to look up.</a:t>
            </a:r>
            <a:endParaRPr lang="en-US" sz="1150" dirty="0"/>
          </a:p>
        </p:txBody>
      </p:sp>
      <p:sp>
        <p:nvSpPr>
          <p:cNvPr id="7" name="Shape 4"/>
          <p:cNvSpPr/>
          <p:nvPr/>
        </p:nvSpPr>
        <p:spPr>
          <a:xfrm>
            <a:off x="457200" y="4919472"/>
            <a:ext cx="11274552" cy="621792"/>
          </a:xfrm>
          <a:prstGeom prst="rect">
            <a:avLst/>
          </a:prstGeom>
          <a:solidFill>
            <a:srgbClr val="EFEBF9"/>
          </a:solidFill>
          <a:ln w="9525">
            <a:solidFill>
              <a:srgbClr val="D9D0F0"/>
            </a:solidFill>
            <a:prstDash val="solid"/>
          </a:ln>
        </p:spPr>
      </p:sp>
      <p:sp>
        <p:nvSpPr>
          <p:cNvPr id="8" name="Text 5"/>
          <p:cNvSpPr txBox="1"/>
          <p:nvPr/>
        </p:nvSpPr>
        <p:spPr>
          <a:xfrm>
            <a:off x="640080" y="4919472"/>
            <a:ext cx="10927080" cy="621792"/>
          </a:xfrm>
          <a:prstGeom prst="rect">
            <a:avLst/>
          </a:prstGeom>
          <a:noFill/>
          <a:ln/>
        </p:spPr>
        <p:txBody>
          <a:bodyPr wrap="square" lIns="0" tIns="0" rIns="0" bIns="0" rtlCol="0" anchor="ctr"/>
          <a:lstStyle/>
          <a:p>
            <a:pPr indent="0" marL="0">
              <a:buNone/>
            </a:pPr>
            <a:r>
              <a:rPr lang="en-US" sz="1200" b="1" dirty="0">
                <a:solidFill>
                  <a:srgbClr val="1F1F2E"/>
                </a:solidFill>
                <a:latin typeface="Arial" pitchFamily="34" charset="0"/>
                <a:ea typeface="Arial" pitchFamily="34" charset="-122"/>
                <a:cs typeface="Arial" pitchFamily="34" charset="-120"/>
              </a:rPr>
              <a:t>Written before the run:  </a:t>
            </a:r>
            <a:pPr indent="0" marL="0">
              <a:buNone/>
            </a:pPr>
            <a:r>
              <a:rPr lang="en-US" sz="1200" dirty="0">
                <a:solidFill>
                  <a:srgbClr val="1F1F2E"/>
                </a:solidFill>
                <a:latin typeface="Arial" pitchFamily="34" charset="0"/>
                <a:ea typeface="Arial" pitchFamily="34" charset="-122"/>
                <a:cs typeface="Arial" pitchFamily="34" charset="-120"/>
              </a:rPr>
              <a:t>5 predictions. Calibration and speed held. Three missed: beat the lookup on validation; beat it on 3 of 5 unseen storms; count error within 10–20 %.</a:t>
            </a:r>
            <a:endParaRPr lang="en-US" sz="1200" dirty="0"/>
          </a:p>
        </p:txBody>
      </p:sp>
      <p:sp>
        <p:nvSpPr>
          <p:cNvPr id="9" name="Text 6"/>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Torch job 19301158: all gates pass, every model reproduces its saved loss. Non-seed sites only (the flood's direct hits are an input). Validation = 3,400 runs; each unseen storm = 1,000 runs.</a:t>
            </a:r>
            <a:endParaRPr lang="en-US" sz="950" dirty="0"/>
          </a:p>
        </p:txBody>
      </p:sp>
      <p:sp>
        <p:nvSpPr>
          <p:cNvPr id="10" name="Shape 7"/>
          <p:cNvSpPr/>
          <p:nvPr/>
        </p:nvSpPr>
        <p:spPr>
          <a:xfrm>
            <a:off x="457200" y="5943600"/>
            <a:ext cx="11274552" cy="621792"/>
          </a:xfrm>
          <a:prstGeom prst="rect">
            <a:avLst/>
          </a:prstGeom>
          <a:solidFill>
            <a:srgbClr val="EFEBF9"/>
          </a:solidFill>
          <a:ln w="9525">
            <a:solidFill>
              <a:srgbClr val="D9D0F0"/>
            </a:solidFill>
            <a:prstDash val="solid"/>
          </a:ln>
        </p:spPr>
      </p:sp>
      <p:sp>
        <p:nvSpPr>
          <p:cNvPr id="11" name="Text 8"/>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4A3D7A"/>
                </a:solidFill>
                <a:latin typeface="Arial" pitchFamily="34" charset="0"/>
                <a:ea typeface="Arial" pitchFamily="34" charset="-122"/>
                <a:cs typeface="Arial" pitchFamily="34" charset="-120"/>
              </a:rPr>
              <a:t>You asked for numbers. The model is good at which sites fail and in which time window, and it is fast. But it gets the size of the cascade wrong: three to four times too many failures for a small storm, a tenth to four tenths too few for big ones. A simple lookup table beats it on storms like those it trained 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Why: each site sees only two links away, so most sites get the same input in every storm</a:t>
            </a:r>
            <a:endParaRPr lang="en-US" sz="2200" dirty="0"/>
          </a:p>
        </p:txBody>
      </p:sp>
      <p:graphicFrame>
        <p:nvGraphicFramePr>
          <p:cNvPr id="3" name="Chart 0" descr=""/>
          <p:cNvGraphicFramePr/>
          <p:nvPr/>
        </p:nvGraphicFramePr>
        <p:xfrm>
          <a:off x="457200" y="1371600"/>
          <a:ext cx="5852160" cy="34290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537960" y="1371600"/>
            <a:ext cx="5193792" cy="3429000"/>
          </a:xfrm>
          <a:prstGeom prst="roundRect">
            <a:avLst>
              <a:gd name="adj" fmla="val 1600"/>
            </a:avLst>
          </a:prstGeom>
          <a:solidFill>
            <a:srgbClr val="EFEBF9"/>
          </a:solidFill>
          <a:ln w="9525">
            <a:solidFill>
              <a:srgbClr val="D9D0F0"/>
            </a:solidFill>
            <a:prstDash val="solid"/>
          </a:ln>
        </p:spPr>
      </p:sp>
      <p:sp>
        <p:nvSpPr>
          <p:cNvPr id="5" name="Text 2"/>
          <p:cNvSpPr txBox="1"/>
          <p:nvPr/>
        </p:nvSpPr>
        <p:spPr>
          <a:xfrm>
            <a:off x="6720840" y="1481328"/>
            <a:ext cx="4828032" cy="320040"/>
          </a:xfrm>
          <a:prstGeom prst="rect">
            <a:avLst/>
          </a:prstGeom>
          <a:noFill/>
          <a:ln/>
        </p:spPr>
        <p:txBody>
          <a:bodyPr wrap="square" lIns="0" tIns="0" rIns="0" bIns="0" rtlCol="0" anchor="t"/>
          <a:lstStyle/>
          <a:p>
            <a:pPr indent="0" marL="0">
              <a:buNone/>
            </a:pPr>
            <a:r>
              <a:rPr lang="en-US" sz="1300" b="1" dirty="0">
                <a:solidFill>
                  <a:srgbClr val="4A3D7A"/>
                </a:solidFill>
                <a:latin typeface="Arial" pitchFamily="34" charset="0"/>
                <a:ea typeface="Arial" pitchFamily="34" charset="-122"/>
                <a:cs typeface="Arial" pitchFamily="34" charset="-120"/>
              </a:rPr>
              <a:t>What the model can and cannot know</a:t>
            </a:r>
            <a:endParaRPr lang="en-US" sz="1300" dirty="0"/>
          </a:p>
        </p:txBody>
      </p:sp>
      <p:sp>
        <p:nvSpPr>
          <p:cNvPr id="6" name="Text 3"/>
          <p:cNvSpPr txBox="1"/>
          <p:nvPr/>
        </p:nvSpPr>
        <p:spPr>
          <a:xfrm>
            <a:off x="6720840" y="1847088"/>
            <a:ext cx="4828032" cy="2862072"/>
          </a:xfrm>
          <a:prstGeom prst="rect">
            <a:avLst/>
          </a:prstGeom>
          <a:noFill/>
          <a:ln/>
        </p:spPr>
        <p:txBody>
          <a:bodyPr wrap="square" lIns="0" tIns="0" rIns="0" bIns="0" rtlCol="0" anchor="t"/>
          <a:lstStyle/>
          <a:p>
            <a:pPr indent="0" marL="0">
              <a:spcAft>
                <a:spcPts val="700"/>
              </a:spcAft>
              <a:buNone/>
            </a:pPr>
            <a:r>
              <a:rPr lang="en-US" sz="1150" b="1" dirty="0">
                <a:solidFill>
                  <a:srgbClr val="1F1F2E"/>
                </a:solidFill>
                <a:latin typeface="Arial" pitchFamily="34" charset="0"/>
                <a:ea typeface="Arial" pitchFamily="34" charset="-122"/>
                <a:cs typeface="Arial" pitchFamily="34" charset="-120"/>
              </a:rPr>
              <a:t>Two rounds of message passing, nothing city-wide. </a:t>
            </a:r>
            <a:pPr indent="0" marL="0">
              <a:spcAft>
                <a:spcPts val="700"/>
              </a:spcAft>
              <a:buNone/>
            </a:pPr>
            <a:r>
              <a:rPr lang="en-US" sz="1150" dirty="0">
                <a:solidFill>
                  <a:srgbClr val="1F1F2E"/>
                </a:solidFill>
                <a:latin typeface="Arial" pitchFamily="34" charset="0"/>
                <a:ea typeface="Arial" pitchFamily="34" charset="-122"/>
                <a:cs typeface="Arial" pitchFamily="34" charset="-120"/>
              </a:rPr>
              <a:t>A site's answer depends only on sites within two dependency links of it.</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Most sites have no flooded site that close: </a:t>
            </a:r>
            <a:pPr indent="0" marL="0">
              <a:spcAft>
                <a:spcPts val="700"/>
              </a:spcAft>
              <a:buNone/>
            </a:pPr>
            <a:r>
              <a:rPr lang="en-US" sz="1150" dirty="0">
                <a:solidFill>
                  <a:srgbClr val="1F1F2E"/>
                </a:solidFill>
                <a:latin typeface="Arial" pitchFamily="34" charset="0"/>
                <a:ea typeface="Arial" pitchFamily="34" charset="-122"/>
                <a:cs typeface="Arial" pitchFamily="34" charset="-120"/>
              </a:rPr>
              <a:t>59–88 % of them, in every storm. Their input is then identical in every storm.</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Shown on the model itself: </a:t>
            </a:r>
            <a:pPr indent="0" marL="0">
              <a:spcAft>
                <a:spcPts val="700"/>
              </a:spcAft>
              <a:buNone/>
            </a:pPr>
            <a:r>
              <a:rPr lang="en-US" sz="1150" dirty="0">
                <a:solidFill>
                  <a:srgbClr val="1F1F2E"/>
                </a:solidFill>
                <a:latin typeface="Arial" pitchFamily="34" charset="0"/>
                <a:ea typeface="Arial" pitchFamily="34" charset="-122"/>
                <a:cs typeface="Arial" pitchFamily="34" charset="-120"/>
              </a:rPr>
              <a:t>3,481 sites got exactly the same output in a small storm (914_6) and a large one (605_5). 24 of them fail in the small storm, 610 in the large one.</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So those sites get one average answer: </a:t>
            </a:r>
            <a:pPr indent="0" marL="0">
              <a:spcAft>
                <a:spcPts val="700"/>
              </a:spcAft>
              <a:buNone/>
            </a:pPr>
            <a:r>
              <a:rPr lang="en-US" sz="1150" dirty="0">
                <a:solidFill>
                  <a:srgbClr val="1F1F2E"/>
                </a:solidFill>
                <a:latin typeface="Arial" pitchFamily="34" charset="0"/>
                <a:ea typeface="Arial" pitchFamily="34" charset="-122"/>
                <a:cs typeface="Arial" pitchFamily="34" charset="-120"/>
              </a:rPr>
              <a:t>too high in a small storm, too low in a big one. The lookup wins because it is keyed on storm size. More storms alone cannot fix this.</a:t>
            </a:r>
            <a:endParaRPr lang="en-US" sz="1150" dirty="0"/>
          </a:p>
        </p:txBody>
      </p:sp>
      <p:sp>
        <p:nvSpPr>
          <p:cNvPr id="7" name="Shape 4"/>
          <p:cNvSpPr/>
          <p:nvPr/>
        </p:nvSpPr>
        <p:spPr>
          <a:xfrm>
            <a:off x="457200" y="4919472"/>
            <a:ext cx="11274552" cy="621792"/>
          </a:xfrm>
          <a:prstGeom prst="rect">
            <a:avLst/>
          </a:prstGeom>
          <a:solidFill>
            <a:srgbClr val="EFEBF9"/>
          </a:solidFill>
          <a:ln w="9525">
            <a:solidFill>
              <a:srgbClr val="D9D0F0"/>
            </a:solidFill>
            <a:prstDash val="solid"/>
          </a:ln>
        </p:spPr>
      </p:sp>
      <p:sp>
        <p:nvSpPr>
          <p:cNvPr id="8" name="Text 5"/>
          <p:cNvSpPr txBox="1"/>
          <p:nvPr/>
        </p:nvSpPr>
        <p:spPr>
          <a:xfrm>
            <a:off x="640080" y="4919472"/>
            <a:ext cx="10927080" cy="621792"/>
          </a:xfrm>
          <a:prstGeom prst="rect">
            <a:avLst/>
          </a:prstGeom>
          <a:noFill/>
          <a:ln/>
        </p:spPr>
        <p:txBody>
          <a:bodyPr wrap="square" lIns="0" tIns="0" rIns="0" bIns="0" rtlCol="0" anchor="ctr"/>
          <a:lstStyle/>
          <a:p>
            <a:pPr indent="0" marL="0">
              <a:buNone/>
            </a:pPr>
            <a:r>
              <a:rPr lang="en-US" sz="1200" b="1" dirty="0">
                <a:solidFill>
                  <a:srgbClr val="1F1F2E"/>
                </a:solidFill>
                <a:latin typeface="Arial" pitchFamily="34" charset="0"/>
                <a:ea typeface="Arial" pitchFamily="34" charset="-122"/>
                <a:cs typeface="Arial" pitchFamily="34" charset="-120"/>
              </a:rPr>
              <a:t>Status:  </a:t>
            </a:r>
            <a:pPr indent="0" marL="0">
              <a:buNone/>
            </a:pPr>
            <a:r>
              <a:rPr lang="en-US" sz="1200" dirty="0">
                <a:solidFill>
                  <a:srgbClr val="1F1F2E"/>
                </a:solidFill>
                <a:latin typeface="Arial" pitchFamily="34" charset="0"/>
                <a:ea typeface="Arial" pitchFamily="34" charset="-122"/>
                <a:cs typeface="Arial" pitchFamily="34" charset="-120"/>
              </a:rPr>
              <a:t>the mechanism is shown on the code (outputs identical to the last bit). Whether it explains the whole count error is what the next slide tests.</a:t>
            </a:r>
            <a:endParaRPr lang="en-US" sz="1200" dirty="0"/>
          </a:p>
        </p:txBody>
      </p:sp>
      <p:sp>
        <p:nvSpPr>
          <p:cNvPr id="9" name="Text 6"/>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Production graph: 6,231 sites, 37,355 directed links. Simulator runs with static labels, 20 per storm, 67 GISSR storms. Reaching nearly every site would take 8–10 links.</a:t>
            </a:r>
            <a:endParaRPr lang="en-US" sz="950" dirty="0"/>
          </a:p>
        </p:txBody>
      </p:sp>
      <p:sp>
        <p:nvSpPr>
          <p:cNvPr id="10" name="Shape 7"/>
          <p:cNvSpPr/>
          <p:nvPr/>
        </p:nvSpPr>
        <p:spPr>
          <a:xfrm>
            <a:off x="457200" y="5943600"/>
            <a:ext cx="11274552" cy="621792"/>
          </a:xfrm>
          <a:prstGeom prst="rect">
            <a:avLst/>
          </a:prstGeom>
          <a:solidFill>
            <a:srgbClr val="EFEBF9"/>
          </a:solidFill>
          <a:ln w="9525">
            <a:solidFill>
              <a:srgbClr val="D9D0F0"/>
            </a:solidFill>
            <a:prstDash val="solid"/>
          </a:ln>
        </p:spPr>
      </p:sp>
      <p:sp>
        <p:nvSpPr>
          <p:cNvPr id="11" name="Text 8"/>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4A3D7A"/>
                </a:solidFill>
                <a:latin typeface="Arial" pitchFamily="34" charset="0"/>
                <a:ea typeface="Arial" pitchFamily="34" charset="-122"/>
                <a:cs typeface="Arial" pitchFamily="34" charset="-120"/>
              </a:rPr>
              <a:t>Why does it misjudge size? The model passes messages over two links. A cell tower in the Bronx with nothing flooded nearby is told nothing about whether Lower Manhattan is under water, so it gets the same answer in every storm: an average. That average is too high for a small storm and too low for a big one.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Telling every site how big the storm is fixes the count: error falls from 41–54 % to 15–17 %, and the model now beats the lookup</a:t>
            </a:r>
            <a:endParaRPr lang="en-US" sz="2200" dirty="0"/>
          </a:p>
        </p:txBody>
      </p:sp>
      <p:sp>
        <p:nvSpPr>
          <p:cNvPr id="3" name="Shape 1"/>
          <p:cNvSpPr/>
          <p:nvPr/>
        </p:nvSpPr>
        <p:spPr>
          <a:xfrm>
            <a:off x="457200" y="1371600"/>
            <a:ext cx="5486400" cy="1874520"/>
          </a:xfrm>
          <a:prstGeom prst="roundRect">
            <a:avLst>
              <a:gd name="adj" fmla="val 2927"/>
            </a:avLst>
          </a:prstGeom>
          <a:solidFill>
            <a:srgbClr val="EFEBF9"/>
          </a:solidFill>
          <a:ln w="9525">
            <a:solidFill>
              <a:srgbClr val="D9D0F0"/>
            </a:solidFill>
            <a:prstDash val="solid"/>
          </a:ln>
        </p:spPr>
      </p:sp>
      <p:sp>
        <p:nvSpPr>
          <p:cNvPr id="4" name="Text 2"/>
          <p:cNvSpPr txBox="1"/>
          <p:nvPr/>
        </p:nvSpPr>
        <p:spPr>
          <a:xfrm>
            <a:off x="640080" y="1481328"/>
            <a:ext cx="5120640" cy="320040"/>
          </a:xfrm>
          <a:prstGeom prst="rect">
            <a:avLst/>
          </a:prstGeom>
          <a:noFill/>
          <a:ln/>
        </p:spPr>
        <p:txBody>
          <a:bodyPr wrap="square" lIns="0" tIns="0" rIns="0" bIns="0" rtlCol="0" anchor="t"/>
          <a:lstStyle/>
          <a:p>
            <a:pPr indent="0" marL="0">
              <a:buNone/>
            </a:pPr>
            <a:r>
              <a:rPr lang="en-US" sz="1300" b="1" dirty="0">
                <a:solidFill>
                  <a:srgbClr val="4A3D7A"/>
                </a:solidFill>
                <a:latin typeface="Arial" pitchFamily="34" charset="0"/>
                <a:ea typeface="Arial" pitchFamily="34" charset="-122"/>
                <a:cs typeface="Arial" pitchFamily="34" charset="-120"/>
              </a:rPr>
              <a:t>What changes (one switch, off by default)</a:t>
            </a:r>
            <a:endParaRPr lang="en-US" sz="1300" dirty="0"/>
          </a:p>
        </p:txBody>
      </p:sp>
      <p:sp>
        <p:nvSpPr>
          <p:cNvPr id="5" name="Text 3"/>
          <p:cNvSpPr txBox="1"/>
          <p:nvPr/>
        </p:nvSpPr>
        <p:spPr>
          <a:xfrm>
            <a:off x="640080" y="1847088"/>
            <a:ext cx="5120640" cy="1307592"/>
          </a:xfrm>
          <a:prstGeom prst="rect">
            <a:avLst/>
          </a:prstGeom>
          <a:noFill/>
          <a:ln/>
        </p:spPr>
        <p:txBody>
          <a:bodyPr wrap="square" lIns="0" tIns="0" rIns="0" bIns="0" rtlCol="0" anchor="t"/>
          <a:lstStyle/>
          <a:p>
            <a:pPr indent="0" marL="0">
              <a:spcAft>
                <a:spcPts val="600"/>
              </a:spcAft>
              <a:buNone/>
            </a:pPr>
            <a:r>
              <a:rPr lang="en-US" sz="1150" b="1" dirty="0">
                <a:solidFill>
                  <a:srgbClr val="1F1F2E"/>
                </a:solidFill>
                <a:latin typeface="Arial" pitchFamily="34" charset="0"/>
                <a:ea typeface="Arial" pitchFamily="34" charset="-122"/>
                <a:cs typeface="Arial" pitchFamily="34" charset="-120"/>
              </a:rPr>
              <a:t>Every site also gets 7 numbers for the whole storm: </a:t>
            </a:r>
            <a:pPr indent="0" marL="0">
              <a:spcAft>
                <a:spcPts val="600"/>
              </a:spcAft>
              <a:buNone/>
            </a:pPr>
            <a:r>
              <a:rPr lang="en-US" sz="1150" dirty="0">
                <a:solidFill>
                  <a:srgbClr val="1F1F2E"/>
                </a:solidFill>
                <a:latin typeface="Arial" pitchFamily="34" charset="0"/>
                <a:ea typeface="Arial" pitchFamily="34" charset="-122"/>
                <a:cs typeface="Arial" pitchFamily="34" charset="-120"/>
              </a:rPr>
              <a:t>how much of each of the six systems the water knocked out, and the total. With timing inputs, 3 more: storm-wide averages of arrival, duration and hours before the peak.</a:t>
            </a:r>
            <a:endParaRPr lang="en-US" sz="1150" dirty="0"/>
          </a:p>
          <a:p>
            <a:pPr indent="0" marL="0">
              <a:spcAft>
                <a:spcPts val="600"/>
              </a:spcAft>
              <a:buNone/>
            </a:pPr>
            <a:r>
              <a:rPr lang="en-US" sz="1150" b="1" dirty="0">
                <a:solidFill>
                  <a:srgbClr val="1F1F2E"/>
                </a:solidFill>
                <a:latin typeface="Arial" pitchFamily="34" charset="0"/>
                <a:ea typeface="Arial" pitchFamily="34" charset="-122"/>
                <a:cs typeface="Arial" pitchFamily="34" charset="-120"/>
              </a:rPr>
              <a:t>Inputs only. </a:t>
            </a:r>
            <a:pPr indent="0" marL="0">
              <a:spcAft>
                <a:spcPts val="600"/>
              </a:spcAft>
              <a:buNone/>
            </a:pPr>
            <a:r>
              <a:rPr lang="en-US" sz="1150" dirty="0">
                <a:solidFill>
                  <a:srgbClr val="1F1F2E"/>
                </a:solidFill>
                <a:latin typeface="Arial" pitchFamily="34" charset="0"/>
                <a:ea typeface="Arial" pitchFamily="34" charset="-122"/>
                <a:cs typeface="Arial" pitchFamily="34" charset="-120"/>
              </a:rPr>
              <a:t>Nothing from the cascade outcome. +0.4 % parameters. With the switch off the inputs are bit-for-bit unchanged.</a:t>
            </a:r>
            <a:endParaRPr lang="en-US" sz="1150" dirty="0"/>
          </a:p>
        </p:txBody>
      </p:sp>
      <p:sp>
        <p:nvSpPr>
          <p:cNvPr id="6" name="Shape 4"/>
          <p:cNvSpPr/>
          <p:nvPr/>
        </p:nvSpPr>
        <p:spPr>
          <a:xfrm>
            <a:off x="6245352" y="1371600"/>
            <a:ext cx="5486400" cy="1874520"/>
          </a:xfrm>
          <a:prstGeom prst="roundRect">
            <a:avLst>
              <a:gd name="adj" fmla="val 2927"/>
            </a:avLst>
          </a:prstGeom>
          <a:solidFill>
            <a:srgbClr val="EFEBF9"/>
          </a:solidFill>
          <a:ln w="9525">
            <a:solidFill>
              <a:srgbClr val="D9D0F0"/>
            </a:solidFill>
            <a:prstDash val="solid"/>
          </a:ln>
        </p:spPr>
      </p:sp>
      <p:sp>
        <p:nvSpPr>
          <p:cNvPr id="7" name="Text 5"/>
          <p:cNvSpPr txBox="1"/>
          <p:nvPr/>
        </p:nvSpPr>
        <p:spPr>
          <a:xfrm>
            <a:off x="6428232" y="1481328"/>
            <a:ext cx="5120640" cy="320040"/>
          </a:xfrm>
          <a:prstGeom prst="rect">
            <a:avLst/>
          </a:prstGeom>
          <a:noFill/>
          <a:ln/>
        </p:spPr>
        <p:txBody>
          <a:bodyPr wrap="square" lIns="0" tIns="0" rIns="0" bIns="0" rtlCol="0" anchor="t"/>
          <a:lstStyle/>
          <a:p>
            <a:pPr indent="0" marL="0">
              <a:buNone/>
            </a:pPr>
            <a:r>
              <a:rPr lang="en-US" sz="1300" b="1" dirty="0">
                <a:solidFill>
                  <a:srgbClr val="4A3D7A"/>
                </a:solidFill>
                <a:latin typeface="Arial" pitchFamily="34" charset="0"/>
                <a:ea typeface="Arial" pitchFamily="34" charset="-122"/>
                <a:cs typeface="Arial" pitchFamily="34" charset="-120"/>
              </a:rPr>
              <a:t>Written before training (17 old storms, two seeds)</a:t>
            </a:r>
            <a:endParaRPr lang="en-US" sz="1300" dirty="0"/>
          </a:p>
        </p:txBody>
      </p:sp>
      <p:sp>
        <p:nvSpPr>
          <p:cNvPr id="8" name="Text 6"/>
          <p:cNvSpPr txBox="1"/>
          <p:nvPr/>
        </p:nvSpPr>
        <p:spPr>
          <a:xfrm>
            <a:off x="6428232" y="1847088"/>
            <a:ext cx="5120640" cy="1307592"/>
          </a:xfrm>
          <a:prstGeom prst="rect">
            <a:avLst/>
          </a:prstGeom>
          <a:noFill/>
          <a:ln/>
        </p:spPr>
        <p:txBody>
          <a:bodyPr wrap="square" lIns="0" tIns="0" rIns="0" bIns="0" rtlCol="0" anchor="t"/>
          <a:lstStyle/>
          <a:p>
            <a:pPr indent="0" marL="0">
              <a:spcAft>
                <a:spcPts val="400"/>
              </a:spcAft>
              <a:buNone/>
            </a:pPr>
            <a:r>
              <a:rPr lang="en-US" sz="1150" b="1" dirty="0">
                <a:solidFill>
                  <a:srgbClr val="1F1F2E"/>
                </a:solidFill>
                <a:latin typeface="Arial" pitchFamily="34" charset="0"/>
                <a:ea typeface="Arial" pitchFamily="34" charset="-122"/>
                <a:cs typeface="Arial" pitchFamily="34" charset="-120"/>
              </a:rPr>
              <a:t>C1 </a:t>
            </a:r>
            <a:pPr indent="0" marL="0">
              <a:spcAft>
                <a:spcPts val="400"/>
              </a:spcAft>
              <a:buNone/>
            </a:pPr>
            <a:r>
              <a:rPr lang="en-US" sz="1150" dirty="0">
                <a:solidFill>
                  <a:srgbClr val="1F1F2E"/>
                </a:solidFill>
                <a:latin typeface="Arial" pitchFamily="34" charset="0"/>
                <a:ea typeface="Arial" pitchFamily="34" charset="-122"/>
                <a:cs typeface="Arial" pitchFamily="34" charset="-120"/>
              </a:rPr>
              <a:t>validation count error at 96 h at most 30 % (was 41–54 %).</a:t>
            </a:r>
            <a:endParaRPr lang="en-US" sz="1150" dirty="0"/>
          </a:p>
          <a:p>
            <a:pPr indent="0" marL="0">
              <a:spcAft>
                <a:spcPts val="400"/>
              </a:spcAft>
              <a:buNone/>
            </a:pPr>
            <a:r>
              <a:rPr lang="en-US" sz="1150" b="1" dirty="0">
                <a:solidFill>
                  <a:srgbClr val="1F1F2E"/>
                </a:solidFill>
                <a:latin typeface="Arial" pitchFamily="34" charset="0"/>
                <a:ea typeface="Arial" pitchFamily="34" charset="-122"/>
                <a:cs typeface="Arial" pitchFamily="34" charset="-120"/>
              </a:rPr>
              <a:t>C2 </a:t>
            </a:r>
            <a:pPr indent="0" marL="0">
              <a:spcAft>
                <a:spcPts val="400"/>
              </a:spcAft>
              <a:buNone/>
            </a:pPr>
            <a:r>
              <a:rPr lang="en-US" sz="1150" dirty="0">
                <a:solidFill>
                  <a:srgbClr val="1F1F2E"/>
                </a:solidFill>
                <a:latin typeface="Arial" pitchFamily="34" charset="0"/>
                <a:ea typeface="Arial" pitchFamily="34" charset="-122"/>
                <a:cs typeface="Arial" pitchFamily="34" charset="-120"/>
              </a:rPr>
              <a:t>small unseen storm 914_6 within ±50 % (was 3–4 times too many).</a:t>
            </a:r>
            <a:endParaRPr lang="en-US" sz="1150" dirty="0"/>
          </a:p>
          <a:p>
            <a:pPr indent="0" marL="0">
              <a:spcAft>
                <a:spcPts val="400"/>
              </a:spcAft>
              <a:buNone/>
            </a:pPr>
            <a:r>
              <a:rPr lang="en-US" sz="1150" b="1" dirty="0">
                <a:solidFill>
                  <a:srgbClr val="1F1F2E"/>
                </a:solidFill>
                <a:latin typeface="Arial" pitchFamily="34" charset="0"/>
                <a:ea typeface="Arial" pitchFamily="34" charset="-122"/>
                <a:cs typeface="Arial" pitchFamily="34" charset="-120"/>
              </a:rPr>
              <a:t>C3 </a:t>
            </a:r>
            <a:pPr indent="0" marL="0">
              <a:spcAft>
                <a:spcPts val="400"/>
              </a:spcAft>
              <a:buNone/>
            </a:pPr>
            <a:r>
              <a:rPr lang="en-US" sz="1150" dirty="0">
                <a:solidFill>
                  <a:srgbClr val="1F1F2E"/>
                </a:solidFill>
                <a:latin typeface="Arial" pitchFamily="34" charset="0"/>
                <a:ea typeface="Arial" pitchFamily="34" charset="-122"/>
                <a:cs typeface="Arial" pitchFamily="34" charset="-120"/>
              </a:rPr>
              <a:t>unseen storm 258_9 within ±12 % (was 18–33 % too few).</a:t>
            </a:r>
            <a:endParaRPr lang="en-US" sz="1150" dirty="0"/>
          </a:p>
          <a:p>
            <a:pPr indent="0" marL="0">
              <a:spcAft>
                <a:spcPts val="400"/>
              </a:spcAft>
              <a:buNone/>
            </a:pPr>
            <a:r>
              <a:rPr lang="en-US" sz="1150" b="1" dirty="0">
                <a:solidFill>
                  <a:srgbClr val="1F1F2E"/>
                </a:solidFill>
                <a:latin typeface="Arial" pitchFamily="34" charset="0"/>
                <a:ea typeface="Arial" pitchFamily="34" charset="-122"/>
                <a:cs typeface="Arial" pitchFamily="34" charset="-120"/>
              </a:rPr>
              <a:t>C4 </a:t>
            </a:r>
            <a:pPr indent="0" marL="0">
              <a:spcAft>
                <a:spcPts val="400"/>
              </a:spcAft>
              <a:buNone/>
            </a:pPr>
            <a:r>
              <a:rPr lang="en-US" sz="1150" dirty="0">
                <a:solidFill>
                  <a:srgbClr val="1F1F2E"/>
                </a:solidFill>
                <a:latin typeface="Arial" pitchFamily="34" charset="0"/>
                <a:ea typeface="Arial" pitchFamily="34" charset="-122"/>
                <a:cs typeface="Arial" pitchFamily="34" charset="-120"/>
              </a:rPr>
              <a:t>log loss clearly lower in all four cells; half the gap to the lookup closed (static).</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3401568"/>
          <a:ext cx="11274552" cy="914400"/>
        </p:xfrm>
        <a:graphic>
          <a:graphicData uri="http://schemas.openxmlformats.org/drawingml/2006/table">
            <a:tbl>
              <a:tblPr/>
              <a:tblGrid>
                <a:gridCol w="2194560"/>
                <a:gridCol w="2011680"/>
                <a:gridCol w="2194560"/>
                <a:gridCol w="2194560"/>
                <a:gridCol w="1764792"/>
                <a:gridCol w="914400"/>
              </a:tblGrid>
              <a:tr h="292608">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cell (labels, inputs)</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count error, validation</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914_6: predicted ÷ simulated</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258_9: predicted ÷ simulated</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log loss, validation</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lookup</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r>
              <a:tr h="29260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static, mask</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0.486 → 0.149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3.28 → 1.09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0.78 → 1.02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0.0814 → 0.0449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0.0709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9260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static, +timing</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0.414 → 0.153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3.01 → 1.09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0.82 → 1.02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0.0727 → 0.0446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0.0709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9260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dynamic, mask</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0.539 → 0.165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4.27 → 1.13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0.67 → 0.97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0.1617 → 0.0708</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0.0953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9260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dynamic, +timing</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0.459 → 0.161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3.88 → 1.05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0.71 → 0.91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0.1403 → 0.0688</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0.0953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sp>
        <p:nvSpPr>
          <p:cNvPr id="10" name="Shape 7"/>
          <p:cNvSpPr/>
          <p:nvPr/>
        </p:nvSpPr>
        <p:spPr>
          <a:xfrm>
            <a:off x="457200" y="4956048"/>
            <a:ext cx="11274552" cy="566928"/>
          </a:xfrm>
          <a:prstGeom prst="rect">
            <a:avLst/>
          </a:prstGeom>
          <a:solidFill>
            <a:srgbClr val="EFEBF9"/>
          </a:solidFill>
          <a:ln w="9525">
            <a:solidFill>
              <a:srgbClr val="D9D0F0"/>
            </a:solidFill>
            <a:prstDash val="solid"/>
          </a:ln>
        </p:spPr>
      </p:sp>
      <p:sp>
        <p:nvSpPr>
          <p:cNvPr id="11" name="Text 8"/>
          <p:cNvSpPr txBox="1"/>
          <p:nvPr/>
        </p:nvSpPr>
        <p:spPr>
          <a:xfrm>
            <a:off x="640080" y="4956048"/>
            <a:ext cx="10927080" cy="566928"/>
          </a:xfrm>
          <a:prstGeom prst="rect">
            <a:avLst/>
          </a:prstGeom>
          <a:noFill/>
          <a:ln/>
        </p:spPr>
        <p:txBody>
          <a:bodyPr wrap="square" lIns="0" tIns="0" rIns="0" bIns="0" rtlCol="0" anchor="ctr"/>
          <a:lstStyle/>
          <a:p>
            <a:pPr indent="0" marL="0">
              <a:buNone/>
            </a:pPr>
            <a:r>
              <a:rPr lang="en-US" sz="1200" b="1" dirty="0">
                <a:solidFill>
                  <a:srgbClr val="1F1F2E"/>
                </a:solidFill>
                <a:latin typeface="Arial" pitchFamily="34" charset="0"/>
                <a:ea typeface="Arial" pitchFamily="34" charset="-122"/>
                <a:cs typeface="Arial" pitchFamily="34" charset="-120"/>
              </a:rPr>
              <a:t>Verdicts:  </a:t>
            </a:r>
            <a:pPr indent="0" marL="0">
              <a:buNone/>
            </a:pPr>
            <a:r>
              <a:rPr lang="en-US" sz="1200" dirty="0">
                <a:solidFill>
                  <a:srgbClr val="1F1F2E"/>
                </a:solidFill>
                <a:latin typeface="Arial" pitchFamily="34" charset="0"/>
                <a:ea typeface="Arial" pitchFamily="34" charset="-122"/>
                <a:cs typeface="Arial" pitchFamily="34" charset="-120"/>
              </a:rPr>
              <a:t>all six pass (S1, C1–C5). Against the lookup (log loss; validation + 5 unseen storms, 4 cells): the model won 7 of 24 before and wins 23 of 24 now. The one loss: 258_9, dynamic + timing (0.168 against 0.163).</a:t>
            </a:r>
            <a:endParaRPr lang="en-US" sz="1200" dirty="0"/>
          </a:p>
        </p:txBody>
      </p:sp>
      <p:sp>
        <p:nvSpPr>
          <p:cNvPr id="12" name="Text 9"/>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Arrow: without → with the storm-size input, mean of seeds 1 and 2 (they agree within 0.02 on count error, one exception in backup). Old 17 storms. Torch jobs 19358319 (training) and 19358351 (scoring): 20 of 20 pass every gate.</a:t>
            </a:r>
            <a:endParaRPr lang="en-US" sz="950" dirty="0"/>
          </a:p>
        </p:txBody>
      </p:sp>
      <p:sp>
        <p:nvSpPr>
          <p:cNvPr id="13" name="Shape 10"/>
          <p:cNvSpPr/>
          <p:nvPr/>
        </p:nvSpPr>
        <p:spPr>
          <a:xfrm>
            <a:off x="457200" y="5943600"/>
            <a:ext cx="11274552" cy="621792"/>
          </a:xfrm>
          <a:prstGeom prst="rect">
            <a:avLst/>
          </a:prstGeom>
          <a:solidFill>
            <a:srgbClr val="EFEBF9"/>
          </a:solidFill>
          <a:ln w="9525">
            <a:solidFill>
              <a:srgbClr val="D9D0F0"/>
            </a:solidFill>
            <a:prstDash val="solid"/>
          </a:ln>
        </p:spPr>
      </p:sp>
      <p:sp>
        <p:nvSpPr>
          <p:cNvPr id="14" name="Text 11"/>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4A3D7A"/>
                </a:solidFill>
                <a:latin typeface="Arial" pitchFamily="34" charset="0"/>
                <a:ea typeface="Arial" pitchFamily="34" charset="-122"/>
                <a:cs typeface="Arial" pitchFamily="34" charset="-120"/>
              </a:rPr>
              <a:t>It worked, and it worked the way we wrote down beforehand. With one extra input, the count error drops from about half to about one sixth, the small storm is no longer read as a big one, and the model now beats the lookup table almost everywhere. Sandy version: once every operator knows how much of each system is under water, the damage estimate comes out the right size.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48 new GISSR storms separate storm size from storm speed. They add water levels and timing, not new flood patterns</a:t>
            </a:r>
            <a:endParaRPr lang="en-US" sz="2200" dirty="0"/>
          </a:p>
        </p:txBody>
      </p:sp>
      <p:graphicFrame>
        <p:nvGraphicFramePr>
          <p:cNvPr id="3" name="Chart 0" descr=""/>
          <p:cNvGraphicFramePr/>
          <p:nvPr/>
        </p:nvGraphicFramePr>
        <p:xfrm>
          <a:off x="457200" y="1371600"/>
          <a:ext cx="5852160" cy="34290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537960" y="1371600"/>
            <a:ext cx="5193792" cy="3429000"/>
          </a:xfrm>
          <a:prstGeom prst="roundRect">
            <a:avLst>
              <a:gd name="adj" fmla="val 1600"/>
            </a:avLst>
          </a:prstGeom>
          <a:solidFill>
            <a:srgbClr val="EFEBF9"/>
          </a:solidFill>
          <a:ln w="9525">
            <a:solidFill>
              <a:srgbClr val="D9D0F0"/>
            </a:solidFill>
            <a:prstDash val="solid"/>
          </a:ln>
        </p:spPr>
      </p:sp>
      <p:sp>
        <p:nvSpPr>
          <p:cNvPr id="5" name="Text 2"/>
          <p:cNvSpPr txBox="1"/>
          <p:nvPr/>
        </p:nvSpPr>
        <p:spPr>
          <a:xfrm>
            <a:off x="6720840" y="1481328"/>
            <a:ext cx="4828032" cy="320040"/>
          </a:xfrm>
          <a:prstGeom prst="rect">
            <a:avLst/>
          </a:prstGeom>
          <a:noFill/>
          <a:ln/>
        </p:spPr>
        <p:txBody>
          <a:bodyPr wrap="square" lIns="0" tIns="0" rIns="0" bIns="0" rtlCol="0" anchor="t"/>
          <a:lstStyle/>
          <a:p>
            <a:pPr indent="0" marL="0">
              <a:buNone/>
            </a:pPr>
            <a:r>
              <a:rPr lang="en-US" sz="1300" b="1" dirty="0">
                <a:solidFill>
                  <a:srgbClr val="4A3D7A"/>
                </a:solidFill>
                <a:latin typeface="Arial" pitchFamily="34" charset="0"/>
                <a:ea typeface="Arial" pitchFamily="34" charset="-122"/>
                <a:cs typeface="Arial" pitchFamily="34" charset="-120"/>
              </a:rPr>
              <a:t>How they were chosen, and what they are</a:t>
            </a:r>
            <a:endParaRPr lang="en-US" sz="1300" dirty="0"/>
          </a:p>
        </p:txBody>
      </p:sp>
      <p:sp>
        <p:nvSpPr>
          <p:cNvPr id="6" name="Text 3"/>
          <p:cNvSpPr txBox="1"/>
          <p:nvPr/>
        </p:nvSpPr>
        <p:spPr>
          <a:xfrm>
            <a:off x="6720840" y="1847088"/>
            <a:ext cx="4828032" cy="2862072"/>
          </a:xfrm>
          <a:prstGeom prst="rect">
            <a:avLst/>
          </a:prstGeom>
          <a:noFill/>
          <a:ln/>
        </p:spPr>
        <p:txBody>
          <a:bodyPr wrap="square" lIns="0" tIns="0" rIns="0" bIns="0" rtlCol="0" anchor="t"/>
          <a:lstStyle/>
          <a:p>
            <a:pPr indent="0" marL="0">
              <a:spcAft>
                <a:spcPts val="700"/>
              </a:spcAft>
              <a:buNone/>
            </a:pPr>
            <a:r>
              <a:rPr lang="en-US" sz="1150" b="1" dirty="0">
                <a:solidFill>
                  <a:srgbClr val="1F1F2E"/>
                </a:solidFill>
                <a:latin typeface="Arial" pitchFamily="34" charset="0"/>
                <a:ea typeface="Arial" pitchFamily="34" charset="-122"/>
                <a:cs typeface="Arial" pitchFamily="34" charset="-120"/>
              </a:rPr>
              <a:t>A written rule, fixed before any cascade result. </a:t>
            </a:r>
            <a:pPr indent="0" marL="0">
              <a:spcAft>
                <a:spcPts val="700"/>
              </a:spcAft>
              <a:buNone/>
            </a:pPr>
            <a:r>
              <a:rPr lang="en-US" sz="1150" dirty="0">
                <a:solidFill>
                  <a:srgbClr val="1F1F2E"/>
                </a:solidFill>
                <a:latin typeface="Arial" pitchFamily="34" charset="0"/>
                <a:ea typeface="Arial" pitchFamily="34" charset="-122"/>
                <a:cs typeface="Arial" pitchFamily="34" charset="-120"/>
              </a:rPr>
              <a:t>From 73,940 catalogue storms: 40 levels evenly spaced from 1.9 to 4.6 m (old training stopped at 3.6 m), alternating fast storms (site wet 2 h before the peak) and slow ones (12 h).</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Size and speed are now separate. </a:t>
            </a:r>
            <a:pPr indent="0" marL="0">
              <a:spcAft>
                <a:spcPts val="700"/>
              </a:spcAft>
              <a:buNone/>
            </a:pPr>
            <a:r>
              <a:rPr lang="en-US" sz="1150" dirty="0">
                <a:solidFill>
                  <a:srgbClr val="1F1F2E"/>
                </a:solidFill>
                <a:latin typeface="Arial" pitchFamily="34" charset="0"/>
                <a:ea typeface="Arial" pitchFamily="34" charset="-122"/>
                <a:cs typeface="Arial" pitchFamily="34" charset="-120"/>
              </a:rPr>
              <a:t>In the 20 delivered storms the big ones were also the slow ones (correlation 0.82); in the new 40 it is 0.07.</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Labels are done: </a:t>
            </a:r>
            <a:pPr indent="0" marL="0">
              <a:spcAft>
                <a:spcPts val="700"/>
              </a:spcAft>
              <a:buNone/>
            </a:pPr>
            <a:r>
              <a:rPr lang="en-US" sz="1150" dirty="0">
                <a:solidFill>
                  <a:srgbClr val="1F1F2E"/>
                </a:solidFill>
                <a:latin typeface="Arial" pitchFamily="34" charset="0"/>
                <a:ea typeface="Arial" pitchFamily="34" charset="-122"/>
                <a:cs typeface="Arial" pitchFamily="34" charset="-120"/>
              </a:rPr>
              <a:t>1,000 simulator runs per storm, both label types. The wrapper reproduces the old campaign record for record.</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Limit: </a:t>
            </a:r>
            <a:pPr indent="0" marL="0">
              <a:spcAft>
                <a:spcPts val="700"/>
              </a:spcAft>
              <a:buNone/>
            </a:pPr>
            <a:r>
              <a:rPr lang="en-US" sz="1150" dirty="0">
                <a:solidFill>
                  <a:srgbClr val="1F1F2E"/>
                </a:solidFill>
                <a:latin typeface="Arial" pitchFamily="34" charset="0"/>
                <a:ea typeface="Arial" pitchFamily="34" charset="-122"/>
                <a:cs typeface="Arial" pitchFamily="34" charset="-120"/>
              </a:rPr>
              <a:t>a GISSR map is almost fixed by the peak level (rank correlation 0.9998 with the number of wet sites). New flood patterns need a different flood model.</a:t>
            </a:r>
            <a:endParaRPr lang="en-US" sz="1150" dirty="0"/>
          </a:p>
        </p:txBody>
      </p:sp>
      <p:sp>
        <p:nvSpPr>
          <p:cNvPr id="7" name="Shape 4"/>
          <p:cNvSpPr/>
          <p:nvPr/>
        </p:nvSpPr>
        <p:spPr>
          <a:xfrm>
            <a:off x="457200" y="4919472"/>
            <a:ext cx="11274552" cy="621792"/>
          </a:xfrm>
          <a:prstGeom prst="rect">
            <a:avLst/>
          </a:prstGeom>
          <a:solidFill>
            <a:srgbClr val="EFEBF9"/>
          </a:solidFill>
          <a:ln w="9525">
            <a:solidFill>
              <a:srgbClr val="D9D0F0"/>
            </a:solidFill>
            <a:prstDash val="solid"/>
          </a:ln>
        </p:spPr>
      </p:sp>
      <p:sp>
        <p:nvSpPr>
          <p:cNvPr id="8" name="Text 5"/>
          <p:cNvSpPr txBox="1"/>
          <p:nvPr/>
        </p:nvSpPr>
        <p:spPr>
          <a:xfrm>
            <a:off x="640080" y="4919472"/>
            <a:ext cx="10927080" cy="621792"/>
          </a:xfrm>
          <a:prstGeom prst="rect">
            <a:avLst/>
          </a:prstGeom>
          <a:noFill/>
          <a:ln/>
        </p:spPr>
        <p:txBody>
          <a:bodyPr wrap="square" lIns="0" tIns="0" rIns="0" bIns="0" rtlCol="0" anchor="ctr"/>
          <a:lstStyle/>
          <a:p>
            <a:pPr indent="0" marL="0">
              <a:buNone/>
            </a:pPr>
            <a:r>
              <a:rPr lang="en-US" sz="1200" b="1" dirty="0">
                <a:solidFill>
                  <a:srgbClr val="1F1F2E"/>
                </a:solidFill>
                <a:latin typeface="Arial" pitchFamily="34" charset="0"/>
                <a:ea typeface="Arial" pitchFamily="34" charset="-122"/>
                <a:cs typeface="Arial" pitchFamily="34" charset="-120"/>
              </a:rPr>
              <a:t>For Gwyn:  </a:t>
            </a:r>
            <a:pPr indent="0" marL="0">
              <a:buNone/>
            </a:pPr>
            <a:r>
              <a:rPr lang="en-US" sz="1200" dirty="0">
                <a:solidFill>
                  <a:srgbClr val="1F1F2E"/>
                </a:solidFill>
                <a:latin typeface="Arial" pitchFamily="34" charset="0"/>
                <a:ea typeface="Arial" pitchFamily="34" charset="-122"/>
                <a:cs typeface="Arial" pitchFamily="34" charset="-120"/>
              </a:rPr>
              <a:t>her 20 maps are reproduced by one-hour time steps (13 wet/dry differences among 5,827 wet sites), not by each storm's own time steps (228). Which did she intend?</a:t>
            </a:r>
            <a:endParaRPr lang="en-US" sz="1200" dirty="0"/>
          </a:p>
        </p:txBody>
      </p:sp>
      <p:sp>
        <p:nvSpPr>
          <p:cNvPr id="9" name="Text 6"/>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data/flood/gissr48_manifest_v1.csv. Label campaign: Torch job 19306610, 98 tasks, identity checks pass at 1,000 runs. 8 held out: 7 between training levels, 1 above the range (4.72 m).</a:t>
            </a:r>
            <a:endParaRPr lang="en-US" sz="950" dirty="0"/>
          </a:p>
        </p:txBody>
      </p:sp>
      <p:sp>
        <p:nvSpPr>
          <p:cNvPr id="10" name="Shape 7"/>
          <p:cNvSpPr/>
          <p:nvPr/>
        </p:nvSpPr>
        <p:spPr>
          <a:xfrm>
            <a:off x="457200" y="5943600"/>
            <a:ext cx="11274552" cy="621792"/>
          </a:xfrm>
          <a:prstGeom prst="rect">
            <a:avLst/>
          </a:prstGeom>
          <a:solidFill>
            <a:srgbClr val="EFEBF9"/>
          </a:solidFill>
          <a:ln w="9525">
            <a:solidFill>
              <a:srgbClr val="D9D0F0"/>
            </a:solidFill>
            <a:prstDash val="solid"/>
          </a:ln>
        </p:spPr>
      </p:sp>
      <p:sp>
        <p:nvSpPr>
          <p:cNvPr id="11" name="Text 8"/>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4A3D7A"/>
                </a:solidFill>
                <a:latin typeface="Arial" pitchFamily="34" charset="0"/>
                <a:ea typeface="Arial" pitchFamily="34" charset="-122"/>
                <a:cs typeface="Arial" pitchFamily="34" charset="-120"/>
              </a:rPr>
              <a:t>You asked for more flood maps. I generated 48 new storms from Gwyn's model by a rule written in advance, and ran the simulator on all of them. They fix a flaw in the first 20, where big storms were always slow ones. One caution: these maps differ in level and timing, not in where the water goes.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Under arrival labels cascades are larger, and above 3.6 m a slow storm does more damage than a fast one of the same size</a:t>
            </a:r>
            <a:endParaRPr lang="en-US" sz="2200" dirty="0"/>
          </a:p>
        </p:txBody>
      </p:sp>
      <p:graphicFrame>
        <p:nvGraphicFramePr>
          <p:cNvPr id="3" name="Chart 0" descr=""/>
          <p:cNvGraphicFramePr/>
          <p:nvPr/>
        </p:nvGraphicFramePr>
        <p:xfrm>
          <a:off x="457200" y="1371600"/>
          <a:ext cx="6949440" cy="34290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635240" y="1371600"/>
            <a:ext cx="4096512" cy="3429000"/>
          </a:xfrm>
          <a:prstGeom prst="roundRect">
            <a:avLst>
              <a:gd name="adj" fmla="val 1600"/>
            </a:avLst>
          </a:prstGeom>
          <a:solidFill>
            <a:srgbClr val="EFEBF9"/>
          </a:solidFill>
          <a:ln w="9525">
            <a:solidFill>
              <a:srgbClr val="D9D0F0"/>
            </a:solidFill>
            <a:prstDash val="solid"/>
          </a:ln>
        </p:spPr>
      </p:sp>
      <p:sp>
        <p:nvSpPr>
          <p:cNvPr id="5" name="Text 2"/>
          <p:cNvSpPr txBox="1"/>
          <p:nvPr/>
        </p:nvSpPr>
        <p:spPr>
          <a:xfrm>
            <a:off x="7818120" y="1481328"/>
            <a:ext cx="3730752" cy="320040"/>
          </a:xfrm>
          <a:prstGeom prst="rect">
            <a:avLst/>
          </a:prstGeom>
          <a:noFill/>
          <a:ln/>
        </p:spPr>
        <p:txBody>
          <a:bodyPr wrap="square" lIns="0" tIns="0" rIns="0" bIns="0" rtlCol="0" anchor="t"/>
          <a:lstStyle/>
          <a:p>
            <a:pPr indent="0" marL="0">
              <a:buNone/>
            </a:pPr>
            <a:r>
              <a:rPr lang="en-US" sz="1300" b="1" dirty="0">
                <a:solidFill>
                  <a:srgbClr val="4A3D7A"/>
                </a:solidFill>
                <a:latin typeface="Arial" pitchFamily="34" charset="0"/>
                <a:ea typeface="Arial" pitchFamily="34" charset="-122"/>
                <a:cs typeface="Arial" pitchFamily="34" charset="-120"/>
              </a:rPr>
              <a:t>What the simulator says</a:t>
            </a:r>
            <a:endParaRPr lang="en-US" sz="1300" dirty="0"/>
          </a:p>
        </p:txBody>
      </p:sp>
      <p:sp>
        <p:nvSpPr>
          <p:cNvPr id="6" name="Text 3"/>
          <p:cNvSpPr txBox="1"/>
          <p:nvPr/>
        </p:nvSpPr>
        <p:spPr>
          <a:xfrm>
            <a:off x="7818120" y="1847088"/>
            <a:ext cx="3730752" cy="2862072"/>
          </a:xfrm>
          <a:prstGeom prst="rect">
            <a:avLst/>
          </a:prstGeom>
          <a:noFill/>
          <a:ln/>
        </p:spPr>
        <p:txBody>
          <a:bodyPr wrap="square" lIns="0" tIns="0" rIns="0" bIns="0" rtlCol="0" anchor="t"/>
          <a:lstStyle/>
          <a:p>
            <a:pPr indent="0" marL="0">
              <a:spcAft>
                <a:spcPts val="700"/>
              </a:spcAft>
              <a:buNone/>
            </a:pPr>
            <a:r>
              <a:rPr lang="en-US" sz="1150" b="1" dirty="0">
                <a:solidFill>
                  <a:srgbClr val="1F1F2E"/>
                </a:solidFill>
                <a:latin typeface="Arial" pitchFamily="34" charset="0"/>
                <a:ea typeface="Arial" pitchFamily="34" charset="-122"/>
                <a:cs typeface="Arial" pitchFamily="34" charset="-120"/>
              </a:rPr>
              <a:t>Static labels </a:t>
            </a:r>
            <a:pPr indent="0" marL="0">
              <a:spcAft>
                <a:spcPts val="700"/>
              </a:spcAft>
              <a:buNone/>
            </a:pPr>
            <a:r>
              <a:rPr lang="en-US" sz="1150" dirty="0">
                <a:solidFill>
                  <a:srgbClr val="1F1F2E"/>
                </a:solidFill>
                <a:latin typeface="Arial" pitchFamily="34" charset="0"/>
                <a:ea typeface="Arial" pitchFamily="34" charset="-122"/>
                <a:cs typeface="Arial" pitchFamily="34" charset="-120"/>
              </a:rPr>
              <a:t>rise smoothly with the water level, from 130 to 2,660 failed sites; the steep part is between about 2.2 and 2.6 m.</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Arrival labels </a:t>
            </a:r>
            <a:pPr indent="0" marL="0">
              <a:spcAft>
                <a:spcPts val="700"/>
              </a:spcAft>
              <a:buNone/>
            </a:pPr>
            <a:r>
              <a:rPr lang="en-US" sz="1150" dirty="0">
                <a:solidFill>
                  <a:srgbClr val="1F1F2E"/>
                </a:solidFill>
                <a:latin typeface="Arial" pitchFamily="34" charset="0"/>
                <a:ea typeface="Arial" pitchFamily="34" charset="-122"/>
                <a:cs typeface="Arial" pitchFamily="34" charset="-120"/>
              </a:rPr>
              <a:t>give 2–50 % more failures on the same storm, with a second step near 3.2 m (2,300 to 3,000 sites).</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Size is not everything: </a:t>
            </a:r>
            <a:pPr indent="0" marL="0">
              <a:spcAft>
                <a:spcPts val="700"/>
              </a:spcAft>
              <a:buNone/>
            </a:pPr>
            <a:r>
              <a:rPr lang="en-US" sz="1150" dirty="0">
                <a:solidFill>
                  <a:srgbClr val="1F1F2E"/>
                </a:solidFill>
                <a:latin typeface="Arial" pitchFamily="34" charset="0"/>
                <a:ea typeface="Arial" pitchFamily="34" charset="-122"/>
                <a:cs typeface="Arial" pitchFamily="34" charset="-120"/>
              </a:rPr>
              <a:t>above 3.9 m slow storms end at 3,630–3,720 failed sites and fast ones at 3,090–3,190 (one exception, at 4.23 m). The fast ones also vary about three times as much from run to run.</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Why it matters: </a:t>
            </a:r>
            <a:pPr indent="0" marL="0">
              <a:spcAft>
                <a:spcPts val="700"/>
              </a:spcAft>
              <a:buNone/>
            </a:pPr>
            <a:r>
              <a:rPr lang="en-US" sz="1150" dirty="0">
                <a:solidFill>
                  <a:srgbClr val="1F1F2E"/>
                </a:solidFill>
                <a:latin typeface="Arial" pitchFamily="34" charset="0"/>
                <a:ea typeface="Arial" pitchFamily="34" charset="-122"/>
                <a:cs typeface="Arial" pitchFamily="34" charset="-120"/>
              </a:rPr>
              <a:t>two storms of the same size can end 500 sites apart, so storm size alone cannot be the whole input.</a:t>
            </a:r>
            <a:endParaRPr lang="en-US" sz="1150" dirty="0"/>
          </a:p>
        </p:txBody>
      </p:sp>
      <p:sp>
        <p:nvSpPr>
          <p:cNvPr id="7" name="Shape 4"/>
          <p:cNvSpPr/>
          <p:nvPr/>
        </p:nvSpPr>
        <p:spPr>
          <a:xfrm>
            <a:off x="457200" y="4919472"/>
            <a:ext cx="11274552" cy="621792"/>
          </a:xfrm>
          <a:prstGeom prst="rect">
            <a:avLst/>
          </a:prstGeom>
          <a:solidFill>
            <a:srgbClr val="EFEBF9"/>
          </a:solidFill>
          <a:ln w="9525">
            <a:solidFill>
              <a:srgbClr val="D9D0F0"/>
            </a:solidFill>
            <a:prstDash val="solid"/>
          </a:ln>
        </p:spPr>
      </p:sp>
      <p:sp>
        <p:nvSpPr>
          <p:cNvPr id="8" name="Text 5"/>
          <p:cNvSpPr txBox="1"/>
          <p:nvPr/>
        </p:nvSpPr>
        <p:spPr>
          <a:xfrm>
            <a:off x="640080" y="4919472"/>
            <a:ext cx="10927080" cy="621792"/>
          </a:xfrm>
          <a:prstGeom prst="rect">
            <a:avLst/>
          </a:prstGeom>
          <a:noFill/>
          <a:ln/>
        </p:spPr>
        <p:txBody>
          <a:bodyPr wrap="square" lIns="0" tIns="0" rIns="0" bIns="0" rtlCol="0" anchor="ctr"/>
          <a:lstStyle/>
          <a:p>
            <a:pPr indent="0" marL="0">
              <a:buNone/>
            </a:pPr>
            <a:r>
              <a:rPr lang="en-US" sz="1200" b="1" dirty="0">
                <a:solidFill>
                  <a:srgbClr val="1F1F2E"/>
                </a:solidFill>
                <a:latin typeface="Arial" pitchFamily="34" charset="0"/>
                <a:ea typeface="Arial" pitchFamily="34" charset="-122"/>
                <a:cs typeface="Arial" pitchFamily="34" charset="-120"/>
              </a:rPr>
              <a:t>Source:  </a:t>
            </a:r>
            <a:pPr indent="0" marL="0">
              <a:buNone/>
            </a:pPr>
            <a:r>
              <a:rPr lang="en-US" sz="1200" dirty="0">
                <a:solidFill>
                  <a:srgbClr val="1F1F2E"/>
                </a:solidFill>
                <a:latin typeface="Arial" pitchFamily="34" charset="0"/>
                <a:ea typeface="Arial" pitchFamily="34" charset="-122"/>
                <a:cs typeface="Arial" pitchFamily="34" charset="-120"/>
              </a:rPr>
              <a:t>1,000 simulator runs per storm and label type (Torch job 19306610, 96 of 96 complete). The identity check reproduces the old campaign record for record.</a:t>
            </a:r>
            <a:endParaRPr lang="en-US" sz="1200" dirty="0"/>
          </a:p>
        </p:txBody>
      </p:sp>
      <p:sp>
        <p:nvSpPr>
          <p:cNvPr id="9" name="Text 6"/>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Static: all flooded sites switch off at once. Arrival: each site switches off when the water reaches it. Same dice in both. Clock anchored at the peak, 6-hour grid.</a:t>
            </a:r>
            <a:endParaRPr lang="en-US" sz="950" dirty="0"/>
          </a:p>
        </p:txBody>
      </p:sp>
      <p:sp>
        <p:nvSpPr>
          <p:cNvPr id="10" name="Shape 7"/>
          <p:cNvSpPr/>
          <p:nvPr/>
        </p:nvSpPr>
        <p:spPr>
          <a:xfrm>
            <a:off x="457200" y="5943600"/>
            <a:ext cx="11274552" cy="621792"/>
          </a:xfrm>
          <a:prstGeom prst="rect">
            <a:avLst/>
          </a:prstGeom>
          <a:solidFill>
            <a:srgbClr val="EFEBF9"/>
          </a:solidFill>
          <a:ln w="9525">
            <a:solidFill>
              <a:srgbClr val="D9D0F0"/>
            </a:solidFill>
            <a:prstDash val="solid"/>
          </a:ln>
        </p:spPr>
      </p:sp>
      <p:sp>
        <p:nvSpPr>
          <p:cNvPr id="11" name="Text 8"/>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4A3D7A"/>
                </a:solidFill>
                <a:latin typeface="Arial" pitchFamily="34" charset="0"/>
                <a:ea typeface="Arial" pitchFamily="34" charset="-122"/>
                <a:cs typeface="Arial" pitchFamily="34" charset="-120"/>
              </a:rPr>
              <a:t>This is what the new storms teach us about the simulator itself. When each site switches off as the water reaches it, cascades are larger, and for the big storms a slow one ends about 500 sites above a fast one of the same size. So two storms of the same size can end differently.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Old + new storms: more storms help most above the old range, the storm-size input helps everywhere, and together they halve the error</a:t>
            </a:r>
            <a:endParaRPr lang="en-US" sz="2200" dirty="0"/>
          </a:p>
        </p:txBody>
      </p:sp>
      <p:graphicFrame>
        <p:nvGraphicFramePr>
          <p:cNvPr id="3" name="Chart 0" descr=""/>
          <p:cNvGraphicFramePr/>
          <p:nvPr/>
        </p:nvGraphicFramePr>
        <p:xfrm>
          <a:off x="457200" y="1371600"/>
          <a:ext cx="5852160" cy="34290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537960" y="1371600"/>
            <a:ext cx="5193792" cy="3429000"/>
          </a:xfrm>
          <a:prstGeom prst="roundRect">
            <a:avLst>
              <a:gd name="adj" fmla="val 1600"/>
            </a:avLst>
          </a:prstGeom>
          <a:solidFill>
            <a:srgbClr val="EFEBF9"/>
          </a:solidFill>
          <a:ln w="9525">
            <a:solidFill>
              <a:srgbClr val="D9D0F0"/>
            </a:solidFill>
            <a:prstDash val="solid"/>
          </a:ln>
        </p:spPr>
      </p:sp>
      <p:sp>
        <p:nvSpPr>
          <p:cNvPr id="5" name="Text 2"/>
          <p:cNvSpPr txBox="1"/>
          <p:nvPr/>
        </p:nvSpPr>
        <p:spPr>
          <a:xfrm>
            <a:off x="6720840" y="1481328"/>
            <a:ext cx="4828032" cy="320040"/>
          </a:xfrm>
          <a:prstGeom prst="rect">
            <a:avLst/>
          </a:prstGeom>
          <a:noFill/>
          <a:ln/>
        </p:spPr>
        <p:txBody>
          <a:bodyPr wrap="square" lIns="0" tIns="0" rIns="0" bIns="0" rtlCol="0" anchor="t"/>
          <a:lstStyle/>
          <a:p>
            <a:pPr indent="0" marL="0">
              <a:buNone/>
            </a:pPr>
            <a:r>
              <a:rPr lang="en-US" sz="1300" b="1" dirty="0">
                <a:solidFill>
                  <a:srgbClr val="4A3D7A"/>
                </a:solidFill>
                <a:latin typeface="Arial" pitchFamily="34" charset="0"/>
                <a:ea typeface="Arial" pitchFamily="34" charset="-122"/>
                <a:cs typeface="Arial" pitchFamily="34" charset="-120"/>
              </a:rPr>
              <a:t>Same model, same number of training runs</a:t>
            </a:r>
            <a:endParaRPr lang="en-US" sz="1300" dirty="0"/>
          </a:p>
        </p:txBody>
      </p:sp>
      <p:sp>
        <p:nvSpPr>
          <p:cNvPr id="6" name="Text 3"/>
          <p:cNvSpPr txBox="1"/>
          <p:nvPr/>
        </p:nvSpPr>
        <p:spPr>
          <a:xfrm>
            <a:off x="6720840" y="1847088"/>
            <a:ext cx="4828032" cy="2862072"/>
          </a:xfrm>
          <a:prstGeom prst="rect">
            <a:avLst/>
          </a:prstGeom>
          <a:noFill/>
          <a:ln/>
        </p:spPr>
        <p:txBody>
          <a:bodyPr wrap="square" lIns="0" tIns="0" rIns="0" bIns="0" rtlCol="0" anchor="t"/>
          <a:lstStyle/>
          <a:p>
            <a:pPr indent="0" marL="0">
              <a:spcAft>
                <a:spcPts val="700"/>
              </a:spcAft>
              <a:buNone/>
            </a:pPr>
            <a:r>
              <a:rPr lang="en-US" sz="1150" b="1" dirty="0">
                <a:solidFill>
                  <a:srgbClr val="1F1F2E"/>
                </a:solidFill>
                <a:latin typeface="Arial" pitchFamily="34" charset="0"/>
                <a:ea typeface="Arial" pitchFamily="34" charset="-122"/>
                <a:cs typeface="Arial" pitchFamily="34" charset="-120"/>
              </a:rPr>
              <a:t>More storms alone: </a:t>
            </a:r>
            <a:pPr indent="0" marL="0">
              <a:spcAft>
                <a:spcPts val="700"/>
              </a:spcAft>
              <a:buNone/>
            </a:pPr>
            <a:r>
              <a:rPr lang="en-US" sz="1150" dirty="0">
                <a:solidFill>
                  <a:srgbClr val="1F1F2E"/>
                </a:solidFill>
                <a:latin typeface="Arial" pitchFamily="34" charset="0"/>
                <a:ea typeface="Arial" pitchFamily="34" charset="-122"/>
                <a:cs typeface="Arial" pitchFamily="34" charset="-120"/>
              </a:rPr>
              <a:t>log loss down 18 % (static) and 22 % (dynamic); 26–44 % on all 5 storms above the old range. The size error stays: the two small storms go from 3.3–3.9 to 4.2–5.2 times the simulated count, and the lookup still wins on 9–11 of 12 GISSR storms.</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Storm size alone: </a:t>
            </a:r>
            <a:pPr indent="0" marL="0">
              <a:spcAft>
                <a:spcPts val="700"/>
              </a:spcAft>
              <a:buNone/>
            </a:pPr>
            <a:r>
              <a:rPr lang="en-US" sz="1150" dirty="0">
                <a:solidFill>
                  <a:srgbClr val="1F1F2E"/>
                </a:solidFill>
                <a:latin typeface="Arial" pitchFamily="34" charset="0"/>
                <a:ea typeface="Arial" pitchFamily="34" charset="-122"/>
                <a:cs typeface="Arial" pitchFamily="34" charset="-120"/>
              </a:rPr>
              <a:t>down 41 % and 45 %. Better than more storms alone on 11 and 12 of the 13 storms.</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Both: </a:t>
            </a:r>
            <a:pPr indent="0" marL="0">
              <a:spcAft>
                <a:spcPts val="700"/>
              </a:spcAft>
              <a:buNone/>
            </a:pPr>
            <a:r>
              <a:rPr lang="en-US" sz="1150" dirty="0">
                <a:solidFill>
                  <a:srgbClr val="1F1F2E"/>
                </a:solidFill>
                <a:latin typeface="Arial" pitchFamily="34" charset="0"/>
                <a:ea typeface="Arial" pitchFamily="34" charset="-122"/>
                <a:cs typeface="Arial" pitchFamily="34" charset="-120"/>
              </a:rPr>
              <a:t>down 49 % and 57 %. Above the old range, 7–42 % below storm size alone on all 5 storms; counts there within 5 %.</a:t>
            </a:r>
            <a:endParaRPr lang="en-US" sz="1150" dirty="0"/>
          </a:p>
          <a:p>
            <a:pPr indent="0" marL="0">
              <a:spcAft>
                <a:spcPts val="700"/>
              </a:spcAft>
              <a:buNone/>
            </a:pPr>
            <a:r>
              <a:rPr lang="en-US" sz="1150" b="1" dirty="0">
                <a:solidFill>
                  <a:srgbClr val="B5443C"/>
                </a:solidFill>
                <a:latin typeface="Arial" pitchFamily="34" charset="0"/>
                <a:ea typeface="Arial" pitchFamily="34" charset="-122"/>
                <a:cs typeface="Arial" pitchFamily="34" charset="-120"/>
              </a:rPr>
              <a:t>Watch: </a:t>
            </a:r>
            <a:pPr indent="0" marL="0">
              <a:spcAft>
                <a:spcPts val="700"/>
              </a:spcAft>
              <a:buNone/>
            </a:pPr>
            <a:r>
              <a:rPr lang="en-US" sz="1150" dirty="0">
                <a:solidFill>
                  <a:srgbClr val="1F1F2E"/>
                </a:solidFill>
                <a:latin typeface="Arial" pitchFamily="34" charset="0"/>
                <a:ea typeface="Arial" pitchFamily="34" charset="-122"/>
                <a:cs typeface="Arial" pitchFamily="34" charset="-120"/>
              </a:rPr>
              <a:t>with both, the two smallest storms are over-counted by 26–57 % (with 17 storms: 24 % under to 8 % over).</a:t>
            </a:r>
            <a:endParaRPr lang="en-US" sz="1150" dirty="0"/>
          </a:p>
        </p:txBody>
      </p:sp>
      <p:sp>
        <p:nvSpPr>
          <p:cNvPr id="7" name="Shape 4"/>
          <p:cNvSpPr/>
          <p:nvPr/>
        </p:nvSpPr>
        <p:spPr>
          <a:xfrm>
            <a:off x="457200" y="4919472"/>
            <a:ext cx="11274552" cy="621792"/>
          </a:xfrm>
          <a:prstGeom prst="rect">
            <a:avLst/>
          </a:prstGeom>
          <a:solidFill>
            <a:srgbClr val="EFEBF9"/>
          </a:solidFill>
          <a:ln w="9525">
            <a:solidFill>
              <a:srgbClr val="D9D0F0"/>
            </a:solidFill>
            <a:prstDash val="solid"/>
          </a:ln>
        </p:spPr>
      </p:sp>
      <p:sp>
        <p:nvSpPr>
          <p:cNvPr id="8" name="Text 5"/>
          <p:cNvSpPr txBox="1"/>
          <p:nvPr/>
        </p:nvSpPr>
        <p:spPr>
          <a:xfrm>
            <a:off x="640080" y="4919472"/>
            <a:ext cx="10927080" cy="621792"/>
          </a:xfrm>
          <a:prstGeom prst="rect">
            <a:avLst/>
          </a:prstGeom>
          <a:noFill/>
          <a:ln/>
        </p:spPr>
        <p:txBody>
          <a:bodyPr wrap="square" lIns="0" tIns="0" rIns="0" bIns="0" rtlCol="0" anchor="ctr"/>
          <a:lstStyle/>
          <a:p>
            <a:pPr indent="0" marL="0">
              <a:buNone/>
            </a:pPr>
            <a:r>
              <a:rPr lang="en-US" sz="1200" b="1" dirty="0">
                <a:solidFill>
                  <a:srgbClr val="B5443C"/>
                </a:solidFill>
                <a:latin typeface="Arial" pitchFamily="34" charset="0"/>
                <a:ea typeface="Arial" pitchFamily="34" charset="-122"/>
                <a:cs typeface="Arial" pitchFamily="34" charset="-120"/>
              </a:rPr>
              <a:t>Interim:  </a:t>
            </a:r>
            <a:pPr indent="0" marL="0">
              <a:buNone/>
            </a:pPr>
            <a:r>
              <a:rPr lang="en-US" sz="1200" dirty="0">
                <a:solidFill>
                  <a:srgbClr val="1F1F2E"/>
                </a:solidFill>
                <a:latin typeface="Arial" pitchFamily="34" charset="0"/>
                <a:ea typeface="Arial" pitchFamily="34" charset="-122"/>
                <a:cs typeface="Arial" pitchFamily="34" charset="-120"/>
              </a:rPr>
              <a:t>two of three arms, two of four cells, one seed each. No verdict on the written predictions (M1–M7, L1): they need the all-runs arm, which the cluster cancelled 2 h 15 min into a 4-hour run.</a:t>
            </a:r>
            <a:endParaRPr lang="en-US" sz="1200" dirty="0"/>
          </a:p>
        </p:txBody>
      </p:sp>
      <p:sp>
        <p:nvSpPr>
          <p:cNvPr id="9" name="Text 6"/>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Mean log loss on non-seed sites over the 13 unseen storms (5 old, 8 new; 1,000 runs each). 57 storms = 17 old + 40 new, 13,600 training runs as for 17. Seed yardstick (old model against its retrain): at most 0.002 static, 0.012 dynamic. Torch jobs 19358745, 19358746.</a:t>
            </a:r>
            <a:endParaRPr lang="en-US" sz="950" dirty="0"/>
          </a:p>
        </p:txBody>
      </p:sp>
      <p:sp>
        <p:nvSpPr>
          <p:cNvPr id="10" name="Shape 7"/>
          <p:cNvSpPr/>
          <p:nvPr/>
        </p:nvSpPr>
        <p:spPr>
          <a:xfrm>
            <a:off x="457200" y="5943600"/>
            <a:ext cx="11274552" cy="621792"/>
          </a:xfrm>
          <a:prstGeom prst="rect">
            <a:avLst/>
          </a:prstGeom>
          <a:solidFill>
            <a:srgbClr val="EFEBF9"/>
          </a:solidFill>
          <a:ln w="9525">
            <a:solidFill>
              <a:srgbClr val="D9D0F0"/>
            </a:solidFill>
            <a:prstDash val="solid"/>
          </a:ln>
        </p:spPr>
      </p:sp>
      <p:sp>
        <p:nvSpPr>
          <p:cNvPr id="11" name="Text 8"/>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4A3D7A"/>
                </a:solidFill>
                <a:latin typeface="Arial" pitchFamily="34" charset="0"/>
                <a:ea typeface="Arial" pitchFamily="34" charset="-122"/>
                <a:cs typeface="Arial" pitchFamily="34" charset="-120"/>
              </a:rPr>
              <a:t>This is the comparison you asked for. Adding the new storms helps, mostly for storms bigger than anything in the old set. But it does not fix the size problem by itself; the storm-size input does. With both, the error is about half of where we started. It is an interim result: one seed, and the run that uses all the new simulator runs was cancelled by the cluster.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Next: finish the more-storms runs, a storm summary that follows the clock, and flood maps with new patterns. Four decisions for you</a:t>
            </a:r>
            <a:endParaRPr lang="en-US" sz="2200" dirty="0"/>
          </a:p>
        </p:txBody>
      </p:sp>
      <p:sp>
        <p:nvSpPr>
          <p:cNvPr id="3" name="Shape 1"/>
          <p:cNvSpPr/>
          <p:nvPr/>
        </p:nvSpPr>
        <p:spPr>
          <a:xfrm>
            <a:off x="457200" y="1371600"/>
            <a:ext cx="5486400" cy="3429000"/>
          </a:xfrm>
          <a:prstGeom prst="roundRect">
            <a:avLst>
              <a:gd name="adj" fmla="val 1600"/>
            </a:avLst>
          </a:prstGeom>
          <a:solidFill>
            <a:srgbClr val="EFEBF9"/>
          </a:solidFill>
          <a:ln w="9525">
            <a:solidFill>
              <a:srgbClr val="D9D0F0"/>
            </a:solidFill>
            <a:prstDash val="solid"/>
          </a:ln>
        </p:spPr>
      </p:sp>
      <p:sp>
        <p:nvSpPr>
          <p:cNvPr id="4" name="Text 2"/>
          <p:cNvSpPr txBox="1"/>
          <p:nvPr/>
        </p:nvSpPr>
        <p:spPr>
          <a:xfrm>
            <a:off x="640080" y="1481328"/>
            <a:ext cx="5120640" cy="320040"/>
          </a:xfrm>
          <a:prstGeom prst="rect">
            <a:avLst/>
          </a:prstGeom>
          <a:noFill/>
          <a:ln/>
        </p:spPr>
        <p:txBody>
          <a:bodyPr wrap="square" lIns="0" tIns="0" rIns="0" bIns="0" rtlCol="0" anchor="t"/>
          <a:lstStyle/>
          <a:p>
            <a:pPr indent="0" marL="0">
              <a:buNone/>
            </a:pPr>
            <a:r>
              <a:rPr lang="en-US" sz="1300" b="1" dirty="0">
                <a:solidFill>
                  <a:srgbClr val="4A3D7A"/>
                </a:solidFill>
                <a:latin typeface="Arial" pitchFamily="34" charset="0"/>
                <a:ea typeface="Arial" pitchFamily="34" charset="-122"/>
                <a:cs typeface="Arial" pitchFamily="34" charset="-120"/>
              </a:rPr>
              <a:t>Next steps</a:t>
            </a:r>
            <a:endParaRPr lang="en-US" sz="1300" dirty="0"/>
          </a:p>
        </p:txBody>
      </p:sp>
      <p:sp>
        <p:nvSpPr>
          <p:cNvPr id="5" name="Text 3"/>
          <p:cNvSpPr txBox="1"/>
          <p:nvPr/>
        </p:nvSpPr>
        <p:spPr>
          <a:xfrm>
            <a:off x="640080" y="1847088"/>
            <a:ext cx="5120640" cy="2862072"/>
          </a:xfrm>
          <a:prstGeom prst="rect">
            <a:avLst/>
          </a:prstGeom>
          <a:noFill/>
          <a:ln/>
        </p:spPr>
        <p:txBody>
          <a:bodyPr wrap="square" lIns="0" tIns="0" rIns="0" bIns="0" rtlCol="0" anchor="t"/>
          <a:lstStyle/>
          <a:p>
            <a:pPr indent="0" marL="0">
              <a:spcAft>
                <a:spcPts val="700"/>
              </a:spcAft>
              <a:buNone/>
            </a:pPr>
            <a:r>
              <a:rPr lang="en-US" sz="1150" b="1" dirty="0">
                <a:solidFill>
                  <a:srgbClr val="1F1F2E"/>
                </a:solidFill>
                <a:latin typeface="Arial" pitchFamily="34" charset="0"/>
                <a:ea typeface="Arial" pitchFamily="34" charset="-122"/>
                <a:cs typeface="Arial" pitchFamily="34" charset="-120"/>
              </a:rPr>
              <a:t>1. Finish the more-storms comparison. </a:t>
            </a:r>
            <a:pPr indent="0" marL="0">
              <a:spcAft>
                <a:spcPts val="700"/>
              </a:spcAft>
              <a:buNone/>
            </a:pPr>
            <a:r>
              <a:rPr lang="en-US" sz="1150" dirty="0">
                <a:solidFill>
                  <a:srgbClr val="1F1F2E"/>
                </a:solidFill>
                <a:latin typeface="Arial" pitchFamily="34" charset="0"/>
                <a:ea typeface="Arial" pitchFamily="34" charset="-122"/>
                <a:cs typeface="Arial" pitchFamily="34" charset="-120"/>
              </a:rPr>
              <a:t>The all-runs arm (cancelled by the cluster), the second seed, and the other two cells, which also tell us whether the per-site timing inputs still help.</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2. Storm summary by hour. </a:t>
            </a:r>
            <a:pPr indent="0" marL="0">
              <a:spcAft>
                <a:spcPts val="700"/>
              </a:spcAft>
              <a:buNone/>
            </a:pPr>
            <a:r>
              <a:rPr lang="en-US" sz="1150" dirty="0">
                <a:solidFill>
                  <a:srgbClr val="1F1F2E"/>
                </a:solidFill>
                <a:latin typeface="Arial" pitchFamily="34" charset="0"/>
                <a:ea typeface="Arial" pitchFamily="34" charset="-122"/>
                <a:cs typeface="Arial" pitchFamily="34" charset="-120"/>
              </a:rPr>
              <a:t>Today's summary is one number per system for the whole storm. Under dynamic labels the 6-hour count on the two largest unseen storms is still 10–20 % low: give the share under water hour by hour.</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3. Maps with new flood patterns. </a:t>
            </a:r>
            <a:pPr indent="0" marL="0">
              <a:spcAft>
                <a:spcPts val="700"/>
              </a:spcAft>
              <a:buNone/>
            </a:pPr>
            <a:r>
              <a:rPr lang="en-US" sz="1150" dirty="0">
                <a:solidFill>
                  <a:srgbClr val="1F1F2E"/>
                </a:solidFill>
                <a:latin typeface="Arial" pitchFamily="34" charset="0"/>
                <a:ea typeface="Arial" pitchFamily="34" charset="-122"/>
                <a:cs typeface="Arial" pitchFamily="34" charset="-120"/>
              </a:rPr>
              <a:t>GISSR storms differ in level and timing only. The real test is a different flood model; the one GeoClaw map is still 13–17 % low under dynamic labels.</a:t>
            </a:r>
            <a:endParaRPr lang="en-US" sz="1150" dirty="0"/>
          </a:p>
          <a:p>
            <a:pPr indent="0" marL="0">
              <a:spcAft>
                <a:spcPts val="700"/>
              </a:spcAft>
              <a:buNone/>
            </a:pPr>
            <a:r>
              <a:rPr lang="en-US" sz="1150" b="1" dirty="0">
                <a:solidFill>
                  <a:srgbClr val="1F1F2E"/>
                </a:solidFill>
                <a:latin typeface="Arial" pitchFamily="34" charset="0"/>
                <a:ea typeface="Arial" pitchFamily="34" charset="-122"/>
                <a:cs typeface="Arial" pitchFamily="34" charset="-120"/>
              </a:rPr>
              <a:t>4. Then the survival loss </a:t>
            </a:r>
            <a:pPr indent="0" marL="0">
              <a:spcAft>
                <a:spcPts val="700"/>
              </a:spcAft>
              <a:buNone/>
            </a:pPr>
            <a:r>
              <a:rPr lang="en-US" sz="1150" dirty="0">
                <a:solidFill>
                  <a:srgbClr val="1F1F2E"/>
                </a:solidFill>
                <a:latin typeface="Arial" pitchFamily="34" charset="0"/>
                <a:ea typeface="Arial" pitchFamily="34" charset="-122"/>
                <a:cs typeface="Arial" pitchFamily="34" charset="-120"/>
              </a:rPr>
              <a:t>from last week's plan, on the model that counts correctly.</a:t>
            </a:r>
            <a:endParaRPr lang="en-US" sz="1150" dirty="0"/>
          </a:p>
        </p:txBody>
      </p:sp>
      <p:sp>
        <p:nvSpPr>
          <p:cNvPr id="6" name="Shape 4"/>
          <p:cNvSpPr/>
          <p:nvPr/>
        </p:nvSpPr>
        <p:spPr>
          <a:xfrm>
            <a:off x="6245352" y="1371600"/>
            <a:ext cx="5486400" cy="3429000"/>
          </a:xfrm>
          <a:prstGeom prst="roundRect">
            <a:avLst>
              <a:gd name="adj" fmla="val 1600"/>
            </a:avLst>
          </a:prstGeom>
          <a:solidFill>
            <a:srgbClr val="EFEBF9"/>
          </a:solidFill>
          <a:ln w="9525">
            <a:solidFill>
              <a:srgbClr val="D9D0F0"/>
            </a:solidFill>
            <a:prstDash val="solid"/>
          </a:ln>
        </p:spPr>
      </p:sp>
      <p:sp>
        <p:nvSpPr>
          <p:cNvPr id="7" name="Text 5"/>
          <p:cNvSpPr txBox="1"/>
          <p:nvPr/>
        </p:nvSpPr>
        <p:spPr>
          <a:xfrm>
            <a:off x="6428232" y="1481328"/>
            <a:ext cx="5120640" cy="320040"/>
          </a:xfrm>
          <a:prstGeom prst="rect">
            <a:avLst/>
          </a:prstGeom>
          <a:noFill/>
          <a:ln/>
        </p:spPr>
        <p:txBody>
          <a:bodyPr wrap="square" lIns="0" tIns="0" rIns="0" bIns="0" rtlCol="0" anchor="t"/>
          <a:lstStyle/>
          <a:p>
            <a:pPr indent="0" marL="0">
              <a:buNone/>
            </a:pPr>
            <a:r>
              <a:rPr lang="en-US" sz="1300" b="1" dirty="0">
                <a:solidFill>
                  <a:srgbClr val="4A3D7A"/>
                </a:solidFill>
                <a:latin typeface="Arial" pitchFamily="34" charset="0"/>
                <a:ea typeface="Arial" pitchFamily="34" charset="-122"/>
                <a:cs typeface="Arial" pitchFamily="34" charset="-120"/>
              </a:rPr>
              <a:t>Decisions I need (three open since 24 Sept, one new)</a:t>
            </a:r>
            <a:endParaRPr lang="en-US" sz="1300" dirty="0"/>
          </a:p>
        </p:txBody>
      </p:sp>
      <p:sp>
        <p:nvSpPr>
          <p:cNvPr id="8" name="Text 6"/>
          <p:cNvSpPr txBox="1"/>
          <p:nvPr/>
        </p:nvSpPr>
        <p:spPr>
          <a:xfrm>
            <a:off x="6428232" y="1847088"/>
            <a:ext cx="5120640" cy="2862072"/>
          </a:xfrm>
          <a:prstGeom prst="rect">
            <a:avLst/>
          </a:prstGeom>
          <a:noFill/>
          <a:ln/>
        </p:spPr>
        <p:txBody>
          <a:bodyPr wrap="square" lIns="0" tIns="0" rIns="0" bIns="0" rtlCol="0" anchor="t"/>
          <a:lstStyle/>
          <a:p>
            <a:pPr indent="0" marL="0">
              <a:spcAft>
                <a:spcPts val="800"/>
              </a:spcAft>
              <a:buNone/>
            </a:pPr>
            <a:r>
              <a:rPr lang="en-US" sz="1200" b="1" dirty="0">
                <a:solidFill>
                  <a:srgbClr val="1F1F2E"/>
                </a:solidFill>
                <a:latin typeface="Arial" pitchFamily="34" charset="0"/>
                <a:ea typeface="Arial" pitchFamily="34" charset="-122"/>
                <a:cs typeface="Arial" pitchFamily="34" charset="-120"/>
              </a:rPr>
              <a:t>Surge clock: </a:t>
            </a:r>
            <a:pPr indent="0" marL="0">
              <a:spcAft>
                <a:spcPts val="800"/>
              </a:spcAft>
              <a:buNone/>
            </a:pPr>
            <a:r>
              <a:rPr lang="en-US" sz="1200" dirty="0">
                <a:solidFill>
                  <a:srgbClr val="1F1F2E"/>
                </a:solidFill>
                <a:latin typeface="Arial" pitchFamily="34" charset="0"/>
                <a:ea typeface="Arial" pitchFamily="34" charset="-122"/>
                <a:cs typeface="Arial" pitchFamily="34" charset="-120"/>
              </a:rPr>
              <a:t>the phone-demand surge is anchored at the flood's peak. Keep the peak, or anchor at first arrival of water? All new labels use the peak.</a:t>
            </a:r>
            <a:endParaRPr lang="en-US" sz="1200" dirty="0"/>
          </a:p>
          <a:p>
            <a:pPr indent="0" marL="0">
              <a:spcAft>
                <a:spcPts val="800"/>
              </a:spcAft>
              <a:buNone/>
            </a:pPr>
            <a:r>
              <a:rPr lang="en-US" sz="1200" b="1" dirty="0">
                <a:solidFill>
                  <a:srgbClr val="1F1F2E"/>
                </a:solidFill>
                <a:latin typeface="Arial" pitchFamily="34" charset="0"/>
                <a:ea typeface="Arial" pitchFamily="34" charset="-122"/>
                <a:cs typeface="Arial" pitchFamily="34" charset="-120"/>
              </a:rPr>
              <a:t>Week 23 magnitudes: </a:t>
            </a:r>
            <a:pPr indent="0" marL="0">
              <a:spcAft>
                <a:spcPts val="800"/>
              </a:spcAft>
              <a:buNone/>
            </a:pPr>
            <a:r>
              <a:rPr lang="en-US" sz="1200" dirty="0">
                <a:solidFill>
                  <a:srgbClr val="1F1F2E"/>
                </a:solidFill>
                <a:latin typeface="Arial" pitchFamily="34" charset="0"/>
                <a:ea typeface="Arial" pitchFamily="34" charset="-122"/>
                <a:cs typeface="Arial" pitchFamily="34" charset="-120"/>
              </a:rPr>
              <a:t>quote them as "on a 6-hour grid" (my proposal), or rerun on a 3-hour grid at about twice the compute?</a:t>
            </a:r>
            <a:endParaRPr lang="en-US" sz="1200" dirty="0"/>
          </a:p>
          <a:p>
            <a:pPr indent="0" marL="0">
              <a:spcAft>
                <a:spcPts val="800"/>
              </a:spcAft>
              <a:buNone/>
            </a:pPr>
            <a:r>
              <a:rPr lang="en-US" sz="1200" b="1" dirty="0">
                <a:solidFill>
                  <a:srgbClr val="1F1F2E"/>
                </a:solidFill>
                <a:latin typeface="Arial" pitchFamily="34" charset="0"/>
                <a:ea typeface="Arial" pitchFamily="34" charset="-122"/>
                <a:cs typeface="Arial" pitchFamily="34" charset="-120"/>
              </a:rPr>
              <a:t>Reporting rule: </a:t>
            </a:r>
            <a:pPr indent="0" marL="0">
              <a:spcAft>
                <a:spcPts val="800"/>
              </a:spcAft>
              <a:buNone/>
            </a:pPr>
            <a:r>
              <a:rPr lang="en-US" sz="1200" dirty="0">
                <a:solidFill>
                  <a:srgbClr val="1F1F2E"/>
                </a:solidFill>
                <a:latin typeface="Arial" pitchFamily="34" charset="0"/>
                <a:ea typeface="Arial" pitchFamily="34" charset="-122"/>
                <a:cs typeface="Arial" pitchFamily="34" charset="-120"/>
              </a:rPr>
              <a:t>tipping share is always quoted with its grid; the surrogate's targets stay at 6, 24, 48 and 96 h.</a:t>
            </a:r>
            <a:endParaRPr lang="en-US" sz="1200" dirty="0"/>
          </a:p>
          <a:p>
            <a:pPr indent="0" marL="0">
              <a:spcAft>
                <a:spcPts val="800"/>
              </a:spcAft>
              <a:buNone/>
            </a:pPr>
            <a:r>
              <a:rPr lang="en-US" sz="1200" b="1" dirty="0">
                <a:solidFill>
                  <a:srgbClr val="1F1F2E"/>
                </a:solidFill>
                <a:latin typeface="Arial" pitchFamily="34" charset="0"/>
                <a:ea typeface="Arial" pitchFamily="34" charset="-122"/>
                <a:cs typeface="Arial" pitchFamily="34" charset="-120"/>
              </a:rPr>
              <a:t>New: </a:t>
            </a:r>
            <a:pPr indent="0" marL="0">
              <a:spcAft>
                <a:spcPts val="800"/>
              </a:spcAft>
              <a:buNone/>
            </a:pPr>
            <a:r>
              <a:rPr lang="en-US" sz="1200" dirty="0">
                <a:solidFill>
                  <a:srgbClr val="1F1F2E"/>
                </a:solidFill>
                <a:latin typeface="Arial" pitchFamily="34" charset="0"/>
                <a:ea typeface="Arial" pitchFamily="34" charset="-122"/>
                <a:cs typeface="Arial" pitchFamily="34" charset="-120"/>
              </a:rPr>
              <a:t>the new depth tables come from Gwyn's unpublished model and sit in the public repo, as the first 20 do. Is that acceptable?</a:t>
            </a:r>
            <a:endParaRPr lang="en-US" sz="1200" dirty="0"/>
          </a:p>
        </p:txBody>
      </p:sp>
      <p:sp>
        <p:nvSpPr>
          <p:cNvPr id="9" name="Shape 7"/>
          <p:cNvSpPr/>
          <p:nvPr/>
        </p:nvSpPr>
        <p:spPr>
          <a:xfrm>
            <a:off x="457200" y="4919472"/>
            <a:ext cx="11274552" cy="621792"/>
          </a:xfrm>
          <a:prstGeom prst="rect">
            <a:avLst/>
          </a:prstGeom>
          <a:solidFill>
            <a:srgbClr val="EFEBF9"/>
          </a:solidFill>
          <a:ln w="9525">
            <a:solidFill>
              <a:srgbClr val="D9D0F0"/>
            </a:solidFill>
            <a:prstDash val="solid"/>
          </a:ln>
        </p:spPr>
      </p:sp>
      <p:sp>
        <p:nvSpPr>
          <p:cNvPr id="10" name="Text 8"/>
          <p:cNvSpPr txBox="1"/>
          <p:nvPr/>
        </p:nvSpPr>
        <p:spPr>
          <a:xfrm>
            <a:off x="640080" y="4919472"/>
            <a:ext cx="10927080" cy="621792"/>
          </a:xfrm>
          <a:prstGeom prst="rect">
            <a:avLst/>
          </a:prstGeom>
          <a:noFill/>
          <a:ln/>
        </p:spPr>
        <p:txBody>
          <a:bodyPr wrap="square" lIns="0" tIns="0" rIns="0" bIns="0" rtlCol="0" anchor="ctr"/>
          <a:lstStyle/>
          <a:p>
            <a:pPr indent="0" marL="0">
              <a:buNone/>
            </a:pPr>
            <a:r>
              <a:rPr lang="en-US" sz="1200" b="1" dirty="0">
                <a:solidFill>
                  <a:srgbClr val="1F1F2E"/>
                </a:solidFill>
                <a:latin typeface="Arial" pitchFamily="34" charset="0"/>
                <a:ea typeface="Arial" pitchFamily="34" charset="-122"/>
                <a:cs typeface="Arial" pitchFamily="34" charset="-120"/>
              </a:rPr>
              <a:t>Correction on record:  </a:t>
            </a:r>
            <a:pPr indent="0" marL="0">
              <a:buNone/>
            </a:pPr>
            <a:r>
              <a:rPr lang="en-US" sz="1200" dirty="0">
                <a:solidFill>
                  <a:srgbClr val="1F1F2E"/>
                </a:solidFill>
                <a:latin typeface="Arial" pitchFamily="34" charset="0"/>
                <a:ea typeface="Arial" pitchFamily="34" charset="-122"/>
                <a:cs typeface="Arial" pitchFamily="34" charset="-120"/>
              </a:rPr>
              <a:t>no earlier training run set the PyTorch seed, so each started from different random weights. This week's runs set it (seeds 1 and 2).</a:t>
            </a:r>
            <a:endParaRPr lang="en-US" sz="1200" dirty="0"/>
          </a:p>
        </p:txBody>
      </p:sp>
      <p:sp>
        <p:nvSpPr>
          <p:cNvPr id="11" name="Text 9"/>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Tipping share by grid (880_9, 6 / 3 / 1 h): static 0.00 / 0.16 / 0.26, arrival 0.03 / 0.23 / 0.34.</a:t>
            </a:r>
            <a:endParaRPr lang="en-US" sz="950" dirty="0"/>
          </a:p>
        </p:txBody>
      </p:sp>
      <p:sp>
        <p:nvSpPr>
          <p:cNvPr id="12" name="Shape 10"/>
          <p:cNvSpPr/>
          <p:nvPr/>
        </p:nvSpPr>
        <p:spPr>
          <a:xfrm>
            <a:off x="457200" y="5943600"/>
            <a:ext cx="11274552" cy="621792"/>
          </a:xfrm>
          <a:prstGeom prst="rect">
            <a:avLst/>
          </a:prstGeom>
          <a:solidFill>
            <a:srgbClr val="EFEBF9"/>
          </a:solidFill>
          <a:ln w="9525">
            <a:solidFill>
              <a:srgbClr val="D9D0F0"/>
            </a:solidFill>
            <a:prstDash val="solid"/>
          </a:ln>
        </p:spPr>
      </p:sp>
      <p:sp>
        <p:nvSpPr>
          <p:cNvPr id="13" name="Text 11"/>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4A3D7A"/>
                </a:solidFill>
                <a:latin typeface="Arial" pitchFamily="34" charset="0"/>
                <a:ea typeface="Arial" pitchFamily="34" charset="-122"/>
                <a:cs typeface="Arial" pitchFamily="34" charset="-120"/>
              </a:rPr>
              <a:t>Next: finish the runs the cluster cancelled, make the storm summary follow the clock, and test on flood maps that look different, not just bigger. And I still need your call on three things from September, plus one new question about publishing depth tables that come from Gwyn's model.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Backup: the numbers sheet against its five written predictions</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74552" cy="914400"/>
        </p:xfrm>
        <a:graphic>
          <a:graphicData uri="http://schemas.openxmlformats.org/drawingml/2006/table">
            <a:tbl>
              <a:tblPr/>
              <a:tblGrid>
                <a:gridCol w="6035040"/>
                <a:gridCol w="3959352"/>
                <a:gridCol w="1280160"/>
              </a:tblGrid>
              <a:tr h="329184">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prediction (written 6 Oct, before the run)</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result</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verdict</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r>
              <a:tr h="329184">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P1  On validation the model beats all three baselines (8 models)</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Arial" pitchFamily="34" charset="0"/>
                          <a:ea typeface="Arial" pitchFamily="34" charset="-122"/>
                          <a:cs typeface="Arial" pitchFamily="34" charset="-120"/>
                        </a:rPr>
                        <a:t>lookup has the lower log loss in all 8</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MISS</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29184">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P2  On unseen storms the model beats the lookup on 3 of 5 (4 cells)</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Arial" pitchFamily="34" charset="0"/>
                          <a:ea typeface="Arial" pitchFamily="34" charset="-122"/>
                          <a:cs typeface="Arial" pitchFamily="34" charset="-120"/>
                        </a:rPr>
                        <a:t>wins on 2, 2, 1, 2 of 5</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MISS</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29184">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P3  Validation count error at 96 h ≤ 10 % (static), ≤ 20 % (dynamic)</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Arial" pitchFamily="34" charset="0"/>
                          <a:ea typeface="Arial" pitchFamily="34" charset="-122"/>
                          <a:cs typeface="Arial" pitchFamily="34" charset="-120"/>
                        </a:rPr>
                        <a:t>49 %, 41 %, 54 %, 46 %</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MISS</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29184">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P4  Validation calibration error ≤ 0.02 at every horizon</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Arial" pitchFamily="34" charset="0"/>
                          <a:ea typeface="Arial" pitchFamily="34" charset="-122"/>
                          <a:cs typeface="Arial" pitchFamily="34" charset="-120"/>
                        </a:rPr>
                        <a:t>at most 0.0094</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1F1F2E"/>
                          </a:solidFill>
                          <a:latin typeface="Courier New" pitchFamily="34" charset="0"/>
                          <a:ea typeface="Courier New" pitchFamily="34" charset="-122"/>
                          <a:cs typeface="Courier New" pitchFamily="34" charset="-120"/>
                        </a:rPr>
                        <a:t>PASS</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29184">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P5  One forward pass ≤ 50 ms</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Arial" pitchFamily="34" charset="0"/>
                          <a:ea typeface="Arial" pitchFamily="34" charset="-122"/>
                          <a:cs typeface="Arial" pitchFamily="34" charset="-120"/>
                        </a:rPr>
                        <a:t>11 ms on an L40S</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1F1F2E"/>
                          </a:solidFill>
                          <a:latin typeface="Courier New" pitchFamily="34" charset="0"/>
                          <a:ea typeface="Courier New" pitchFamily="34" charset="-122"/>
                          <a:cs typeface="Courier New" pitchFamily="34" charset="-120"/>
                        </a:rPr>
                        <a:t>PASS</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57200" y="3520440"/>
          <a:ext cx="11274552" cy="914400"/>
        </p:xfrm>
        <a:graphic>
          <a:graphicData uri="http://schemas.openxmlformats.org/drawingml/2006/table">
            <a:tbl>
              <a:tblPr/>
              <a:tblGrid>
                <a:gridCol w="3959352"/>
                <a:gridCol w="1828800"/>
                <a:gridCol w="1828800"/>
                <a:gridCol w="1828800"/>
                <a:gridCol w="1828800"/>
              </a:tblGrid>
              <a:tr h="310896">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validation, hazard head</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static, mask</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static, +timing</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dynamic, mask</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dynamic, +timing</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r>
              <a:tr h="310896">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log loss, model</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0.0813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0.0725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0.1619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0.1406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10896">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log loss, lookup</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0.0709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0.0709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0.0953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0.0953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10896">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count error at 96 h, model</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0.486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0.414</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0.539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0.461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10896">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count error at 96 h, lookup</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0.191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0.191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0.184</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0.184</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310896">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right time window, given failure</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0.859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0.863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0.725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0.749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sp>
        <p:nvSpPr>
          <p:cNvPr id="5" name="Text 1"/>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Log loss and counts on non-seed sites. Lookup = failure frequencies of the training storm with the closest number of flooded sites. Torch job 19301158; scripts/week29_numbers_table_v1.py.</a:t>
            </a:r>
            <a:endParaRPr lang="en-US" sz="950" dirty="0"/>
          </a:p>
        </p:txBody>
      </p:sp>
      <p:sp>
        <p:nvSpPr>
          <p:cNvPr id="6" name="Shape 2"/>
          <p:cNvSpPr/>
          <p:nvPr/>
        </p:nvSpPr>
        <p:spPr>
          <a:xfrm>
            <a:off x="457200" y="5943600"/>
            <a:ext cx="11274552" cy="621792"/>
          </a:xfrm>
          <a:prstGeom prst="rect">
            <a:avLst/>
          </a:prstGeom>
          <a:solidFill>
            <a:srgbClr val="EFEBF9"/>
          </a:solidFill>
          <a:ln w="9525">
            <a:solidFill>
              <a:srgbClr val="D9D0F0"/>
            </a:solidFill>
            <a:prstDash val="solid"/>
          </a:ln>
        </p:spPr>
      </p:sp>
      <p:sp>
        <p:nvSpPr>
          <p:cNvPr id="7" name="Text 3"/>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4A3D7A"/>
                </a:solidFill>
                <a:latin typeface="Arial" pitchFamily="34" charset="0"/>
                <a:ea typeface="Arial" pitchFamily="34" charset="-122"/>
                <a:cs typeface="Arial" pitchFamily="34" charset="-120"/>
              </a:rPr>
              <a:t>Only if asked. Five predictions were written before the run; two held and three missed. The misses are what pointed to the two-link problem.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Backup: the storm-size test on each of the five unseen storms, and its limits</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3959352"/>
                <a:gridCol w="1828800"/>
                <a:gridCol w="1828800"/>
                <a:gridCol w="1828800"/>
                <a:gridCol w="1828800"/>
              </a:tblGrid>
              <a:tr h="256032">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predicted ÷ simulated failures by 96 h: without → with</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static, mask</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static, +timing</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dynamic, mask</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dynamic, +timing</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r>
              <a:tr h="256032">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914_6 (2.2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3.28 → 1.09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3.01 → 1.09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4.27 → 1.13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3.88 → 1.05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56032">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258_9 (3.4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0.78 → 1.02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0.82 → 1.02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0.67 → 0.97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0.71 → 0.91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56032">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GeoClaw 2050</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0.79 → 1.02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0.82 → 1.01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0.59 → 0.87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0.63 → 0.83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56032">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808_27 (3.7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0.78 → 1.01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0.89 → 1.02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0.59 → 0.99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0.71 → 0.96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56032">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605_5 (4.5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0.82 → 1.02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0.88 → 1.08</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0.62 → 1.04</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0.72 → 1.02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457200" y="2743200"/>
          <a:ext cx="11274552" cy="914400"/>
        </p:xfrm>
        <a:graphic>
          <a:graphicData uri="http://schemas.openxmlformats.org/drawingml/2006/table">
            <a:tbl>
              <a:tblPr/>
              <a:tblGrid>
                <a:gridCol w="3959352"/>
                <a:gridCol w="1828800"/>
                <a:gridCol w="1828800"/>
                <a:gridCol w="1828800"/>
                <a:gridCol w="1828800"/>
              </a:tblGrid>
              <a:tr h="256032">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log loss with the storm-size input | lookup</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static, mask</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static, +timing</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dynamic, mask</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dynamic, +timing</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r>
              <a:tr h="256032">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914_6 (2.2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0.012 | 0.019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0.012 | 0.019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0.016 | 0.022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0.015 | 0.022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56032">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258_9 (3.4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0.055 | 0.073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0.055 | 0.073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0.149 | 0.163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0.168 | 0.163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56032">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GeoClaw 2050</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0.057 | 0.166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0.057 | 0.166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0.147 | 0.502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0.192 | 0.502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56032">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808_27 (3.7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0.062 | 0.071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0.062 | 0.071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0.137 | 0.186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0.137 | 0.186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56032">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605_5 (4.5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0.099 | 0.241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0.115 | 0.241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0.177 | 0.439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0.184 | 0.439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sp>
        <p:nvSpPr>
          <p:cNvPr id="5" name="Shape 1"/>
          <p:cNvSpPr/>
          <p:nvPr/>
        </p:nvSpPr>
        <p:spPr>
          <a:xfrm>
            <a:off x="457200" y="4334256"/>
            <a:ext cx="11274552" cy="1207008"/>
          </a:xfrm>
          <a:prstGeom prst="roundRect">
            <a:avLst>
              <a:gd name="adj" fmla="val 4545"/>
            </a:avLst>
          </a:prstGeom>
          <a:solidFill>
            <a:srgbClr val="EFEBF9"/>
          </a:solidFill>
          <a:ln w="9525">
            <a:solidFill>
              <a:srgbClr val="D9D0F0"/>
            </a:solidFill>
            <a:prstDash val="solid"/>
          </a:ln>
        </p:spPr>
      </p:sp>
      <p:sp>
        <p:nvSpPr>
          <p:cNvPr id="6" name="Text 2"/>
          <p:cNvSpPr txBox="1"/>
          <p:nvPr/>
        </p:nvSpPr>
        <p:spPr>
          <a:xfrm>
            <a:off x="640080" y="4443984"/>
            <a:ext cx="10908792" cy="320040"/>
          </a:xfrm>
          <a:prstGeom prst="rect">
            <a:avLst/>
          </a:prstGeom>
          <a:noFill/>
          <a:ln/>
        </p:spPr>
        <p:txBody>
          <a:bodyPr wrap="square" lIns="0" tIns="0" rIns="0" bIns="0" rtlCol="0" anchor="t"/>
          <a:lstStyle/>
          <a:p>
            <a:pPr indent="0" marL="0">
              <a:buNone/>
            </a:pPr>
            <a:r>
              <a:rPr lang="en-US" sz="1300" b="1" dirty="0">
                <a:solidFill>
                  <a:srgbClr val="4A3D7A"/>
                </a:solidFill>
                <a:latin typeface="Arial" pitchFamily="34" charset="0"/>
                <a:ea typeface="Arial" pitchFamily="34" charset="-122"/>
                <a:cs typeface="Arial" pitchFamily="34" charset="-120"/>
              </a:rPr>
              <a:t>Limits</a:t>
            </a:r>
            <a:endParaRPr lang="en-US" sz="1300" dirty="0"/>
          </a:p>
        </p:txBody>
      </p:sp>
      <p:sp>
        <p:nvSpPr>
          <p:cNvPr id="7" name="Text 3"/>
          <p:cNvSpPr txBox="1"/>
          <p:nvPr/>
        </p:nvSpPr>
        <p:spPr>
          <a:xfrm>
            <a:off x="640080" y="4809744"/>
            <a:ext cx="10908792" cy="640080"/>
          </a:xfrm>
          <a:prstGeom prst="rect">
            <a:avLst/>
          </a:prstGeom>
          <a:noFill/>
          <a:ln/>
        </p:spPr>
        <p:txBody>
          <a:bodyPr wrap="square" lIns="0" tIns="0" rIns="0" bIns="0" rtlCol="0" anchor="t"/>
          <a:lstStyle/>
          <a:p>
            <a:pPr indent="0" marL="0">
              <a:spcAft>
                <a:spcPts val="200"/>
              </a:spcAft>
              <a:buNone/>
            </a:pPr>
            <a:r>
              <a:rPr lang="en-US" sz="1000" b="1" dirty="0">
                <a:solidFill>
                  <a:srgbClr val="1F1F2E"/>
                </a:solidFill>
                <a:latin typeface="Arial" pitchFamily="34" charset="0"/>
                <a:ea typeface="Arial" pitchFamily="34" charset="-122"/>
                <a:cs typeface="Arial" pitchFamily="34" charset="-120"/>
              </a:rPr>
              <a:t>1. </a:t>
            </a:r>
            <a:pPr indent="0" marL="0">
              <a:spcAft>
                <a:spcPts val="200"/>
              </a:spcAft>
              <a:buNone/>
            </a:pPr>
            <a:r>
              <a:rPr lang="en-US" sz="1000" dirty="0">
                <a:solidFill>
                  <a:srgbClr val="1F1F2E"/>
                </a:solidFill>
                <a:latin typeface="Arial" pitchFamily="34" charset="0"/>
                <a:ea typeface="Arial" pitchFamily="34" charset="-122"/>
                <a:cs typeface="Arial" pitchFamily="34" charset="-120"/>
              </a:rPr>
              <a:t>Validation runs come from the 17 training storms, so there the new input can simply recognise the storm. The unseen storms are the test: all 20 storm-by-cell comparisons improve.</a:t>
            </a:r>
            <a:endParaRPr lang="en-US" sz="1000" dirty="0"/>
          </a:p>
          <a:p>
            <a:pPr indent="0" marL="0">
              <a:spcAft>
                <a:spcPts val="200"/>
              </a:spcAft>
              <a:buNone/>
            </a:pPr>
            <a:r>
              <a:rPr lang="en-US" sz="1000" b="1" dirty="0">
                <a:solidFill>
                  <a:srgbClr val="1F1F2E"/>
                </a:solidFill>
                <a:latin typeface="Arial" pitchFamily="34" charset="0"/>
                <a:ea typeface="Arial" pitchFamily="34" charset="-122"/>
                <a:cs typeface="Arial" pitchFamily="34" charset="-120"/>
              </a:rPr>
              <a:t>2. </a:t>
            </a:r>
            <a:pPr indent="0" marL="0">
              <a:spcAft>
                <a:spcPts val="200"/>
              </a:spcAft>
              <a:buNone/>
            </a:pPr>
            <a:r>
              <a:rPr lang="en-US" sz="1000" dirty="0">
                <a:solidFill>
                  <a:srgbClr val="1F1F2E"/>
                </a:solidFill>
                <a:latin typeface="Arial" pitchFamily="34" charset="0"/>
                <a:ea typeface="Arial" pitchFamily="34" charset="-122"/>
                <a:cs typeface="Arial" pitchFamily="34" charset="-120"/>
              </a:rPr>
              <a:t>Dynamic labels: GeoClaw is still 13–17 % low, and the 6-hour count on the two largest storms is 10–20 % low.</a:t>
            </a:r>
            <a:endParaRPr lang="en-US" sz="1000" dirty="0"/>
          </a:p>
          <a:p>
            <a:pPr indent="0" marL="0">
              <a:spcAft>
                <a:spcPts val="200"/>
              </a:spcAft>
              <a:buNone/>
            </a:pPr>
            <a:r>
              <a:rPr lang="en-US" sz="1000" b="1" dirty="0">
                <a:solidFill>
                  <a:srgbClr val="1F1F2E"/>
                </a:solidFill>
                <a:latin typeface="Arial" pitchFamily="34" charset="0"/>
                <a:ea typeface="Arial" pitchFamily="34" charset="-122"/>
                <a:cs typeface="Arial" pitchFamily="34" charset="-120"/>
              </a:rPr>
              <a:t>3. </a:t>
            </a:r>
            <a:pPr indent="0" marL="0">
              <a:spcAft>
                <a:spcPts val="200"/>
              </a:spcAft>
              <a:buNone/>
            </a:pPr>
            <a:r>
              <a:rPr lang="en-US" sz="1000" dirty="0">
                <a:solidFill>
                  <a:srgbClr val="1F1F2E"/>
                </a:solidFill>
                <a:latin typeface="Arial" pitchFamily="34" charset="0"/>
                <a:ea typeface="Arial" pitchFamily="34" charset="-122"/>
                <a:cs typeface="Arial" pitchFamily="34" charset="-120"/>
              </a:rPr>
              <a:t>With the storm-size input, per-site timing inputs no longer help on these 17 storms: mean log loss on the unseen storms is 0.125 without them and 0.139 with (dynamic labels); 0.057 and 0.060 (static).</a:t>
            </a:r>
            <a:endParaRPr lang="en-US" sz="1000" dirty="0"/>
          </a:p>
        </p:txBody>
      </p:sp>
      <p:sp>
        <p:nvSpPr>
          <p:cNvPr id="8" name="Text 4"/>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Mean of seeds 1 and 2; non-seed sites. Seeds differ by more than 0.02 in count error only for 605_5, static + timing (0.07 and 0.11). scripts/week29_context_table_v1.py.</a:t>
            </a:r>
            <a:endParaRPr lang="en-US" sz="950" dirty="0"/>
          </a:p>
        </p:txBody>
      </p:sp>
      <p:sp>
        <p:nvSpPr>
          <p:cNvPr id="9" name="Shape 5"/>
          <p:cNvSpPr/>
          <p:nvPr/>
        </p:nvSpPr>
        <p:spPr>
          <a:xfrm>
            <a:off x="457200" y="5943600"/>
            <a:ext cx="11274552" cy="621792"/>
          </a:xfrm>
          <a:prstGeom prst="rect">
            <a:avLst/>
          </a:prstGeom>
          <a:solidFill>
            <a:srgbClr val="EFEBF9"/>
          </a:solidFill>
          <a:ln w="9525">
            <a:solidFill>
              <a:srgbClr val="D9D0F0"/>
            </a:solidFill>
            <a:prstDash val="solid"/>
          </a:ln>
        </p:spPr>
      </p:sp>
      <p:sp>
        <p:nvSpPr>
          <p:cNvPr id="10" name="Text 6"/>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4A3D7A"/>
                </a:solidFill>
                <a:latin typeface="Arial" pitchFamily="34" charset="0"/>
                <a:ea typeface="Arial" pitchFamily="34" charset="-122"/>
                <a:cs typeface="Arial" pitchFamily="34" charset="-120"/>
              </a:rPr>
              <a:t>Only if asked. Every unseen storm improves in every cell. What is left: the GeoClaw map and the first six hours of the largest storms under dynamic labels, and one open question, which is whether the per-site timing inputs still earn their place once the model knows the storm's size.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Backup: old 17 against 57 storms, log loss on each unseen GISSR storm</a:t>
            </a:r>
            <a:endParaRPr lang="en-US" sz="2200" dirty="0"/>
          </a:p>
        </p:txBody>
      </p:sp>
      <p:graphicFrame>
        <p:nvGraphicFramePr>
          <p:cNvPr id="3" name="Chart 0" descr=""/>
          <p:cNvGraphicFramePr/>
          <p:nvPr/>
        </p:nvGraphicFramePr>
        <p:xfrm>
          <a:off x="457200" y="1188720"/>
          <a:ext cx="553212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99632" y="1188720"/>
          <a:ext cx="5532120" cy="3657600"/>
        </p:xfrm>
        <a:graphic xmlns:a="http://schemas.openxmlformats.org/drawingml/2006/main">
          <a:graphicData uri="http://schemas.openxmlformats.org/drawingml/2006/chart">
            <c:chart xmlns:c="http://schemas.openxmlformats.org/drawingml/2006/chart" r:id="rId2"/>
          </a:graphicData>
        </a:graphic>
      </p:graphicFrame>
      <p:sp>
        <p:nvSpPr>
          <p:cNvPr id="5" name="Shape 1"/>
          <p:cNvSpPr/>
          <p:nvPr/>
        </p:nvSpPr>
        <p:spPr>
          <a:xfrm>
            <a:off x="457200" y="4956048"/>
            <a:ext cx="11274552" cy="566928"/>
          </a:xfrm>
          <a:prstGeom prst="rect">
            <a:avLst/>
          </a:prstGeom>
          <a:solidFill>
            <a:srgbClr val="EFEBF9"/>
          </a:solidFill>
          <a:ln w="9525">
            <a:solidFill>
              <a:srgbClr val="D9D0F0"/>
            </a:solidFill>
            <a:prstDash val="solid"/>
          </a:ln>
        </p:spPr>
      </p:sp>
      <p:sp>
        <p:nvSpPr>
          <p:cNvPr id="6" name="Text 2"/>
          <p:cNvSpPr txBox="1"/>
          <p:nvPr/>
        </p:nvSpPr>
        <p:spPr>
          <a:xfrm>
            <a:off x="640080" y="4956048"/>
            <a:ext cx="10927080" cy="566928"/>
          </a:xfrm>
          <a:prstGeom prst="rect">
            <a:avLst/>
          </a:prstGeom>
          <a:noFill/>
          <a:ln/>
        </p:spPr>
        <p:txBody>
          <a:bodyPr wrap="square" lIns="0" tIns="0" rIns="0" bIns="0" rtlCol="0" anchor="ctr"/>
          <a:lstStyle/>
          <a:p>
            <a:pPr indent="0" marL="0">
              <a:buNone/>
            </a:pPr>
            <a:r>
              <a:rPr lang="en-US" sz="1200" b="1" dirty="0">
                <a:solidFill>
                  <a:srgbClr val="1F1F2E"/>
                </a:solidFill>
                <a:latin typeface="Arial" pitchFamily="34" charset="0"/>
                <a:ea typeface="Arial" pitchFamily="34" charset="-122"/>
                <a:cs typeface="Arial" pitchFamily="34" charset="-120"/>
              </a:rPr>
              <a:t>Read it as:  </a:t>
            </a:r>
            <a:pPr indent="0" marL="0">
              <a:buNone/>
            </a:pPr>
            <a:r>
              <a:rPr lang="en-US" sz="1200" dirty="0">
                <a:solidFill>
                  <a:srgbClr val="1F1F2E"/>
                </a:solidFill>
                <a:latin typeface="Arial" pitchFamily="34" charset="0"/>
                <a:ea typeface="Arial" pitchFamily="34" charset="-122"/>
                <a:cs typeface="Arial" pitchFamily="34" charset="-120"/>
              </a:rPr>
              <a:t>the gap between 17 and 57 storms opens on the right, above the old range. The 57 + storm size line sits below the lookup on 10 (static) and 11 (dynamic) of the 12 storms; the lookup wins at 4.72 m.</a:t>
            </a:r>
            <a:endParaRPr lang="en-US" sz="1200" dirty="0"/>
          </a:p>
        </p:txBody>
      </p:sp>
      <p:sp>
        <p:nvSpPr>
          <p:cNvPr id="7" name="Text 3"/>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One seed per line. GeoClaw 2050 (not shown): static 0.096 / 0.087 / 0.058 / 0.061, dynamic 0.298 / 0.245 / 0.194 / 0.143 in the order 17, 57, 17 + size, 57 + size; lookup 0.154 and 0.444.</a:t>
            </a:r>
            <a:endParaRPr lang="en-US" sz="950" dirty="0"/>
          </a:p>
        </p:txBody>
      </p:sp>
      <p:sp>
        <p:nvSpPr>
          <p:cNvPr id="8" name="Shape 4"/>
          <p:cNvSpPr/>
          <p:nvPr/>
        </p:nvSpPr>
        <p:spPr>
          <a:xfrm>
            <a:off x="457200" y="5943600"/>
            <a:ext cx="11274552" cy="621792"/>
          </a:xfrm>
          <a:prstGeom prst="rect">
            <a:avLst/>
          </a:prstGeom>
          <a:solidFill>
            <a:srgbClr val="EFEBF9"/>
          </a:solidFill>
          <a:ln w="9525">
            <a:solidFill>
              <a:srgbClr val="D9D0F0"/>
            </a:solidFill>
            <a:prstDash val="solid"/>
          </a:ln>
        </p:spPr>
      </p:sp>
      <p:sp>
        <p:nvSpPr>
          <p:cNvPr id="9" name="Text 5"/>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4A3D7A"/>
                </a:solidFill>
                <a:latin typeface="Arial" pitchFamily="34" charset="0"/>
                <a:ea typeface="Arial" pitchFamily="34" charset="-122"/>
                <a:cs typeface="Arial" pitchFamily="34" charset="-120"/>
              </a:rPr>
              <a:t>Only if asked. On the left of each chart, storms the old set already covered: more storms change little or hurt. On the right, storms bigger than the old set had: more storms help a lot.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11274552" cy="960120"/>
          </a:xfrm>
          <a:prstGeom prst="rect">
            <a:avLst/>
          </a:prstGeom>
          <a:noFill/>
          <a:ln/>
        </p:spPr>
        <p:txBody>
          <a:bodyPr wrap="square" lIns="0" tIns="0" rIns="0" bIns="0" rtlCol="0" anchor="t"/>
          <a:lstStyle/>
          <a:p>
            <a:pPr indent="0" marL="0">
              <a:buNone/>
            </a:pPr>
            <a:r>
              <a:rPr lang="en-US" sz="2200" b="1" dirty="0">
                <a:solidFill>
                  <a:srgbClr val="1F1F2E"/>
                </a:solidFill>
                <a:latin typeface="Arial" pitchFamily="34" charset="0"/>
                <a:ea typeface="Arial" pitchFamily="34" charset="-122"/>
                <a:cs typeface="Arial" pitchFamily="34" charset="-120"/>
              </a:rPr>
              <a:t>Backup: predicted ÷ simulated failures by 96 h on each unseen storm</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2496312"/>
                <a:gridCol w="1097280"/>
                <a:gridCol w="1097280"/>
                <a:gridCol w="1097280"/>
                <a:gridCol w="1097280"/>
                <a:gridCol w="1097280"/>
                <a:gridCol w="1097280"/>
                <a:gridCol w="1097280"/>
                <a:gridCol w="1097280"/>
              </a:tblGrid>
              <a:tr h="246888">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unseen storm (1.00 = correct)</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static: 17 storms</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static: 57 storms</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static: 17 + storm size</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static: 57 + storm size</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dynamic: 17 storms</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dynamic: 57 storms</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dynamic: 17 + storm size</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dynamic: 57 + storm size</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solidFill>
                      <a:srgbClr val="4A3D7A"/>
                    </a:solidFill>
                  </a:tcPr>
                </a:tc>
              </a:tr>
              <a:tr h="24688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new storm  (2.10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3.74</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4.86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1.40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3.45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4.51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1.26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4688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914_6  (2.17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3.29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4.23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1.08</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1.52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3.88</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5.17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1.57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4688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new storm  (2.44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0.91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1.10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1.34</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1.10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4688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new storm  (2.78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0.95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1.13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0.98</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4688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new storm  (3.12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0.96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1.12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4688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258_9  (3.37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0.78</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0.90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4688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new storm  (3.46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0.78</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0.88</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0.65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0.92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4688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808_27  (3.75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0.78</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0.95</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0.97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4688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new storm  (3.80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0.78</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0.87</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4688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new storm  (4.13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0.88</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0.99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4688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605_5  (4.46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0.99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4688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new storm  (4.72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1.00</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0.96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0.71</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1.03</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0.98</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r h="246888">
                <a:tc>
                  <a:txBody>
                    <a:bodyPr/>
                    <a:lstStyle/>
                    <a:p>
                      <a:pPr algn="l" indent="0" marL="0">
                        <a:buNone/>
                      </a:pPr>
                      <a:r>
                        <a:rPr lang="en-US" sz="1100" dirty="0">
                          <a:solidFill>
                            <a:srgbClr val="1F1F2E"/>
                          </a:solidFill>
                          <a:latin typeface="Arial" pitchFamily="34" charset="0"/>
                          <a:ea typeface="Arial" pitchFamily="34" charset="-122"/>
                          <a:cs typeface="Arial" pitchFamily="34" charset="-120"/>
                        </a:rPr>
                        <a:t>GeoClaw 2050  (3.48 m)</a:t>
                      </a:r>
                      <a:endParaRPr lang="en-US" sz="1100" dirty="0">
                        <a:latin typeface="Arial" charset="0"/>
                        <a:ea typeface="Arial" charset="0"/>
                        <a:cs typeface="Arial"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0.79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1.02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0.99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0.62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b="1" dirty="0">
                          <a:solidFill>
                            <a:srgbClr val="B5443C"/>
                          </a:solidFill>
                          <a:latin typeface="Courier New" pitchFamily="34" charset="0"/>
                          <a:ea typeface="Courier New" pitchFamily="34" charset="-122"/>
                          <a:cs typeface="Courier New" pitchFamily="34" charset="-120"/>
                        </a:rPr>
                        <a:t>0.69</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0.82</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c>
                  <a:txBody>
                    <a:bodyPr/>
                    <a:lstStyle/>
                    <a:p>
                      <a:pPr algn="ctr" indent="0" marL="0">
                        <a:buNone/>
                      </a:pPr>
                      <a:r>
                        <a:rPr lang="en-US" sz="1100" dirty="0">
                          <a:solidFill>
                            <a:srgbClr val="1F1F2E"/>
                          </a:solidFill>
                          <a:latin typeface="Courier New" pitchFamily="34" charset="0"/>
                          <a:ea typeface="Courier New" pitchFamily="34" charset="-122"/>
                          <a:cs typeface="Courier New" pitchFamily="34" charset="-120"/>
                        </a:rPr>
                        <a:t>0.86</a:t>
                      </a:r>
                      <a:endParaRPr lang="en-US" sz="1100" dirty="0">
                        <a:latin typeface="Courier New" charset="0"/>
                        <a:ea typeface="Courier New" charset="0"/>
                        <a:cs typeface="Courier New" charset="0"/>
                      </a:endParaRPr>
                    </a:p>
                  </a:txBody>
                  <a:tcPr marL="91440" marR="91440" marT="45720" marB="45720" anchor="ctr">
                    <a:lnL w="9525" cap="flat" cmpd="sng" algn="ctr">
                      <a:solidFill>
                        <a:srgbClr val="D9D0F0"/>
                      </a:solidFill>
                      <a:prstDash val="solid"/>
                      <a:round/>
                      <a:headEnd type="none" w="med" len="med"/>
                      <a:tailEnd type="none" w="med" len="med"/>
                    </a:lnL>
                    <a:lnR w="9525" cap="flat" cmpd="sng" algn="ctr">
                      <a:solidFill>
                        <a:srgbClr val="D9D0F0"/>
                      </a:solidFill>
                      <a:prstDash val="solid"/>
                      <a:round/>
                      <a:headEnd type="none" w="med" len="med"/>
                      <a:tailEnd type="none" w="med" len="med"/>
                    </a:lnR>
                    <a:lnT w="9525" cap="flat" cmpd="sng" algn="ctr">
                      <a:solidFill>
                        <a:srgbClr val="D9D0F0"/>
                      </a:solidFill>
                      <a:prstDash val="solid"/>
                      <a:round/>
                      <a:headEnd type="none" w="med" len="med"/>
                      <a:tailEnd type="none" w="med" len="med"/>
                    </a:lnT>
                    <a:lnB w="9525" cap="flat" cmpd="sng" algn="ctr">
                      <a:solidFill>
                        <a:srgbClr val="D9D0F0"/>
                      </a:solidFill>
                      <a:prstDash val="solid"/>
                      <a:round/>
                      <a:headEnd type="none" w="med" len="med"/>
                      <a:tailEnd type="none" w="med" len="med"/>
                    </a:lnB>
                  </a:tcPr>
                </a:tc>
              </a:tr>
            </a:tbl>
          </a:graphicData>
        </a:graphic>
      </p:graphicFrame>
      <p:sp>
        <p:nvSpPr>
          <p:cNvPr id="4" name="Shape 1"/>
          <p:cNvSpPr/>
          <p:nvPr/>
        </p:nvSpPr>
        <p:spPr>
          <a:xfrm>
            <a:off x="457200" y="4956048"/>
            <a:ext cx="11274552" cy="566928"/>
          </a:xfrm>
          <a:prstGeom prst="rect">
            <a:avLst/>
          </a:prstGeom>
          <a:solidFill>
            <a:srgbClr val="EFEBF9"/>
          </a:solidFill>
          <a:ln w="9525">
            <a:solidFill>
              <a:srgbClr val="D9D0F0"/>
            </a:solidFill>
            <a:prstDash val="solid"/>
          </a:ln>
        </p:spPr>
      </p:sp>
      <p:sp>
        <p:nvSpPr>
          <p:cNvPr id="5" name="Text 2"/>
          <p:cNvSpPr txBox="1"/>
          <p:nvPr/>
        </p:nvSpPr>
        <p:spPr>
          <a:xfrm>
            <a:off x="640080" y="4956048"/>
            <a:ext cx="10927080" cy="566928"/>
          </a:xfrm>
          <a:prstGeom prst="rect">
            <a:avLst/>
          </a:prstGeom>
          <a:noFill/>
          <a:ln/>
        </p:spPr>
        <p:txBody>
          <a:bodyPr wrap="square" lIns="0" tIns="0" rIns="0" bIns="0" rtlCol="0" anchor="ctr"/>
          <a:lstStyle/>
          <a:p>
            <a:pPr indent="0" marL="0">
              <a:buNone/>
            </a:pPr>
            <a:r>
              <a:rPr lang="en-US" sz="1200" b="1" dirty="0">
                <a:solidFill>
                  <a:srgbClr val="B5443C"/>
                </a:solidFill>
                <a:latin typeface="Arial" pitchFamily="34" charset="0"/>
                <a:ea typeface="Arial" pitchFamily="34" charset="-122"/>
                <a:cs typeface="Arial" pitchFamily="34" charset="-120"/>
              </a:rPr>
              <a:t>Red:  </a:t>
            </a:r>
            <a:pPr indent="0" marL="0">
              <a:buNone/>
            </a:pPr>
            <a:r>
              <a:rPr lang="en-US" sz="1200" dirty="0">
                <a:solidFill>
                  <a:srgbClr val="1F1F2E"/>
                </a:solidFill>
                <a:latin typeface="Arial" pitchFamily="34" charset="0"/>
                <a:ea typeface="Arial" pitchFamily="34" charset="-122"/>
                <a:cs typeface="Arial" pitchFamily="34" charset="-120"/>
              </a:rPr>
              <a:t>more than 20 % off. With the storm-size input, the 17-storm model misses on one storm (dynamic labels, 2.10 m) and the 57-storm model on the two smallest storms under both label types.</a:t>
            </a:r>
            <a:endParaRPr lang="en-US" sz="1200" dirty="0"/>
          </a:p>
        </p:txBody>
      </p:sp>
      <p:sp>
        <p:nvSpPr>
          <p:cNvPr id="6" name="Text 3"/>
          <p:cNvSpPr txBox="1"/>
          <p:nvPr/>
        </p:nvSpPr>
        <p:spPr>
          <a:xfrm>
            <a:off x="457200" y="5596128"/>
            <a:ext cx="11274552" cy="274320"/>
          </a:xfrm>
          <a:prstGeom prst="rect">
            <a:avLst/>
          </a:prstGeom>
          <a:noFill/>
          <a:ln/>
        </p:spPr>
        <p:txBody>
          <a:bodyPr wrap="square" lIns="0" tIns="0" rIns="0" bIns="0" rtlCol="0" anchor="ctr"/>
          <a:lstStyle/>
          <a:p>
            <a:pPr indent="0" marL="0">
              <a:buNone/>
            </a:pPr>
            <a:r>
              <a:rPr lang="en-US" sz="950" dirty="0">
                <a:solidFill>
                  <a:srgbClr val="5B5B70"/>
                </a:solidFill>
                <a:latin typeface="Arial" pitchFamily="34" charset="0"/>
                <a:ea typeface="Arial" pitchFamily="34" charset="-122"/>
                <a:cs typeface="Arial" pitchFamily="34" charset="-120"/>
              </a:rPr>
              <a:t>Non-seed sites, mean over each storm's 1,000 runs, one seed per column. The 2.44 m storm sits where the cascade either takes off or does not: per-run count error there is about 0.5 for every model and for the lookup.</a:t>
            </a:r>
            <a:endParaRPr lang="en-US" sz="950" dirty="0"/>
          </a:p>
        </p:txBody>
      </p:sp>
      <p:sp>
        <p:nvSpPr>
          <p:cNvPr id="7" name="Shape 4"/>
          <p:cNvSpPr/>
          <p:nvPr/>
        </p:nvSpPr>
        <p:spPr>
          <a:xfrm>
            <a:off x="457200" y="5943600"/>
            <a:ext cx="11274552" cy="621792"/>
          </a:xfrm>
          <a:prstGeom prst="rect">
            <a:avLst/>
          </a:prstGeom>
          <a:solidFill>
            <a:srgbClr val="EFEBF9"/>
          </a:solidFill>
          <a:ln w="9525">
            <a:solidFill>
              <a:srgbClr val="D9D0F0"/>
            </a:solidFill>
            <a:prstDash val="solid"/>
          </a:ln>
        </p:spPr>
      </p:sp>
      <p:sp>
        <p:nvSpPr>
          <p:cNvPr id="8" name="Text 5"/>
          <p:cNvSpPr txBox="1"/>
          <p:nvPr/>
        </p:nvSpPr>
        <p:spPr>
          <a:xfrm>
            <a:off x="594360" y="5943600"/>
            <a:ext cx="11018520" cy="621792"/>
          </a:xfrm>
          <a:prstGeom prst="rect">
            <a:avLst/>
          </a:prstGeom>
          <a:noFill/>
          <a:ln/>
        </p:spPr>
        <p:txBody>
          <a:bodyPr wrap="square" lIns="0" tIns="0" rIns="0" bIns="0" rtlCol="0" anchor="ctr"/>
          <a:lstStyle/>
          <a:p>
            <a:pPr indent="0" marL="0">
              <a:buNone/>
            </a:pPr>
            <a:r>
              <a:rPr lang="en-US" sz="1100" b="1" i="1" dirty="0">
                <a:solidFill>
                  <a:srgbClr val="4A3D7A"/>
                </a:solidFill>
                <a:latin typeface="Arial" pitchFamily="34" charset="0"/>
                <a:ea typeface="Arial" pitchFamily="34" charset="-122"/>
                <a:cs typeface="Arial" pitchFamily="34" charset="-120"/>
              </a:rPr>
              <a:t>Say:  </a:t>
            </a:r>
            <a:pPr indent="0" marL="0">
              <a:buNone/>
            </a:pPr>
            <a:r>
              <a:rPr lang="en-US" sz="1100" i="1" dirty="0">
                <a:solidFill>
                  <a:srgbClr val="4A3D7A"/>
                </a:solidFill>
                <a:latin typeface="Arial" pitchFamily="34" charset="0"/>
                <a:ea typeface="Arial" pitchFamily="34" charset="-122"/>
                <a:cs typeface="Arial" pitchFamily="34" charset="-120"/>
              </a:rPr>
              <a:t>Only if asked. The storm-size input brings almost every storm to within a few percent. The open point is the smallest storms when we train on all 57.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29: the surrogate in numbers, storm context, more storms</dc:title>
  <dc:subject>PptxGenJS Presentation</dc:subject>
  <dc:creator>PptxGenJS</dc:creator>
  <cp:lastModifiedBy>PptxGenJS</cp:lastModifiedBy>
  <cp:revision>1</cp:revision>
  <dcterms:created xsi:type="dcterms:W3CDTF">2026-10-07T22:36:10Z</dcterms:created>
  <dcterms:modified xsi:type="dcterms:W3CDTF">2026-10-07T22:36:10Z</dcterms:modified>
</cp:coreProperties>
</file>