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3.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F1F2E"/>
                </a:solidFill>
                <a:latin typeface="Arial"/>
              </a:defRPr>
            </a:pPr>
            <a:r>
              <a:rPr sz="1100" b="0" i="0" u="none" strike="noStrike">
                <a:solidFill>
                  <a:srgbClr val="1F1F2E"/>
                </a:solidFill>
                <a:latin typeface="Arial"/>
              </a:rPr>
              <a:t>880_9 super-cascade share (t360 ≥ 3000) vs evaluation step, N = 100</a:t>
            </a:r>
          </a:p>
        </c:rich>
      </c:tx>
      <c:layout/>
      <c:overlay val="0"/>
    </c:title>
    <c:autoTitleDeleted val="0"/>
    <c:plotArea>
      <c:layout/>
      <c:barChart>
        <c:barDir val="col"/>
        <c:grouping val="clustered"/>
        <c:varyColors val="0"/>
        <c:ser>
          <c:idx val="0"/>
          <c:order val="0"/>
          <c:tx>
            <c:strRef>
              <c:f>Sheet1!$B$1</c:f>
              <c:strCache>
                <c:ptCount val="1"/>
                <c:pt idx="0">
                  <c:v>static_peak</c:v>
                </c:pt>
              </c:strCache>
            </c:strRef>
          </c:tx>
          <c:spPr>
            <a:solidFill>
              <a:srgbClr val="8E7CC3"/>
            </a:solidFill>
            <a:effectLst/>
          </c:spPr>
          <c:invertIfNegative val="0"/>
          <c:dLbls>
            <c:numFmt formatCode="0.00" sourceLinked="0"/>
            <c:txPr>
              <a:bodyPr/>
              <a:lstStyle/>
              <a:p>
                <a:pPr>
                  <a:defRPr b="0" i="0" strike="noStrike" sz="1000" u="none">
                    <a:solidFill>
                      <a:srgbClr val="1F1F2E"/>
                    </a:solidFill>
                    <a:latin typeface="Courier New"/>
                  </a:defRPr>
                </a:pPr>
              </a:p>
            </c:txPr>
            <c:showLegendKey val="0"/>
            <c:showVal val="1"/>
            <c:showCatName val="0"/>
            <c:showSerName val="0"/>
            <c:showPercent val="0"/>
            <c:showBubbleSize val="0"/>
            <c:showLeaderLines val="0"/>
          </c:dLbls>
          <c:cat>
            <c:multiLvlStrRef>
              <c:f>Sheet1!$A$2:$A$4</c:f>
              <c:multiLvlStrCache>
                <c:ptCount val="3"/>
                <c:lvl>
                  <c:pt idx="0">
                    <c:v>6 h</c:v>
                  </c:pt>
                  <c:pt idx="1">
                    <c:v>3 h</c:v>
                  </c:pt>
                  <c:pt idx="2">
                    <c:v>1 h</c:v>
                  </c:pt>
                </c:lvl>
              </c:multiLvlStrCache>
            </c:multiLvlStrRef>
          </c:cat>
          <c:val>
            <c:numRef>
              <c:f>Sheet1!$B$2:$B$4</c:f>
              <c:numCache>
                <c:formatCode>General</c:formatCode>
                <c:ptCount val="3"/>
                <c:pt idx="0">
                  <c:v>0</c:v>
                </c:pt>
                <c:pt idx="1">
                  <c:v>0.16</c:v>
                </c:pt>
                <c:pt idx="2">
                  <c:v>0.26</c:v>
                </c:pt>
              </c:numCache>
            </c:numRef>
          </c:val>
        </c:ser>
        <c:ser>
          <c:idx val="1"/>
          <c:order val="1"/>
          <c:tx>
            <c:strRef>
              <c:f>Sheet1!$C$1</c:f>
              <c:strCache>
                <c:ptCount val="1"/>
                <c:pt idx="0">
                  <c:v>arrival</c:v>
                </c:pt>
              </c:strCache>
            </c:strRef>
          </c:tx>
          <c:spPr>
            <a:solidFill>
              <a:srgbClr val="4A3D7A"/>
            </a:solidFill>
            <a:effectLst/>
          </c:spPr>
          <c:invertIfNegative val="0"/>
          <c:dLbls>
            <c:numFmt formatCode="0.00" sourceLinked="0"/>
            <c:txPr>
              <a:bodyPr/>
              <a:lstStyle/>
              <a:p>
                <a:pPr>
                  <a:defRPr b="0" i="0" strike="noStrike" sz="1000" u="none">
                    <a:solidFill>
                      <a:srgbClr val="1F1F2E"/>
                    </a:solidFill>
                    <a:latin typeface="Courier New"/>
                  </a:defRPr>
                </a:pPr>
              </a:p>
            </c:txPr>
            <c:showLegendKey val="0"/>
            <c:showVal val="1"/>
            <c:showCatName val="0"/>
            <c:showSerName val="0"/>
            <c:showPercent val="0"/>
            <c:showBubbleSize val="0"/>
            <c:showLeaderLines val="0"/>
          </c:dLbls>
          <c:cat>
            <c:multiLvlStrRef>
              <c:f>Sheet1!$A$2:$A$4</c:f>
              <c:multiLvlStrCache>
                <c:ptCount val="3"/>
                <c:lvl>
                  <c:pt idx="0">
                    <c:v>6 h</c:v>
                  </c:pt>
                  <c:pt idx="1">
                    <c:v>3 h</c:v>
                  </c:pt>
                  <c:pt idx="2">
                    <c:v>1 h</c:v>
                  </c:pt>
                </c:lvl>
              </c:multiLvlStrCache>
            </c:multiLvlStrRef>
          </c:cat>
          <c:val>
            <c:numRef>
              <c:f>Sheet1!$C$2:$C$4</c:f>
              <c:numCache>
                <c:formatCode>General</c:formatCode>
                <c:ptCount val="3"/>
                <c:pt idx="0">
                  <c:v>0.03</c:v>
                </c:pt>
                <c:pt idx="1">
                  <c:v>0.23</c:v>
                </c:pt>
                <c:pt idx="2">
                  <c:v>0.34</c:v>
                </c:pt>
              </c:numCache>
            </c:numRef>
          </c:val>
        </c:ser>
        <c:dLbls>
          <c:numFmt formatCode="0.00" sourceLinked="0"/>
          <c:txPr>
            <a:bodyPr/>
            <a:lstStyle/>
            <a:p>
              <a:pPr>
                <a:defRPr b="0" i="0" strike="noStrike" sz="1000" u="none">
                  <a:solidFill>
                    <a:srgbClr val="1F1F2E"/>
                  </a:solidFill>
                  <a:latin typeface="Courier New"/>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1F2E"/>
                </a:solidFill>
                <a:latin typeface="Arial"/>
              </a:defRPr>
            </a:pPr>
            <a:endParaRPr lang="en-US"/>
          </a:p>
        </c:txPr>
        <c:crossAx val="2094734552"/>
        <c:crosses val="autoZero"/>
        <c:auto val="1"/>
        <c:lblAlgn val="ctr"/>
        <c:noMultiLvlLbl val="1"/>
      </c:catAx>
      <c:valAx>
        <c:axId val="2094734552"/>
        <c:scaling>
          <c:orientation val="minMax"/>
          <c:max val="0.45"/>
          <c:min val="0"/>
        </c:scaling>
        <c:delete val="0"/>
        <c:axPos val="l"/>
        <c:majorGridlines>
          <c:spPr>
            <a:ln w="6350" cap="flat">
              <a:solidFill>
                <a:srgbClr val="E4E2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5B70"/>
                </a:solidFill>
                <a:latin typeface="Courier New"/>
              </a:defRPr>
            </a:pPr>
            <a:endParaRPr lang="en-US"/>
          </a:p>
        </c:txPr>
        <c:crossAx val="2094734554"/>
        <c:crosses val="autoZero"/>
        <c:crossBetween val="between"/>
        <c:majorUnit val="0.1"/>
      </c:valAx>
      <c:spPr>
        <a:noFill/>
        <a:ln>
          <a:noFill/>
        </a:ln>
        <a:effectLst/>
      </c:spPr>
    </c:plotArea>
    <c:legend>
      <c:legendPos val="t"/>
      <c:overlay val="0"/>
      <c:txPr>
        <a:bodyPr/>
        <a:lstStyle/>
        <a:p>
          <a:pPr>
            <a:defRPr sz="1000">
              <a:solidFill>
                <a:srgbClr val="1F1F2E"/>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F1F2E"/>
                </a:solidFill>
                <a:latin typeface="Arial"/>
              </a:defRPr>
            </a:pPr>
            <a:r>
              <a:rPr sz="1100" b="0" i="0" u="none" strike="noStrike">
                <a:solidFill>
                  <a:srgbClr val="1F1F2E"/>
                </a:solidFill>
                <a:latin typeface="Arial"/>
              </a:rPr>
              <a:t>Share of (node, consecutive-horizon) pairs where P(failed by t) decreases — 2×2 v1 checkpoints, val split, %</a:t>
            </a:r>
          </a:p>
        </c:rich>
      </c:tx>
      <c:layout/>
      <c:overlay val="0"/>
    </c:title>
    <c:autoTitleDeleted val="0"/>
    <c:plotArea>
      <c:layout/>
      <c:barChart>
        <c:barDir val="col"/>
        <c:grouping val="clustered"/>
        <c:varyColors val="0"/>
        <c:ser>
          <c:idx val="0"/>
          <c:order val="0"/>
          <c:tx>
            <c:strRef>
              <c:f>Sheet1!$B$1</c:f>
              <c:strCache>
                <c:ptCount val="1"/>
                <c:pt idx="0">
                  <c:v>mono_viol (val)</c:v>
                </c:pt>
              </c:strCache>
            </c:strRef>
          </c:tx>
          <c:spPr>
            <a:solidFill>
              <a:srgbClr val="B5443C"/>
            </a:solidFill>
            <a:effectLst/>
          </c:spPr>
          <c:invertIfNegative val="0"/>
          <c:dLbls>
            <c:numFmt formatCode="0.0" sourceLinked="0"/>
            <c:txPr>
              <a:bodyPr/>
              <a:lstStyle/>
              <a:p>
                <a:pPr>
                  <a:defRPr b="0" i="0" strike="noStrike" sz="1000" u="none">
                    <a:solidFill>
                      <a:srgbClr val="1F1F2E"/>
                    </a:solidFill>
                    <a:latin typeface="Courier New"/>
                  </a:defRPr>
                </a:pPr>
              </a:p>
            </c:txPr>
            <c:showLegendKey val="0"/>
            <c:showVal val="1"/>
            <c:showCatName val="0"/>
            <c:showSerName val="0"/>
            <c:showPercent val="0"/>
            <c:showBubbleSize val="0"/>
            <c:showLeaderLines val="0"/>
          </c:dLbls>
          <c:cat>
            <c:multiLvlStrRef>
              <c:f>Sheet1!$A$2:$A$5</c:f>
              <c:multiLvlStrCache>
                <c:ptCount val="4"/>
                <c:lvl>
                  <c:pt idx="0">
                    <c:v>static, mask</c:v>
                  </c:pt>
                  <c:pt idx="1">
                    <c:v>static, +timing</c:v>
                  </c:pt>
                  <c:pt idx="2">
                    <c:v>dynamic, mask</c:v>
                  </c:pt>
                  <c:pt idx="3">
                    <c:v>dynamic, +timing</c:v>
                  </c:pt>
                </c:lvl>
              </c:multiLvlStrCache>
            </c:multiLvlStrRef>
          </c:cat>
          <c:val>
            <c:numRef>
              <c:f>Sheet1!$B$2:$B$5</c:f>
              <c:numCache>
                <c:formatCode>General</c:formatCode>
                <c:ptCount val="4"/>
                <c:pt idx="0">
                  <c:v>6.77</c:v>
                </c:pt>
                <c:pt idx="1">
                  <c:v>7.8</c:v>
                </c:pt>
                <c:pt idx="2">
                  <c:v>3.96</c:v>
                </c:pt>
                <c:pt idx="3">
                  <c:v>6.34</c:v>
                </c:pt>
              </c:numCache>
            </c:numRef>
          </c:val>
        </c:ser>
        <c:dLbls>
          <c:numFmt formatCode="0.0" sourceLinked="0"/>
          <c:txPr>
            <a:bodyPr/>
            <a:lstStyle/>
            <a:p>
              <a:pPr>
                <a:defRPr b="0" i="0" strike="noStrike" sz="1000" u="none">
                  <a:solidFill>
                    <a:srgbClr val="1F1F2E"/>
                  </a:solidFill>
                  <a:latin typeface="Courier New"/>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F1F2E"/>
                </a:solidFill>
                <a:latin typeface="Arial"/>
              </a:defRPr>
            </a:pPr>
            <a:endParaRPr lang="en-US"/>
          </a:p>
        </c:txPr>
        <c:crossAx val="2094734552"/>
        <c:crosses val="autoZero"/>
        <c:auto val="1"/>
        <c:lblAlgn val="ctr"/>
        <c:noMultiLvlLbl val="1"/>
      </c:catAx>
      <c:valAx>
        <c:axId val="2094734552"/>
        <c:scaling>
          <c:orientation val="minMax"/>
          <c:max val="10"/>
          <c:min val="0"/>
        </c:scaling>
        <c:delete val="0"/>
        <c:axPos val="l"/>
        <c:majorGridlines>
          <c:spPr>
            <a:ln w="6350" cap="flat">
              <a:solidFill>
                <a:srgbClr val="E4E2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5B70"/>
                </a:solidFill>
                <a:latin typeface="Courier New"/>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F1F2E"/>
                </a:solidFill>
                <a:latin typeface="Arial"/>
              </a:defRPr>
            </a:pPr>
            <a:r>
              <a:rPr sz="1100" b="0" i="0" u="none" strike="noStrike">
                <a:solidFill>
                  <a:srgbClr val="1F1F2E"/>
                </a:solidFill>
                <a:latin typeface="Arial"/>
              </a:rPr>
              <a:t>Same four raw outputs (−2, 0, +1, −1) under the two readings</a:t>
            </a:r>
          </a:p>
        </c:rich>
      </c:tx>
      <c:layout/>
      <c:overlay val="0"/>
    </c:title>
    <c:autoTitleDeleted val="0"/>
    <c:plotArea>
      <c:layout/>
      <c:lineChart>
        <c:varyColors val="0"/>
        <c:ser>
          <c:idx val="0"/>
          <c:order val="0"/>
          <c:tx>
            <c:strRef>
              <c:f>Sheet1!$B$1</c:f>
              <c:strCache>
                <c:ptCount val="1"/>
                <c:pt idx="0">
                  <c:v>hazard head  F_k = 1 − Π(1 − h_j)</c:v>
                </c:pt>
              </c:strCache>
            </c:strRef>
          </c:tx>
          <c:spPr>
            <a:solidFill>
              <a:srgbClr val="4A3D7A"/>
            </a:solidFill>
            <a:ln w="31750" cap="flat">
              <a:solidFill>
                <a:srgbClr val="4A3D7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4A3D7A"/>
              </a:solidFill>
              <a:ln w="9525" cap="flat">
                <a:solidFill>
                  <a:srgbClr val="4A3D7A"/>
                </a:solidFill>
                <a:prstDash val="solid"/>
                <a:round/>
              </a:ln>
              <a:effectLst/>
            </c:spPr>
          </c:marker>
          <c:cat>
            <c:multiLvlStrRef>
              <c:f>Sheet1!$A$2:$A$5</c:f>
              <c:multiLvlStrCache>
                <c:ptCount val="4"/>
                <c:lvl>
                  <c:pt idx="0">
                    <c:v>6 h</c:v>
                  </c:pt>
                  <c:pt idx="1">
                    <c:v>24 h</c:v>
                  </c:pt>
                  <c:pt idx="2">
                    <c:v>48 h</c:v>
                  </c:pt>
                  <c:pt idx="3">
                    <c:v>96 h</c:v>
                  </c:pt>
                </c:lvl>
              </c:multiLvlStrCache>
            </c:multiLvlStrRef>
          </c:cat>
          <c:val>
            <c:numRef>
              <c:f>Sheet1!$B$2:$B$5</c:f>
              <c:numCache>
                <c:formatCode>General</c:formatCode>
                <c:ptCount val="4"/>
                <c:pt idx="0">
                  <c:v>0.119</c:v>
                </c:pt>
                <c:pt idx="1">
                  <c:v>0.56</c:v>
                </c:pt>
                <c:pt idx="2">
                  <c:v>0.882</c:v>
                </c:pt>
                <c:pt idx="3">
                  <c:v>0.913</c:v>
                </c:pt>
              </c:numCache>
            </c:numRef>
          </c:val>
          <c:smooth val="0"/>
        </c:ser>
        <c:ser>
          <c:idx val="1"/>
          <c:order val="1"/>
          <c:tx>
            <c:strRef>
              <c:f>Sheet1!$C$1</c:f>
              <c:strCache>
                <c:ptCount val="1"/>
                <c:pt idx="0">
                  <c:v>independent head  p_k = σ(z_k)</c:v>
                </c:pt>
              </c:strCache>
            </c:strRef>
          </c:tx>
          <c:spPr>
            <a:solidFill>
              <a:srgbClr val="B5443C"/>
            </a:solidFill>
            <a:ln w="31750" cap="flat">
              <a:solidFill>
                <a:srgbClr val="B5443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B5443C"/>
              </a:solidFill>
              <a:ln w="9525" cap="flat">
                <a:solidFill>
                  <a:srgbClr val="B5443C"/>
                </a:solidFill>
                <a:prstDash val="solid"/>
                <a:round/>
              </a:ln>
              <a:effectLst/>
            </c:spPr>
          </c:marker>
          <c:cat>
            <c:multiLvlStrRef>
              <c:f>Sheet1!$A$2:$A$5</c:f>
              <c:multiLvlStrCache>
                <c:ptCount val="4"/>
                <c:lvl>
                  <c:pt idx="0">
                    <c:v>6 h</c:v>
                  </c:pt>
                  <c:pt idx="1">
                    <c:v>24 h</c:v>
                  </c:pt>
                  <c:pt idx="2">
                    <c:v>48 h</c:v>
                  </c:pt>
                  <c:pt idx="3">
                    <c:v>96 h</c:v>
                  </c:pt>
                </c:lvl>
              </c:multiLvlStrCache>
            </c:multiLvlStrRef>
          </c:cat>
          <c:val>
            <c:numRef>
              <c:f>Sheet1!$C$2:$C$5</c:f>
              <c:numCache>
                <c:formatCode>General</c:formatCode>
                <c:ptCount val="4"/>
                <c:pt idx="0">
                  <c:v>0.119</c:v>
                </c:pt>
                <c:pt idx="1">
                  <c:v>0.5</c:v>
                </c:pt>
                <c:pt idx="2">
                  <c:v>0.731</c:v>
                </c:pt>
                <c:pt idx="3">
                  <c:v>0.269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1F2E"/>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E4E2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5B70"/>
                </a:solidFill>
                <a:latin typeface="Courier New"/>
              </a:defRPr>
            </a:pPr>
            <a:endParaRPr lang="en-US"/>
          </a:p>
        </c:txPr>
        <c:crossAx val="2094734554"/>
        <c:crosses val="autoZero"/>
        <c:crossBetween val="between"/>
        <c:majorUnit val="0.25"/>
      </c:valAx>
      <c:spPr>
        <a:noFill/>
        <a:ln>
          <a:noFill/>
        </a:ln>
        <a:effectLst/>
      </c:spPr>
    </c:plotArea>
    <c:legend>
      <c:legendPos val="b"/>
      <c:overlay val="0"/>
      <c:txPr>
        <a:bodyPr/>
        <a:lstStyle/>
        <a:p>
          <a:pPr>
            <a:defRPr sz="1000">
              <a:solidFill>
                <a:srgbClr val="1F1F2E"/>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50" b="0" i="0" u="none" strike="noStrike">
                <a:solidFill>
                  <a:srgbClr val="1F1F2E"/>
                </a:solidFill>
                <a:latin typeface="Arial"/>
              </a:defRPr>
            </a:pPr>
            <a:r>
              <a:rPr sz="1050" b="0" i="0" u="none" strike="noStrike">
                <a:solidFill>
                  <a:srgbClr val="1F1F2E"/>
                </a:solidFill>
                <a:latin typeface="Arial"/>
              </a:rPr>
              <a:t>Validation loss per epoch — hazard tracks independent within ~0.001 from epoch 1</a:t>
            </a:r>
          </a:p>
        </c:rich>
      </c:tx>
      <c:layout/>
      <c:overlay val="0"/>
    </c:title>
    <c:autoTitleDeleted val="0"/>
    <c:plotArea>
      <c:layout/>
      <c:lineChart>
        <c:varyColors val="0"/>
        <c:ser>
          <c:idx val="0"/>
          <c:order val="0"/>
          <c:tx>
            <c:strRef>
              <c:f>Sheet1!$B$1</c:f>
              <c:strCache>
                <c:ptCount val="1"/>
                <c:pt idx="0">
                  <c:v>dyn+timing hazard</c:v>
                </c:pt>
              </c:strCache>
            </c:strRef>
          </c:tx>
          <c:spPr>
            <a:solidFill>
              <a:srgbClr val="4A3D7A"/>
            </a:solidFill>
            <a:ln w="25400" cap="flat">
              <a:solidFill>
                <a:srgbClr val="4A3D7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4A3D7A"/>
              </a:solidFill>
              <a:ln w="9525" cap="flat">
                <a:solidFill>
                  <a:srgbClr val="4A3D7A"/>
                </a:solidFill>
                <a:prstDash val="solid"/>
                <a:round/>
              </a:ln>
              <a:effectLst/>
            </c:spPr>
          </c:marker>
          <c:cat>
            <c:multiLvlStrRef>
              <c:f>Sheet1!$A$2:$A$7</c:f>
              <c:multiLvlStrCache>
                <c:ptCount val="6"/>
                <c:lvl>
                  <c:pt idx="0">
                    <c:v>ep0</c:v>
                  </c:pt>
                  <c:pt idx="1">
                    <c:v>ep1</c:v>
                  </c:pt>
                  <c:pt idx="2">
                    <c:v>ep2</c:v>
                  </c:pt>
                  <c:pt idx="3">
                    <c:v>ep3</c:v>
                  </c:pt>
                  <c:pt idx="4">
                    <c:v>ep4</c:v>
                  </c:pt>
                  <c:pt idx="5">
                    <c:v>ep5</c:v>
                  </c:pt>
                </c:lvl>
              </c:multiLvlStrCache>
            </c:multiLvlStrRef>
          </c:cat>
          <c:val>
            <c:numRef>
              <c:f>Sheet1!$B$2:$B$7</c:f>
              <c:numCache>
                <c:formatCode>General</c:formatCode>
                <c:ptCount val="6"/>
                <c:pt idx="0">
                  <c:v>0.1731</c:v>
                </c:pt>
                <c:pt idx="1">
                  <c:v>0.1678</c:v>
                </c:pt>
                <c:pt idx="2">
                  <c:v>0.1694</c:v>
                </c:pt>
                <c:pt idx="3">
                  <c:v>0.1675</c:v>
                </c:pt>
                <c:pt idx="4">
                  <c:v>0.166</c:v>
                </c:pt>
                <c:pt idx="5">
                  <c:v>0.1651</c:v>
                </c:pt>
              </c:numCache>
            </c:numRef>
          </c:val>
          <c:smooth val="0"/>
        </c:ser>
        <c:ser>
          <c:idx val="1"/>
          <c:order val="1"/>
          <c:tx>
            <c:strRef>
              <c:f>Sheet1!$C$1</c:f>
              <c:strCache>
                <c:ptCount val="1"/>
                <c:pt idx="0">
                  <c:v>dyn+timing independent</c:v>
                </c:pt>
              </c:strCache>
            </c:strRef>
          </c:tx>
          <c:spPr>
            <a:solidFill>
              <a:srgbClr val="B8A9E0"/>
            </a:solidFill>
            <a:ln w="25400" cap="flat">
              <a:solidFill>
                <a:srgbClr val="B8A9E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B8A9E0"/>
              </a:solidFill>
              <a:ln w="9525" cap="flat">
                <a:solidFill>
                  <a:srgbClr val="B8A9E0"/>
                </a:solidFill>
                <a:prstDash val="solid"/>
                <a:round/>
              </a:ln>
              <a:effectLst/>
            </c:spPr>
          </c:marker>
          <c:cat>
            <c:multiLvlStrRef>
              <c:f>Sheet1!$A$2:$A$7</c:f>
              <c:multiLvlStrCache>
                <c:ptCount val="6"/>
                <c:lvl>
                  <c:pt idx="0">
                    <c:v>ep0</c:v>
                  </c:pt>
                  <c:pt idx="1">
                    <c:v>ep1</c:v>
                  </c:pt>
                  <c:pt idx="2">
                    <c:v>ep2</c:v>
                  </c:pt>
                  <c:pt idx="3">
                    <c:v>ep3</c:v>
                  </c:pt>
                  <c:pt idx="4">
                    <c:v>ep4</c:v>
                  </c:pt>
                  <c:pt idx="5">
                    <c:v>ep5</c:v>
                  </c:pt>
                </c:lvl>
              </c:multiLvlStrCache>
            </c:multiLvlStrRef>
          </c:cat>
          <c:val>
            <c:numRef>
              <c:f>Sheet1!$C$2:$C$7</c:f>
              <c:numCache>
                <c:formatCode>General</c:formatCode>
                <c:ptCount val="6"/>
                <c:pt idx="0">
                  <c:v>0.172</c:v>
                </c:pt>
                <c:pt idx="1">
                  <c:v>0.1679</c:v>
                </c:pt>
                <c:pt idx="2">
                  <c:v>0.1683</c:v>
                </c:pt>
                <c:pt idx="3">
                  <c:v>0.1673</c:v>
                </c:pt>
                <c:pt idx="4">
                  <c:v>0.1662</c:v>
                </c:pt>
                <c:pt idx="5">
                  <c:v>0.1653</c:v>
                </c:pt>
              </c:numCache>
            </c:numRef>
          </c:val>
          <c:smooth val="0"/>
        </c:ser>
        <c:ser>
          <c:idx val="2"/>
          <c:order val="2"/>
          <c:tx>
            <c:strRef>
              <c:f>Sheet1!$D$1</c:f>
              <c:strCache>
                <c:ptCount val="1"/>
                <c:pt idx="0">
                  <c:v>static+timing hazard</c:v>
                </c:pt>
              </c:strCache>
            </c:strRef>
          </c:tx>
          <c:spPr>
            <a:solidFill>
              <a:srgbClr val="B5443C"/>
            </a:solidFill>
            <a:ln w="25400" cap="flat">
              <a:solidFill>
                <a:srgbClr val="B5443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B5443C"/>
              </a:solidFill>
              <a:ln w="9525" cap="flat">
                <a:solidFill>
                  <a:srgbClr val="B5443C"/>
                </a:solidFill>
                <a:prstDash val="solid"/>
                <a:round/>
              </a:ln>
              <a:effectLst/>
            </c:spPr>
          </c:marker>
          <c:cat>
            <c:multiLvlStrRef>
              <c:f>Sheet1!$A$2:$A$7</c:f>
              <c:multiLvlStrCache>
                <c:ptCount val="6"/>
                <c:lvl>
                  <c:pt idx="0">
                    <c:v>ep0</c:v>
                  </c:pt>
                  <c:pt idx="1">
                    <c:v>ep1</c:v>
                  </c:pt>
                  <c:pt idx="2">
                    <c:v>ep2</c:v>
                  </c:pt>
                  <c:pt idx="3">
                    <c:v>ep3</c:v>
                  </c:pt>
                  <c:pt idx="4">
                    <c:v>ep4</c:v>
                  </c:pt>
                  <c:pt idx="5">
                    <c:v>ep5</c:v>
                  </c:pt>
                </c:lvl>
              </c:multiLvlStrCache>
            </c:multiLvlStrRef>
          </c:cat>
          <c:val>
            <c:numRef>
              <c:f>Sheet1!$D$2:$D$7</c:f>
              <c:numCache>
                <c:formatCode>General</c:formatCode>
                <c:ptCount val="6"/>
                <c:pt idx="0">
                  <c:v>0.1027</c:v>
                </c:pt>
                <c:pt idx="1">
                  <c:v>0.1004</c:v>
                </c:pt>
                <c:pt idx="2">
                  <c:v>0.1014</c:v>
                </c:pt>
                <c:pt idx="3">
                  <c:v>0.1</c:v>
                </c:pt>
                <c:pt idx="4">
                  <c:v>0.0982</c:v>
                </c:pt>
                <c:pt idx="5">
                  <c:v>0.098</c:v>
                </c:pt>
              </c:numCache>
            </c:numRef>
          </c:val>
          <c:smooth val="0"/>
        </c:ser>
        <c:ser>
          <c:idx val="3"/>
          <c:order val="3"/>
          <c:tx>
            <c:strRef>
              <c:f>Sheet1!$E$1</c:f>
              <c:strCache>
                <c:ptCount val="1"/>
                <c:pt idx="0">
                  <c:v>static+timing independent</c:v>
                </c:pt>
              </c:strCache>
            </c:strRef>
          </c:tx>
          <c:spPr>
            <a:solidFill>
              <a:srgbClr val="E3A29E"/>
            </a:solidFill>
            <a:ln w="25400" cap="flat">
              <a:solidFill>
                <a:srgbClr val="E3A29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3A29E"/>
              </a:solidFill>
              <a:ln w="9525" cap="flat">
                <a:solidFill>
                  <a:srgbClr val="E3A29E"/>
                </a:solidFill>
                <a:prstDash val="solid"/>
                <a:round/>
              </a:ln>
              <a:effectLst/>
            </c:spPr>
          </c:marker>
          <c:cat>
            <c:multiLvlStrRef>
              <c:f>Sheet1!$A$2:$A$7</c:f>
              <c:multiLvlStrCache>
                <c:ptCount val="6"/>
                <c:lvl>
                  <c:pt idx="0">
                    <c:v>ep0</c:v>
                  </c:pt>
                  <c:pt idx="1">
                    <c:v>ep1</c:v>
                  </c:pt>
                  <c:pt idx="2">
                    <c:v>ep2</c:v>
                  </c:pt>
                  <c:pt idx="3">
                    <c:v>ep3</c:v>
                  </c:pt>
                  <c:pt idx="4">
                    <c:v>ep4</c:v>
                  </c:pt>
                  <c:pt idx="5">
                    <c:v>ep5</c:v>
                  </c:pt>
                </c:lvl>
              </c:multiLvlStrCache>
            </c:multiLvlStrRef>
          </c:cat>
          <c:val>
            <c:numRef>
              <c:f>Sheet1!$E$2:$E$7</c:f>
              <c:numCache>
                <c:formatCode>General</c:formatCode>
                <c:ptCount val="6"/>
                <c:pt idx="0">
                  <c:v>0.1024</c:v>
                </c:pt>
                <c:pt idx="1">
                  <c:v>0.1011</c:v>
                </c:pt>
                <c:pt idx="2">
                  <c:v>0.1022</c:v>
                </c:pt>
                <c:pt idx="3">
                  <c:v>0.1002</c:v>
                </c:pt>
                <c:pt idx="4">
                  <c:v>0.0985</c:v>
                </c:pt>
                <c:pt idx="5">
                  <c:v>0.0981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F1F2E"/>
                </a:solidFill>
                <a:latin typeface="Arial"/>
              </a:defRPr>
            </a:pPr>
            <a:endParaRPr lang="en-US"/>
          </a:p>
        </c:txPr>
        <c:crossAx val="2094734552"/>
        <c:crosses val="autoZero"/>
        <c:auto val="1"/>
        <c:lblAlgn val="ctr"/>
        <c:noMultiLvlLbl val="1"/>
      </c:catAx>
      <c:valAx>
        <c:axId val="2094734552"/>
        <c:scaling>
          <c:orientation val="minMax"/>
          <c:max val="0.18"/>
          <c:min val="0.09"/>
        </c:scaling>
        <c:delete val="0"/>
        <c:axPos val="l"/>
        <c:majorGridlines>
          <c:spPr>
            <a:ln w="6350" cap="flat">
              <a:solidFill>
                <a:srgbClr val="E4E2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5B70"/>
                </a:solidFill>
                <a:latin typeface="Courier New"/>
              </a:defRPr>
            </a:pPr>
            <a:endParaRPr lang="en-US"/>
          </a:p>
        </c:txPr>
        <c:crossAx val="2094734554"/>
        <c:crosses val="autoZero"/>
        <c:crossBetween val="between"/>
        <c:majorUnit val="0.03"/>
      </c:valAx>
      <c:spPr>
        <a:noFill/>
        <a:ln>
          <a:noFill/>
        </a:ln>
        <a:effectLst/>
      </c:spPr>
    </c:plotArea>
    <c:legend>
      <c:legendPos val="b"/>
      <c:overlay val="0"/>
      <c:txPr>
        <a:bodyPr/>
        <a:lstStyle/>
        <a:p>
          <a:pPr>
            <a:defRPr sz="900">
              <a:solidFill>
                <a:srgbClr val="1F1F2E"/>
              </a:solidFill>
              <a:latin typeface="Arial"/>
              <a:cs typeface="Aria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74552" cy="960120"/>
          </a:xfrm>
          <a:prstGeom prst="rect">
            <a:avLst/>
          </a:prstGeom>
          <a:noFill/>
          <a:ln/>
        </p:spPr>
        <p:txBody>
          <a:bodyPr wrap="square" lIns="0" tIns="0" rIns="0" bIns="0" rtlCol="0" anchor="t"/>
          <a:lstStyle/>
          <a:p>
            <a:pPr indent="0" marL="0">
              <a:buNone/>
            </a:pPr>
            <a:r>
              <a:rPr lang="en-US" sz="2200" b="1" dirty="0">
                <a:solidFill>
                  <a:srgbClr val="1F1F2E"/>
                </a:solidFill>
                <a:latin typeface="Arial" pitchFamily="34" charset="0"/>
                <a:ea typeface="Arial" pitchFamily="34" charset="-122"/>
                <a:cs typeface="Arial" pitchFamily="34" charset="-120"/>
              </a:rPr>
              <a:t>Where we stand: timing acts on the cascade through three channels — spread, phase, and the evaluation grid — each now measured and bounded</a:t>
            </a:r>
            <a:endParaRPr lang="en-US" sz="2200" dirty="0"/>
          </a:p>
        </p:txBody>
      </p:sp>
      <p:sp>
        <p:nvSpPr>
          <p:cNvPr id="3" name="Shape 1"/>
          <p:cNvSpPr/>
          <p:nvPr/>
        </p:nvSpPr>
        <p:spPr>
          <a:xfrm>
            <a:off x="457200" y="1417320"/>
            <a:ext cx="3611880" cy="3017520"/>
          </a:xfrm>
          <a:prstGeom prst="roundRect">
            <a:avLst>
              <a:gd name="adj" fmla="val 2424"/>
            </a:avLst>
          </a:prstGeom>
          <a:solidFill>
            <a:srgbClr val="EFEBF9"/>
          </a:solidFill>
          <a:ln w="9525">
            <a:solidFill>
              <a:srgbClr val="D9D0F0"/>
            </a:solidFill>
            <a:prstDash val="solid"/>
          </a:ln>
        </p:spPr>
      </p:sp>
      <p:sp>
        <p:nvSpPr>
          <p:cNvPr id="4" name="Text 2"/>
          <p:cNvSpPr txBox="1"/>
          <p:nvPr/>
        </p:nvSpPr>
        <p:spPr>
          <a:xfrm>
            <a:off x="640080" y="1554480"/>
            <a:ext cx="3246120" cy="365760"/>
          </a:xfrm>
          <a:prstGeom prst="rect">
            <a:avLst/>
          </a:prstGeom>
          <a:noFill/>
          <a:ln/>
        </p:spPr>
        <p:txBody>
          <a:bodyPr wrap="square" lIns="0" tIns="0" rIns="0" bIns="0" rtlCol="0" anchor="ctr"/>
          <a:lstStyle/>
          <a:p>
            <a:pPr indent="0" marL="0">
              <a:buNone/>
            </a:pPr>
            <a:r>
              <a:rPr lang="en-US" sz="1400" b="1" dirty="0">
                <a:solidFill>
                  <a:srgbClr val="4A3D7A"/>
                </a:solidFill>
                <a:latin typeface="Arial" pitchFamily="34" charset="0"/>
                <a:ea typeface="Arial" pitchFamily="34" charset="-122"/>
                <a:cs typeface="Arial" pitchFamily="34" charset="-120"/>
              </a:rPr>
              <a:t>SPREAD (physical)</a:t>
            </a:r>
            <a:endParaRPr lang="en-US" sz="1400" dirty="0"/>
          </a:p>
        </p:txBody>
      </p:sp>
      <p:sp>
        <p:nvSpPr>
          <p:cNvPr id="5" name="Text 3"/>
          <p:cNvSpPr txBox="1"/>
          <p:nvPr/>
        </p:nvSpPr>
        <p:spPr>
          <a:xfrm>
            <a:off x="640080" y="1965960"/>
            <a:ext cx="3246120" cy="548640"/>
          </a:xfrm>
          <a:prstGeom prst="rect">
            <a:avLst/>
          </a:prstGeom>
          <a:noFill/>
          <a:ln/>
        </p:spPr>
        <p:txBody>
          <a:bodyPr wrap="square" lIns="0" tIns="0" rIns="0" bIns="0" rtlCol="0" anchor="ctr"/>
          <a:lstStyle/>
          <a:p>
            <a:pPr indent="0" marL="0">
              <a:buNone/>
            </a:pPr>
            <a:r>
              <a:rPr lang="en-US" sz="2200" b="1" dirty="0">
                <a:solidFill>
                  <a:srgbClr val="1F1F2E"/>
                </a:solidFill>
                <a:latin typeface="Courier New" pitchFamily="34" charset="0"/>
                <a:ea typeface="Courier New" pitchFamily="34" charset="-122"/>
                <a:cs typeface="Courier New" pitchFamily="34" charset="-120"/>
              </a:rPr>
              <a:t>+141 nodes/run</a:t>
            </a:r>
            <a:endParaRPr lang="en-US" sz="2200" dirty="0"/>
          </a:p>
        </p:txBody>
      </p:sp>
      <p:sp>
        <p:nvSpPr>
          <p:cNvPr id="6" name="Text 4"/>
          <p:cNvSpPr txBox="1"/>
          <p:nvPr/>
        </p:nvSpPr>
        <p:spPr>
          <a:xfrm>
            <a:off x="640080" y="2606040"/>
            <a:ext cx="3246120" cy="1691640"/>
          </a:xfrm>
          <a:prstGeom prst="rect">
            <a:avLst/>
          </a:prstGeom>
          <a:noFill/>
          <a:ln/>
        </p:spPr>
        <p:txBody>
          <a:bodyPr wrap="square" lIns="0" tIns="0" rIns="0" bIns="0" rtlCol="0" anchor="t"/>
          <a:lstStyle/>
          <a:p>
            <a:pPr indent="0" marL="0">
              <a:buNone/>
            </a:pPr>
            <a:r>
              <a:rPr lang="en-US" sz="1200" dirty="0">
                <a:solidFill>
                  <a:srgbClr val="1F1F2E"/>
                </a:solidFill>
                <a:latin typeface="Arial" pitchFamily="34" charset="0"/>
                <a:ea typeface="Arial" pitchFamily="34" charset="-122"/>
                <a:cs typeface="Arial" pitchFamily="34" charset="-120"/>
              </a:rPr>
              <a:t>Water arriving over ~26 h before the peak instead of all at once: the cascade is already running at the peak (864 vs 285 nodes down at t = 0 in the same run). 880_9, N = 100, paired seeds, 95 of 100 runs higher. Contained-mode end state barely moves; the tipping share does (0.16 → 0.23).</a:t>
            </a:r>
            <a:endParaRPr lang="en-US" sz="1200" dirty="0"/>
          </a:p>
        </p:txBody>
      </p:sp>
      <p:sp>
        <p:nvSpPr>
          <p:cNvPr id="7" name="Shape 5"/>
          <p:cNvSpPr/>
          <p:nvPr/>
        </p:nvSpPr>
        <p:spPr>
          <a:xfrm>
            <a:off x="4288536" y="1417320"/>
            <a:ext cx="3611880" cy="3017520"/>
          </a:xfrm>
          <a:prstGeom prst="roundRect">
            <a:avLst>
              <a:gd name="adj" fmla="val 2424"/>
            </a:avLst>
          </a:prstGeom>
          <a:solidFill>
            <a:srgbClr val="EFEBF9"/>
          </a:solidFill>
          <a:ln w="9525">
            <a:solidFill>
              <a:srgbClr val="D9D0F0"/>
            </a:solidFill>
            <a:prstDash val="solid"/>
          </a:ln>
        </p:spPr>
      </p:sp>
      <p:sp>
        <p:nvSpPr>
          <p:cNvPr id="8" name="Text 6"/>
          <p:cNvSpPr txBox="1"/>
          <p:nvPr/>
        </p:nvSpPr>
        <p:spPr>
          <a:xfrm>
            <a:off x="4471416" y="1554480"/>
            <a:ext cx="3246120" cy="365760"/>
          </a:xfrm>
          <a:prstGeom prst="rect">
            <a:avLst/>
          </a:prstGeom>
          <a:noFill/>
          <a:ln/>
        </p:spPr>
        <p:txBody>
          <a:bodyPr wrap="square" lIns="0" tIns="0" rIns="0" bIns="0" rtlCol="0" anchor="ctr"/>
          <a:lstStyle/>
          <a:p>
            <a:pPr indent="0" marL="0">
              <a:buNone/>
            </a:pPr>
            <a:r>
              <a:rPr lang="en-US" sz="1400" b="1" dirty="0">
                <a:solidFill>
                  <a:srgbClr val="4A3D7A"/>
                </a:solidFill>
                <a:latin typeface="Arial" pitchFamily="34" charset="0"/>
                <a:ea typeface="Arial" pitchFamily="34" charset="-122"/>
                <a:cs typeface="Arial" pitchFamily="34" charset="-120"/>
              </a:rPr>
              <a:t>PHASE (physical)</a:t>
            </a:r>
            <a:endParaRPr lang="en-US" sz="1400" dirty="0"/>
          </a:p>
        </p:txBody>
      </p:sp>
      <p:sp>
        <p:nvSpPr>
          <p:cNvPr id="9" name="Text 7"/>
          <p:cNvSpPr txBox="1"/>
          <p:nvPr/>
        </p:nvSpPr>
        <p:spPr>
          <a:xfrm>
            <a:off x="4471416" y="1965960"/>
            <a:ext cx="3246120" cy="548640"/>
          </a:xfrm>
          <a:prstGeom prst="rect">
            <a:avLst/>
          </a:prstGeom>
          <a:noFill/>
          <a:ln/>
        </p:spPr>
        <p:txBody>
          <a:bodyPr wrap="square" lIns="0" tIns="0" rIns="0" bIns="0" rtlCol="0" anchor="ctr"/>
          <a:lstStyle/>
          <a:p>
            <a:pPr indent="0" marL="0">
              <a:buNone/>
            </a:pPr>
            <a:r>
              <a:rPr lang="en-US" sz="2200" b="1" dirty="0">
                <a:solidFill>
                  <a:srgbClr val="1F1F2E"/>
                </a:solidFill>
                <a:latin typeface="Courier New" pitchFamily="34" charset="0"/>
                <a:ea typeface="Courier New" pitchFamily="34" charset="-122"/>
                <a:cs typeface="Courier New" pitchFamily="34" charset="-120"/>
              </a:rPr>
              <a:t>±240 nodes / 6 h</a:t>
            </a:r>
            <a:endParaRPr lang="en-US" sz="2200" dirty="0"/>
          </a:p>
        </p:txBody>
      </p:sp>
      <p:sp>
        <p:nvSpPr>
          <p:cNvPr id="10" name="Text 8"/>
          <p:cNvSpPr txBox="1"/>
          <p:nvPr/>
        </p:nvSpPr>
        <p:spPr>
          <a:xfrm>
            <a:off x="4471416" y="2606040"/>
            <a:ext cx="3246120" cy="1691640"/>
          </a:xfrm>
          <a:prstGeom prst="rect">
            <a:avLst/>
          </a:prstGeom>
          <a:noFill/>
          <a:ln/>
        </p:spPr>
        <p:txBody>
          <a:bodyPr wrap="square" lIns="0" tIns="0" rIns="0" bIns="0" rtlCol="0" anchor="t"/>
          <a:lstStyle/>
          <a:p>
            <a:pPr indent="0" marL="0">
              <a:buNone/>
            </a:pPr>
            <a:r>
              <a:rPr lang="en-US" sz="1200" dirty="0">
                <a:solidFill>
                  <a:srgbClr val="1F1F2E"/>
                </a:solidFill>
                <a:latin typeface="Arial" pitchFamily="34" charset="0"/>
                <a:ea typeface="Arial" pitchFamily="34" charset="-122"/>
                <a:cs typeface="Arial" pitchFamily="34" charset="-120"/>
              </a:rPr>
              <a:t>When the flood lands relative to the peak-anchored telecom demand surge. Symmetric; 94 % of the shift-study deltas are this surge interaction. The engine itself is translation-invariant (arms T ≡ R in 100/100 runs) — the Week 24 confusion is resolved on the record.</a:t>
            </a:r>
            <a:endParaRPr lang="en-US" sz="1200" dirty="0"/>
          </a:p>
        </p:txBody>
      </p:sp>
      <p:sp>
        <p:nvSpPr>
          <p:cNvPr id="11" name="Shape 9"/>
          <p:cNvSpPr/>
          <p:nvPr/>
        </p:nvSpPr>
        <p:spPr>
          <a:xfrm>
            <a:off x="8119872" y="1417320"/>
            <a:ext cx="3611880" cy="3017520"/>
          </a:xfrm>
          <a:prstGeom prst="roundRect">
            <a:avLst>
              <a:gd name="adj" fmla="val 2424"/>
            </a:avLst>
          </a:prstGeom>
          <a:solidFill>
            <a:srgbClr val="EFEBF9"/>
          </a:solidFill>
          <a:ln w="9525">
            <a:solidFill>
              <a:srgbClr val="D9D0F0"/>
            </a:solidFill>
            <a:prstDash val="solid"/>
          </a:ln>
        </p:spPr>
      </p:sp>
      <p:sp>
        <p:nvSpPr>
          <p:cNvPr id="12" name="Text 10"/>
          <p:cNvSpPr txBox="1"/>
          <p:nvPr/>
        </p:nvSpPr>
        <p:spPr>
          <a:xfrm>
            <a:off x="8302752" y="1554480"/>
            <a:ext cx="3246120" cy="365760"/>
          </a:xfrm>
          <a:prstGeom prst="rect">
            <a:avLst/>
          </a:prstGeom>
          <a:noFill/>
          <a:ln/>
        </p:spPr>
        <p:txBody>
          <a:bodyPr wrap="square" lIns="0" tIns="0" rIns="0" bIns="0" rtlCol="0" anchor="ctr"/>
          <a:lstStyle/>
          <a:p>
            <a:pPr indent="0" marL="0">
              <a:buNone/>
            </a:pPr>
            <a:r>
              <a:rPr lang="en-US" sz="1400" b="1" dirty="0">
                <a:solidFill>
                  <a:srgbClr val="4A3D7A"/>
                </a:solidFill>
                <a:latin typeface="Arial" pitchFamily="34" charset="0"/>
                <a:ea typeface="Arial" pitchFamily="34" charset="-122"/>
                <a:cs typeface="Arial" pitchFamily="34" charset="-120"/>
              </a:rPr>
              <a:t>GRID (implementation)</a:t>
            </a:r>
            <a:endParaRPr lang="en-US" sz="1400" dirty="0"/>
          </a:p>
        </p:txBody>
      </p:sp>
      <p:sp>
        <p:nvSpPr>
          <p:cNvPr id="13" name="Text 11"/>
          <p:cNvSpPr txBox="1"/>
          <p:nvPr/>
        </p:nvSpPr>
        <p:spPr>
          <a:xfrm>
            <a:off x="8302752" y="1965960"/>
            <a:ext cx="3246120" cy="548640"/>
          </a:xfrm>
          <a:prstGeom prst="rect">
            <a:avLst/>
          </a:prstGeom>
          <a:noFill/>
          <a:ln/>
        </p:spPr>
        <p:txBody>
          <a:bodyPr wrap="square" lIns="0" tIns="0" rIns="0" bIns="0" rtlCol="0" anchor="ctr"/>
          <a:lstStyle/>
          <a:p>
            <a:pPr indent="0" marL="0">
              <a:buNone/>
            </a:pPr>
            <a:r>
              <a:rPr lang="en-US" sz="2200" b="1" dirty="0">
                <a:solidFill>
                  <a:srgbClr val="1F1F2E"/>
                </a:solidFill>
                <a:latin typeface="Courier New" pitchFamily="34" charset="0"/>
                <a:ea typeface="Courier New" pitchFamily="34" charset="-122"/>
                <a:cs typeface="Courier New" pitchFamily="34" charset="-120"/>
              </a:rPr>
              <a:t>6 h → 3 h → 1 h</a:t>
            </a:r>
            <a:endParaRPr lang="en-US" sz="2200" dirty="0"/>
          </a:p>
        </p:txBody>
      </p:sp>
      <p:sp>
        <p:nvSpPr>
          <p:cNvPr id="14" name="Text 12"/>
          <p:cNvSpPr txBox="1"/>
          <p:nvPr/>
        </p:nvSpPr>
        <p:spPr>
          <a:xfrm>
            <a:off x="8302752" y="2606040"/>
            <a:ext cx="3246120" cy="1691640"/>
          </a:xfrm>
          <a:prstGeom prst="rect">
            <a:avLst/>
          </a:prstGeom>
          <a:noFill/>
          <a:ln/>
        </p:spPr>
        <p:txBody>
          <a:bodyPr wrap="square" lIns="0" tIns="0" rIns="0" bIns="0" rtlCol="0" anchor="t"/>
          <a:lstStyle/>
          <a:p>
            <a:pPr indent="0" marL="0">
              <a:buNone/>
            </a:pPr>
            <a:r>
              <a:rPr lang="en-US" sz="1200" dirty="0">
                <a:solidFill>
                  <a:srgbClr val="1F1F2E"/>
                </a:solidFill>
                <a:latin typeface="Arial" pitchFamily="34" charset="0"/>
                <a:ea typeface="Arial" pitchFamily="34" charset="-122"/>
                <a:cs typeface="Arial" pitchFamily="34" charset="-120"/>
              </a:rPr>
              <a:t>Inter-layer kills are realized only when the simulator looks. Looking more often lets the cascade advance while the surge is still high. This week: refined to 1 h. Result on the next slide.</a:t>
            </a:r>
            <a:endParaRPr lang="en-US" sz="1200" dirty="0"/>
          </a:p>
        </p:txBody>
      </p:sp>
      <p:sp>
        <p:nvSpPr>
          <p:cNvPr id="15" name="Text 13"/>
          <p:cNvSpPr txBox="1"/>
          <p:nvPr/>
        </p:nvSpPr>
        <p:spPr>
          <a:xfrm>
            <a:off x="457200" y="4709160"/>
            <a:ext cx="11274552" cy="640080"/>
          </a:xfrm>
          <a:prstGeom prst="rect">
            <a:avLst/>
          </a:prstGeom>
          <a:noFill/>
          <a:ln/>
        </p:spPr>
        <p:txBody>
          <a:bodyPr wrap="square" lIns="0" tIns="0" rIns="0" bIns="0" rtlCol="0" anchor="ctr"/>
          <a:lstStyle/>
          <a:p>
            <a:pPr indent="0" marL="0">
              <a:buNone/>
            </a:pPr>
            <a:r>
              <a:rPr lang="en-US" sz="1250" b="1" dirty="0">
                <a:solidFill>
                  <a:srgbClr val="1F1F2E"/>
                </a:solidFill>
                <a:latin typeface="Arial" pitchFamily="34" charset="0"/>
                <a:ea typeface="Arial" pitchFamily="34" charset="-122"/>
                <a:cs typeface="Arial" pitchFamily="34" charset="-120"/>
              </a:rPr>
              <a:t>Status of the simulator chapter: </a:t>
            </a:r>
            <a:pPr indent="0" marL="0">
              <a:buNone/>
            </a:pPr>
            <a:r>
              <a:rPr lang="en-US" sz="1250" dirty="0">
                <a:solidFill>
                  <a:srgbClr val="1F1F2E"/>
                </a:solidFill>
                <a:latin typeface="Arial" pitchFamily="34" charset="0"/>
                <a:ea typeface="Arial" pitchFamily="34" charset="-122"/>
                <a:cs typeface="Arial" pitchFamily="34" charset="-120"/>
              </a:rPr>
              <a:t>closed. Every Week 23–24 overclaim is corrected on the record (concept note v3, memo v3, commit 40bc937). What remains is bookkeeping — the grid decision below — and the surrogate, which cannot yet represent any of this.</a:t>
            </a:r>
            <a:endParaRPr lang="en-US" sz="1250" dirty="0"/>
          </a:p>
        </p:txBody>
      </p:sp>
      <p:sp>
        <p:nvSpPr>
          <p:cNvPr id="16" name="Shape 14"/>
          <p:cNvSpPr/>
          <p:nvPr/>
        </p:nvSpPr>
        <p:spPr>
          <a:xfrm>
            <a:off x="457200" y="5943600"/>
            <a:ext cx="11274552" cy="621792"/>
          </a:xfrm>
          <a:prstGeom prst="rect">
            <a:avLst/>
          </a:prstGeom>
          <a:solidFill>
            <a:srgbClr val="EFEBF9"/>
          </a:solidFill>
          <a:ln w="9525">
            <a:solidFill>
              <a:srgbClr val="D9D0F0"/>
            </a:solidFill>
            <a:prstDash val="solid"/>
          </a:ln>
        </p:spPr>
      </p:sp>
      <p:sp>
        <p:nvSpPr>
          <p:cNvPr id="17" name="Text 15"/>
          <p:cNvSpPr txBox="1"/>
          <p:nvPr/>
        </p:nvSpPr>
        <p:spPr>
          <a:xfrm>
            <a:off x="594360" y="5943600"/>
            <a:ext cx="11018520" cy="621792"/>
          </a:xfrm>
          <a:prstGeom prst="rect">
            <a:avLst/>
          </a:prstGeom>
          <a:noFill/>
          <a:ln/>
        </p:spPr>
        <p:txBody>
          <a:bodyPr wrap="square" lIns="0" tIns="0" rIns="0" bIns="0" rtlCol="0" anchor="ctr"/>
          <a:lstStyle/>
          <a:p>
            <a:pPr indent="0" marL="0">
              <a:buNone/>
            </a:pPr>
            <a:r>
              <a:rPr lang="en-US" sz="1100" b="1" i="1" dirty="0">
                <a:solidFill>
                  <a:srgbClr val="4A3D7A"/>
                </a:solidFill>
                <a:latin typeface="Arial" pitchFamily="34" charset="0"/>
                <a:ea typeface="Arial" pitchFamily="34" charset="-122"/>
                <a:cs typeface="Arial" pitchFamily="34" charset="-120"/>
              </a:rPr>
              <a:t>Say: </a:t>
            </a:r>
            <a:pPr indent="0" marL="0">
              <a:buNone/>
            </a:pPr>
            <a:r>
              <a:rPr lang="en-US" sz="1100" i="1" dirty="0">
                <a:solidFill>
                  <a:srgbClr val="1F1F2E"/>
                </a:solidFill>
                <a:latin typeface="Arial" pitchFamily="34" charset="0"/>
                <a:ea typeface="Arial" pitchFamily="34" charset="-122"/>
                <a:cs typeface="Arial" pitchFamily="34" charset="-120"/>
              </a:rPr>
              <a:t>Three weeks ago the question was whether timing matters. It does, through two physical channels and one implementation channel, and we can now say how much for each. The instrument audit is done; this week I closed the last instrument question and started on the surrogate.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74552" cy="960120"/>
          </a:xfrm>
          <a:prstGeom prst="rect">
            <a:avLst/>
          </a:prstGeom>
          <a:noFill/>
          <a:ln/>
        </p:spPr>
        <p:txBody>
          <a:bodyPr wrap="square" lIns="0" tIns="0" rIns="0" bIns="0" rtlCol="0" anchor="t"/>
          <a:lstStyle/>
          <a:p>
            <a:pPr indent="0" marL="0">
              <a:buNone/>
            </a:pPr>
            <a:r>
              <a:rPr lang="en-US" sz="2200" b="1" dirty="0">
                <a:solidFill>
                  <a:srgbClr val="1F1F2E"/>
                </a:solidFill>
                <a:latin typeface="Arial" pitchFamily="34" charset="0"/>
                <a:ea typeface="Arial" pitchFamily="34" charset="-122"/>
                <a:cs typeface="Arial" pitchFamily="34" charset="-120"/>
              </a:rPr>
              <a:t>The evaluation grid is not converged: each halving of the step adds ~+0.10 to the super-cascade share; the contained mode does not move</a:t>
            </a:r>
            <a:endParaRPr lang="en-US" sz="2200" dirty="0"/>
          </a:p>
        </p:txBody>
      </p:sp>
      <p:graphicFrame>
        <p:nvGraphicFramePr>
          <p:cNvPr id="3" name="Chart 0" descr=""/>
          <p:cNvGraphicFramePr/>
          <p:nvPr/>
        </p:nvGraphicFramePr>
        <p:xfrm>
          <a:off x="457200" y="1371600"/>
          <a:ext cx="5852160" cy="338328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6537960" y="1371600"/>
            <a:ext cx="5193792" cy="3383280"/>
          </a:xfrm>
          <a:prstGeom prst="roundRect">
            <a:avLst>
              <a:gd name="adj" fmla="val 2162"/>
            </a:avLst>
          </a:prstGeom>
          <a:solidFill>
            <a:srgbClr val="EFEBF9"/>
          </a:solidFill>
          <a:ln w="9525">
            <a:solidFill>
              <a:srgbClr val="D9D0F0"/>
            </a:solidFill>
            <a:prstDash val="solid"/>
          </a:ln>
        </p:spPr>
      </p:sp>
      <p:sp>
        <p:nvSpPr>
          <p:cNvPr id="5" name="Text 2"/>
          <p:cNvSpPr txBox="1"/>
          <p:nvPr/>
        </p:nvSpPr>
        <p:spPr>
          <a:xfrm>
            <a:off x="6720840" y="1481328"/>
            <a:ext cx="4846320" cy="320040"/>
          </a:xfrm>
          <a:prstGeom prst="rect">
            <a:avLst/>
          </a:prstGeom>
          <a:noFill/>
          <a:ln/>
        </p:spPr>
        <p:txBody>
          <a:bodyPr wrap="square" lIns="0" tIns="0" rIns="0" bIns="0" rtlCol="0" anchor="ctr"/>
          <a:lstStyle/>
          <a:p>
            <a:pPr indent="0" marL="0">
              <a:buNone/>
            </a:pPr>
            <a:r>
              <a:rPr lang="en-US" sz="1300" b="1" dirty="0">
                <a:solidFill>
                  <a:srgbClr val="4A3D7A"/>
                </a:solidFill>
                <a:latin typeface="Arial" pitchFamily="34" charset="0"/>
                <a:ea typeface="Arial" pitchFamily="34" charset="-122"/>
                <a:cs typeface="Arial" pitchFamily="34" charset="-120"/>
              </a:rPr>
              <a:t>What did and did not move (1 h vs 3 h, paired by seed)</a:t>
            </a:r>
            <a:endParaRPr lang="en-US" sz="1300" dirty="0"/>
          </a:p>
        </p:txBody>
      </p:sp>
      <p:sp>
        <p:nvSpPr>
          <p:cNvPr id="6" name="Text 3"/>
          <p:cNvSpPr txBox="1"/>
          <p:nvPr/>
        </p:nvSpPr>
        <p:spPr>
          <a:xfrm>
            <a:off x="6720840" y="1828800"/>
            <a:ext cx="4846320" cy="283464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1F1F2E"/>
                </a:solidFill>
                <a:latin typeface="Courier New" pitchFamily="34" charset="0"/>
                <a:ea typeface="Courier New" pitchFamily="34" charset="-122"/>
                <a:cs typeface="Courier New" pitchFamily="34" charset="-120"/>
              </a:rPr>
              <a:t>Tipping share  static 0.16 → 0.26, arrival 0.23 → 0.34</a:t>
            </a:r>
            <a:endParaRPr lang="en-US" sz="1050" dirty="0"/>
          </a:p>
          <a:p>
            <a:pPr marL="342900" indent="-342900">
              <a:spcAft>
                <a:spcPts val="500"/>
              </a:spcAft>
              <a:buSzPct val="100000"/>
              <a:buChar char="•"/>
            </a:pPr>
            <a:r>
              <a:rPr lang="en-US" sz="1050" dirty="0">
                <a:solidFill>
                  <a:srgbClr val="1F1F2E"/>
                </a:solidFill>
                <a:latin typeface="Courier New" pitchFamily="34" charset="0"/>
                <a:ea typeface="Courier New" pitchFamily="34" charset="-122"/>
                <a:cs typeface="Courier New" pitchFamily="34" charset="-120"/>
              </a:rPr>
              <a:t>Contained mean  2280 → 2281 (static), 2305 → 2275 (arrival)</a:t>
            </a:r>
            <a:endParaRPr lang="en-US" sz="1050" dirty="0"/>
          </a:p>
          <a:p>
            <a:pPr marL="342900" indent="-342900">
              <a:spcAft>
                <a:spcPts val="500"/>
              </a:spcAft>
              <a:buSzPct val="100000"/>
              <a:buChar char="•"/>
            </a:pPr>
            <a:r>
              <a:rPr lang="en-US" sz="1050" dirty="0">
                <a:solidFill>
                  <a:srgbClr val="1F1F2E"/>
                </a:solidFill>
                <a:latin typeface="Courier New" pitchFamily="34" charset="0"/>
                <a:ea typeface="Courier New" pitchFamily="34" charset="-122"/>
                <a:cs typeface="Courier New" pitchFamily="34" charset="-120"/>
              </a:rPr>
              <a:t>Arrival effect  U − S = +133 at 1 h vs +141 at 3 h (grid-stable)</a:t>
            </a:r>
            <a:endParaRPr lang="en-US" sz="1050" dirty="0"/>
          </a:p>
          <a:p>
            <a:pPr marL="342900" indent="-342900">
              <a:spcAft>
                <a:spcPts val="500"/>
              </a:spcAft>
              <a:buSzPct val="100000"/>
              <a:buChar char="•"/>
            </a:pPr>
            <a:r>
              <a:rPr lang="en-US" sz="1050" dirty="0">
                <a:solidFill>
                  <a:srgbClr val="1F1F2E"/>
                </a:solidFill>
                <a:latin typeface="Courier New" pitchFamily="34" charset="0"/>
                <a:ea typeface="Courier New" pitchFamily="34" charset="-122"/>
                <a:cs typeface="Courier New" pitchFamily="34" charset="-120"/>
              </a:rPr>
              <a:t>Per-run re-sorting  S1 − S3: 76 up / 21 down; U1 − U3: 51 up / 41 down</a:t>
            </a:r>
            <a:endParaRPr lang="en-US" sz="1050" dirty="0"/>
          </a:p>
          <a:p>
            <a:pPr marL="342900" indent="-342900">
              <a:spcAft>
                <a:spcPts val="500"/>
              </a:spcAft>
              <a:buSzPct val="100000"/>
              <a:buChar char="•"/>
            </a:pPr>
            <a:r>
              <a:rPr lang="en-US" sz="1050" dirty="0">
                <a:solidFill>
                  <a:srgbClr val="1F1F2E"/>
                </a:solidFill>
                <a:latin typeface="Courier New" pitchFamily="34" charset="0"/>
                <a:ea typeface="Courier New" pitchFamily="34" charset="-122"/>
                <a:cs typeface="Courier New" pitchFamily="34" charset="-120"/>
              </a:rPr>
              <a:t>Crash decisions  100/100 in every arm at ≥ 1000/1200/1500 — unchanged</a:t>
            </a:r>
            <a:endParaRPr lang="en-US" sz="1050" dirty="0"/>
          </a:p>
          <a:p>
            <a:pPr indent="0" marL="0">
              <a:spcAft>
                <a:spcPts val="500"/>
              </a:spcAft>
              <a:buNone/>
            </a:pPr>
            <a:r>
              <a:rPr lang="en-US" sz="1050" dirty="0">
                <a:solidFill>
                  <a:srgbClr val="5B5B70"/>
                </a:solidFill>
                <a:latin typeface="Arial" pitchFamily="34" charset="0"/>
                <a:ea typeface="Arial" pitchFamily="34" charset="-122"/>
                <a:cs typeface="Arial" pitchFamily="34" charset="-120"/>
              </a:rPr>
              <a:t>Fingerprint: the reference used for the 1-h arms reproduces Week 25's S3 record-for-record (reduction check exit 0). Runs ~6 min per 100-run arm on the Mac.</a:t>
            </a:r>
            <a:endParaRPr lang="en-US" sz="1050" dirty="0"/>
          </a:p>
        </p:txBody>
      </p:sp>
      <p:sp>
        <p:nvSpPr>
          <p:cNvPr id="7" name="Shape 4"/>
          <p:cNvSpPr/>
          <p:nvPr/>
        </p:nvSpPr>
        <p:spPr>
          <a:xfrm>
            <a:off x="457200" y="4892040"/>
            <a:ext cx="11274552" cy="658368"/>
          </a:xfrm>
          <a:prstGeom prst="roundRect">
            <a:avLst>
              <a:gd name="adj" fmla="val 8333"/>
            </a:avLst>
          </a:prstGeom>
          <a:solidFill>
            <a:srgbClr val="4A3D7A"/>
          </a:solidFill>
          <a:ln w="12700">
            <a:solidFill>
              <a:srgbClr val="4A3D7A"/>
            </a:solidFill>
            <a:prstDash val="solid"/>
          </a:ln>
        </p:spPr>
      </p:sp>
      <p:sp>
        <p:nvSpPr>
          <p:cNvPr id="8" name="Text 5"/>
          <p:cNvSpPr txBox="1"/>
          <p:nvPr/>
        </p:nvSpPr>
        <p:spPr>
          <a:xfrm>
            <a:off x="640080" y="4892040"/>
            <a:ext cx="10927080" cy="658368"/>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Decision proposed: </a:t>
            </a:r>
            <a:pPr indent="0" marL="0">
              <a:buNone/>
            </a:pPr>
            <a:r>
              <a:rPr lang="en-US" sz="1150" dirty="0">
                <a:solidFill>
                  <a:srgbClr val="FFFFFF"/>
                </a:solidFill>
                <a:latin typeface="Arial" pitchFamily="34" charset="0"/>
                <a:ea typeface="Arial" pitchFamily="34" charset="-122"/>
                <a:cs typeface="Arial" pitchFamily="34" charset="-120"/>
              </a:rPr>
              <a:t>the super-cascade share is a grid-conditional quantity and is reported with its grid. The surrogate is trained only on fixed, physical horizons (peak-relative 6 / 24 / 48 / 96 h), never on a tipping share. No run finer than 1 h — the pattern is established; a 30-min grid would only re-confirm non-convergence.</a:t>
            </a:r>
            <a:endParaRPr lang="en-US" sz="1150" dirty="0"/>
          </a:p>
        </p:txBody>
      </p:sp>
      <p:sp>
        <p:nvSpPr>
          <p:cNvPr id="9" name="Text 6"/>
          <p:cNvSpPr txBox="1"/>
          <p:nvPr/>
        </p:nvSpPr>
        <p:spPr>
          <a:xfrm>
            <a:off x="457200" y="5596128"/>
            <a:ext cx="11274552" cy="274320"/>
          </a:xfrm>
          <a:prstGeom prst="rect">
            <a:avLst/>
          </a:prstGeom>
          <a:noFill/>
          <a:ln/>
        </p:spPr>
        <p:txBody>
          <a:bodyPr wrap="square" lIns="0" tIns="0" rIns="0" bIns="0" rtlCol="0" anchor="ctr"/>
          <a:lstStyle/>
          <a:p>
            <a:pPr indent="0" marL="0">
              <a:buNone/>
            </a:pPr>
            <a:r>
              <a:rPr lang="en-US" sz="950" dirty="0">
                <a:solidFill>
                  <a:srgbClr val="5B5B70"/>
                </a:solidFill>
                <a:latin typeface="Arial" pitchFamily="34" charset="0"/>
                <a:ea typeface="Arial" pitchFamily="34" charset="-122"/>
                <a:cs typeface="Arial" pitchFamily="34" charset="-120"/>
              </a:rPr>
              <a:t>Caveats: one storm (880_9, the tipping-zone case), N = 100, binomial sd ≈ 0.04 on the share; 6-h values from the Week 25 arm table. The pre-registered prediction (a plateau at 3 h) was wrong — recorded.</a:t>
            </a:r>
            <a:endParaRPr lang="en-US" sz="950" dirty="0"/>
          </a:p>
        </p:txBody>
      </p:sp>
      <p:sp>
        <p:nvSpPr>
          <p:cNvPr id="10" name="Shape 7"/>
          <p:cNvSpPr/>
          <p:nvPr/>
        </p:nvSpPr>
        <p:spPr>
          <a:xfrm>
            <a:off x="457200" y="5943600"/>
            <a:ext cx="11274552" cy="621792"/>
          </a:xfrm>
          <a:prstGeom prst="rect">
            <a:avLst/>
          </a:prstGeom>
          <a:solidFill>
            <a:srgbClr val="EFEBF9"/>
          </a:solidFill>
          <a:ln w="9525">
            <a:solidFill>
              <a:srgbClr val="D9D0F0"/>
            </a:solidFill>
            <a:prstDash val="solid"/>
          </a:ln>
        </p:spPr>
      </p:sp>
      <p:sp>
        <p:nvSpPr>
          <p:cNvPr id="11" name="Text 8"/>
          <p:cNvSpPr txBox="1"/>
          <p:nvPr/>
        </p:nvSpPr>
        <p:spPr>
          <a:xfrm>
            <a:off x="594360" y="5943600"/>
            <a:ext cx="11018520" cy="621792"/>
          </a:xfrm>
          <a:prstGeom prst="rect">
            <a:avLst/>
          </a:prstGeom>
          <a:noFill/>
          <a:ln/>
        </p:spPr>
        <p:txBody>
          <a:bodyPr wrap="square" lIns="0" tIns="0" rIns="0" bIns="0" rtlCol="0" anchor="ctr"/>
          <a:lstStyle/>
          <a:p>
            <a:pPr indent="0" marL="0">
              <a:buNone/>
            </a:pPr>
            <a:r>
              <a:rPr lang="en-US" sz="1100" b="1" i="1" dirty="0">
                <a:solidFill>
                  <a:srgbClr val="4A3D7A"/>
                </a:solidFill>
                <a:latin typeface="Arial" pitchFamily="34" charset="0"/>
                <a:ea typeface="Arial" pitchFamily="34" charset="-122"/>
                <a:cs typeface="Arial" pitchFamily="34" charset="-120"/>
              </a:rPr>
              <a:t>Say: </a:t>
            </a:r>
            <a:pPr indent="0" marL="0">
              <a:buNone/>
            </a:pPr>
            <a:r>
              <a:rPr lang="en-US" sz="1100" i="1" dirty="0">
                <a:solidFill>
                  <a:srgbClr val="1F1F2E"/>
                </a:solidFill>
                <a:latin typeface="Arial" pitchFamily="34" charset="0"/>
                <a:ea typeface="Arial" pitchFamily="34" charset="-122"/>
                <a:cs typeface="Arial" pitchFamily="34" charset="-120"/>
              </a:rPr>
              <a:t>I predicted the grid would converge at 3 h. It doesn't: 1 h adds another +0.10 to the tipping share in both arms, the same size as the 6-to-3 step. What does converge is the contained mode, which tells us the grid only acts on runs at the threshold. So the share is an instrument number, not a physical one, and I'm proposing we treat it that way and keep the surrogate's targets physical.</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74552" cy="960120"/>
          </a:xfrm>
          <a:prstGeom prst="rect">
            <a:avLst/>
          </a:prstGeom>
          <a:noFill/>
          <a:ln/>
        </p:spPr>
        <p:txBody>
          <a:bodyPr wrap="square" lIns="0" tIns="0" rIns="0" bIns="0" rtlCol="0" anchor="t"/>
          <a:lstStyle/>
          <a:p>
            <a:pPr indent="0" marL="0">
              <a:buNone/>
            </a:pPr>
            <a:r>
              <a:rPr lang="en-US" sz="2200" b="1" dirty="0">
                <a:solidFill>
                  <a:srgbClr val="1F1F2E"/>
                </a:solidFill>
                <a:latin typeface="Arial" pitchFamily="34" charset="0"/>
                <a:ea typeface="Arial" pitchFamily="34" charset="-122"/>
                <a:cs typeface="Arial" pitchFamily="34" charset="-120"/>
              </a:rPr>
              <a:t>The surrogate's output was wrong by construction: the trained baselines lower P(failed by t) as t increases on 4–8 % of node-horizon pairs</a:t>
            </a:r>
            <a:endParaRPr lang="en-US" sz="2200" dirty="0"/>
          </a:p>
        </p:txBody>
      </p:sp>
      <p:graphicFrame>
        <p:nvGraphicFramePr>
          <p:cNvPr id="3" name="Chart 0" descr=""/>
          <p:cNvGraphicFramePr/>
          <p:nvPr/>
        </p:nvGraphicFramePr>
        <p:xfrm>
          <a:off x="457200" y="1371600"/>
          <a:ext cx="5852160" cy="402336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6537960" y="1371600"/>
            <a:ext cx="5193792" cy="4023360"/>
          </a:xfrm>
          <a:prstGeom prst="roundRect">
            <a:avLst>
              <a:gd name="adj" fmla="val 1818"/>
            </a:avLst>
          </a:prstGeom>
          <a:solidFill>
            <a:srgbClr val="EFEBF9"/>
          </a:solidFill>
          <a:ln w="9525">
            <a:solidFill>
              <a:srgbClr val="D9D0F0"/>
            </a:solidFill>
            <a:prstDash val="solid"/>
          </a:ln>
        </p:spPr>
      </p:sp>
      <p:sp>
        <p:nvSpPr>
          <p:cNvPr id="5" name="Text 2"/>
          <p:cNvSpPr txBox="1"/>
          <p:nvPr/>
        </p:nvSpPr>
        <p:spPr>
          <a:xfrm>
            <a:off x="6720840" y="1481328"/>
            <a:ext cx="4846320" cy="320040"/>
          </a:xfrm>
          <a:prstGeom prst="rect">
            <a:avLst/>
          </a:prstGeom>
          <a:noFill/>
          <a:ln/>
        </p:spPr>
        <p:txBody>
          <a:bodyPr wrap="square" lIns="0" tIns="0" rIns="0" bIns="0" rtlCol="0" anchor="ctr"/>
          <a:lstStyle/>
          <a:p>
            <a:pPr indent="0" marL="0">
              <a:buNone/>
            </a:pPr>
            <a:r>
              <a:rPr lang="en-US" sz="1300" b="1" dirty="0">
                <a:solidFill>
                  <a:srgbClr val="4A3D7A"/>
                </a:solidFill>
                <a:latin typeface="Arial" pitchFamily="34" charset="0"/>
                <a:ea typeface="Arial" pitchFamily="34" charset="-122"/>
                <a:cs typeface="Arial" pitchFamily="34" charset="-120"/>
              </a:rPr>
              <a:t>Why this happens, and why the number is trustworthy</a:t>
            </a:r>
            <a:endParaRPr lang="en-US" sz="1300" dirty="0"/>
          </a:p>
        </p:txBody>
      </p:sp>
      <p:sp>
        <p:nvSpPr>
          <p:cNvPr id="6" name="Text 3"/>
          <p:cNvSpPr txBox="1"/>
          <p:nvPr/>
        </p:nvSpPr>
        <p:spPr>
          <a:xfrm>
            <a:off x="6720840" y="1874520"/>
            <a:ext cx="4846320" cy="3429000"/>
          </a:xfrm>
          <a:prstGeom prst="rect">
            <a:avLst/>
          </a:prstGeom>
          <a:noFill/>
          <a:ln/>
        </p:spPr>
        <p:txBody>
          <a:bodyPr wrap="square" lIns="0" tIns="0" rIns="0" bIns="0" rtlCol="0" anchor="t"/>
          <a:lstStyle/>
          <a:p>
            <a:pPr indent="0" marL="0">
              <a:spcAft>
                <a:spcPts val="900"/>
              </a:spcAft>
              <a:buNone/>
            </a:pPr>
            <a:r>
              <a:rPr lang="en-US" sz="1200" dirty="0">
                <a:solidFill>
                  <a:srgbClr val="1F1F2E"/>
                </a:solidFill>
                <a:latin typeface="Arial" pitchFamily="34" charset="0"/>
                <a:ea typeface="Arial" pitchFamily="34" charset="-122"/>
                <a:cs typeface="Arial" pitchFamily="34" charset="-120"/>
              </a:rPr>
              <a:t>The head emits four numbers per node, one per horizon, each passed through its own sigmoid. Nothing ties them together, so 73 % failed by 48 h and 27 % failed by 96 h is a legal output — and failure is permanent in the simulator, so it is physically impossible.</a:t>
            </a:r>
            <a:endParaRPr lang="en-US" sz="1200" dirty="0"/>
          </a:p>
          <a:p>
            <a:pPr indent="0" marL="0">
              <a:spcAft>
                <a:spcPts val="900"/>
              </a:spcAft>
              <a:buNone/>
            </a:pPr>
            <a:r>
              <a:rPr lang="en-US" sz="1200" dirty="0">
                <a:solidFill>
                  <a:srgbClr val="1F1F2E"/>
                </a:solidFill>
                <a:latin typeface="Arial" pitchFamily="34" charset="0"/>
                <a:ea typeface="Arial" pitchFamily="34" charset="-122"/>
                <a:cs typeface="Arial" pitchFamily="34" charset="-120"/>
              </a:rPr>
              <a:t>The audit re-evaluates each saved checkpoint on the same validation split and reproduces its recorded loss to five decimals (0.10824 / 0.09808 / 0.18774 / 0.16529), so the split, inputs and metric are rebuilt exactly.</a:t>
            </a:r>
            <a:endParaRPr lang="en-US" sz="1200" dirty="0"/>
          </a:p>
          <a:p>
            <a:pPr indent="0" marL="0">
              <a:spcAft>
                <a:spcPts val="900"/>
              </a:spcAft>
              <a:buNone/>
            </a:pPr>
            <a:r>
              <a:rPr lang="en-US" sz="1200" dirty="0">
                <a:solidFill>
                  <a:srgbClr val="1F1F2E"/>
                </a:solidFill>
                <a:latin typeface="Arial" pitchFamily="34" charset="0"/>
                <a:ea typeface="Arial" pitchFamily="34" charset="-122"/>
                <a:cs typeface="Arial" pitchFamily="34" charset="-120"/>
              </a:rPr>
              <a:t>About 1,270 dips per run in the twin. Many are small; the magnitude distribution is the next diagnostic. The count is the defect regardless of size — it is a curve that goes the wrong way.</a:t>
            </a:r>
            <a:endParaRPr lang="en-US" sz="1200" dirty="0"/>
          </a:p>
        </p:txBody>
      </p:sp>
      <p:sp>
        <p:nvSpPr>
          <p:cNvPr id="7" name="Text 4"/>
          <p:cNvSpPr txBox="1"/>
          <p:nvPr/>
        </p:nvSpPr>
        <p:spPr>
          <a:xfrm>
            <a:off x="457200" y="5596128"/>
            <a:ext cx="11274552" cy="274320"/>
          </a:xfrm>
          <a:prstGeom prst="rect">
            <a:avLst/>
          </a:prstGeom>
          <a:noFill/>
          <a:ln/>
        </p:spPr>
        <p:txBody>
          <a:bodyPr wrap="square" lIns="0" tIns="0" rIns="0" bIns="0" rtlCol="0" anchor="ctr"/>
          <a:lstStyle/>
          <a:p>
            <a:pPr indent="0" marL="0">
              <a:buNone/>
            </a:pPr>
            <a:r>
              <a:rPr lang="en-US" sz="950" dirty="0">
                <a:solidFill>
                  <a:srgbClr val="5B5B70"/>
                </a:solidFill>
                <a:latin typeface="Arial" pitchFamily="34" charset="0"/>
                <a:ea typeface="Arial" pitchFamily="34" charset="-122"/>
                <a:cs typeface="Arial" pitchFamily="34" charset="-120"/>
              </a:rPr>
              <a:t>Independent head = every campaign through job 16805213. Diagnostic: mono_viol = mean over (node, k) of 1[P(failed by t_{k+1}) &lt; P(failed by t_k) − 1e−6]. Audit job 18284821; commit 7ae2b6a.</a:t>
            </a:r>
            <a:endParaRPr lang="en-US" sz="950" dirty="0"/>
          </a:p>
        </p:txBody>
      </p:sp>
      <p:sp>
        <p:nvSpPr>
          <p:cNvPr id="8" name="Shape 5"/>
          <p:cNvSpPr/>
          <p:nvPr/>
        </p:nvSpPr>
        <p:spPr>
          <a:xfrm>
            <a:off x="457200" y="5943600"/>
            <a:ext cx="11274552" cy="621792"/>
          </a:xfrm>
          <a:prstGeom prst="rect">
            <a:avLst/>
          </a:prstGeom>
          <a:solidFill>
            <a:srgbClr val="EFEBF9"/>
          </a:solidFill>
          <a:ln w="9525">
            <a:solidFill>
              <a:srgbClr val="D9D0F0"/>
            </a:solidFill>
            <a:prstDash val="solid"/>
          </a:ln>
        </p:spPr>
      </p:sp>
      <p:sp>
        <p:nvSpPr>
          <p:cNvPr id="9" name="Text 6"/>
          <p:cNvSpPr txBox="1"/>
          <p:nvPr/>
        </p:nvSpPr>
        <p:spPr>
          <a:xfrm>
            <a:off x="594360" y="5943600"/>
            <a:ext cx="11018520" cy="621792"/>
          </a:xfrm>
          <a:prstGeom prst="rect">
            <a:avLst/>
          </a:prstGeom>
          <a:noFill/>
          <a:ln/>
        </p:spPr>
        <p:txBody>
          <a:bodyPr wrap="square" lIns="0" tIns="0" rIns="0" bIns="0" rtlCol="0" anchor="ctr"/>
          <a:lstStyle/>
          <a:p>
            <a:pPr indent="0" marL="0">
              <a:buNone/>
            </a:pPr>
            <a:r>
              <a:rPr lang="en-US" sz="1100" b="1" i="1" dirty="0">
                <a:solidFill>
                  <a:srgbClr val="4A3D7A"/>
                </a:solidFill>
                <a:latin typeface="Arial" pitchFamily="34" charset="0"/>
                <a:ea typeface="Arial" pitchFamily="34" charset="-122"/>
                <a:cs typeface="Arial" pitchFamily="34" charset="-120"/>
              </a:rPr>
              <a:t>Say: </a:t>
            </a:r>
            <a:pPr indent="0" marL="0">
              <a:buNone/>
            </a:pPr>
            <a:r>
              <a:rPr lang="en-US" sz="1100" i="1" dirty="0">
                <a:solidFill>
                  <a:srgbClr val="1F1F2E"/>
                </a:solidFill>
                <a:latin typeface="Arial" pitchFamily="34" charset="0"/>
                <a:ea typeface="Arial" pitchFamily="34" charset="-122"/>
                <a:cs typeface="Arial" pitchFamily="34" charset="-120"/>
              </a:rPr>
              <a:t>Before changing anything I measured the problem. On the checkpoints we already had, between four and eight percent of node-horizon pairs show the failed-by probability going down over time. The audit reproduces the original losses exactly, so this is the same model, same split — just a diagnostic we had never computed.</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74552" cy="960120"/>
          </a:xfrm>
          <a:prstGeom prst="rect">
            <a:avLst/>
          </a:prstGeom>
          <a:noFill/>
          <a:ln/>
        </p:spPr>
        <p:txBody>
          <a:bodyPr wrap="square" lIns="0" tIns="0" rIns="0" bIns="0" rtlCol="0" anchor="t"/>
          <a:lstStyle/>
          <a:p>
            <a:pPr indent="0" marL="0">
              <a:buNone/>
            </a:pPr>
            <a:r>
              <a:rPr lang="en-US" sz="2200" b="1" dirty="0">
                <a:solidFill>
                  <a:srgbClr val="1F1F2E"/>
                </a:solidFill>
                <a:latin typeface="Arial" pitchFamily="34" charset="0"/>
                <a:ea typeface="Arial" pitchFamily="34" charset="-122"/>
                <a:cs typeface="Arial" pitchFamily="34" charset="-120"/>
              </a:rPr>
              <a:t>The fix is one function: read the same four outputs as per-window hazards and chain them, so the failed-by curve can only rise</a:t>
            </a:r>
            <a:endParaRPr lang="en-US" sz="2200" dirty="0"/>
          </a:p>
        </p:txBody>
      </p:sp>
      <p:graphicFrame>
        <p:nvGraphicFramePr>
          <p:cNvPr id="3" name="Chart 0" descr=""/>
          <p:cNvGraphicFramePr/>
          <p:nvPr/>
        </p:nvGraphicFramePr>
        <p:xfrm>
          <a:off x="457200" y="1371600"/>
          <a:ext cx="5852160" cy="320040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4617720"/>
          <a:ext cx="5852160" cy="914400"/>
        </p:xfrm>
        <a:graphic>
          <a:graphicData uri="http://schemas.openxmlformats.org/drawingml/2006/table">
            <a:tbl>
              <a:tblPr/>
              <a:tblGrid>
                <a:gridCol w="1371600"/>
                <a:gridCol w="1188720"/>
                <a:gridCol w="822960"/>
                <a:gridCol w="822960"/>
                <a:gridCol w="822960"/>
                <a:gridCol w="822960"/>
              </a:tblGrid>
              <a:tr h="256032">
                <a:tc>
                  <a:txBody>
                    <a:bodyPr/>
                    <a:lstStyle/>
                    <a:p>
                      <a:pPr algn="ctr" indent="0" marL="0">
                        <a:buNone/>
                      </a:pPr>
                      <a:endParaRPr lang="en-US" sz="95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4A3D7A"/>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raw η / z</a:t>
                      </a:r>
                      <a:endParaRPr lang="en-US" sz="95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4A3D7A"/>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6 h</a:t>
                      </a:r>
                      <a:endParaRPr lang="en-US" sz="95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4A3D7A"/>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24 h</a:t>
                      </a:r>
                      <a:endParaRPr lang="en-US" sz="95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4A3D7A"/>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48 h</a:t>
                      </a:r>
                      <a:endParaRPr lang="en-US" sz="95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4A3D7A"/>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96 h</a:t>
                      </a:r>
                      <a:endParaRPr lang="en-US" sz="95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4A3D7A"/>
                    </a:solidFill>
                  </a:tcPr>
                </a:tc>
              </a:tr>
              <a:tr h="256032">
                <a:tc>
                  <a:txBody>
                    <a:bodyPr/>
                    <a:lstStyle/>
                    <a:p>
                      <a:pPr algn="l" indent="0" marL="0">
                        <a:buNone/>
                      </a:pPr>
                      <a:r>
                        <a:rPr lang="en-US" sz="950" dirty="0">
                          <a:solidFill>
                            <a:srgbClr val="1F1F2E"/>
                          </a:solidFill>
                          <a:latin typeface="Arial" pitchFamily="34" charset="0"/>
                          <a:ea typeface="Arial" pitchFamily="34" charset="-122"/>
                          <a:cs typeface="Arial" pitchFamily="34" charset="-120"/>
                        </a:rPr>
                        <a:t>hazard F_k</a:t>
                      </a:r>
                      <a:endParaRPr lang="en-US" sz="95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F1F2E"/>
                          </a:solidFill>
                          <a:latin typeface="Courier New" pitchFamily="34" charset="0"/>
                          <a:ea typeface="Courier New" pitchFamily="34" charset="-122"/>
                          <a:cs typeface="Courier New" pitchFamily="34" charset="-120"/>
                        </a:rPr>
                        <a:t>−2, 0, +1, −1</a:t>
                      </a:r>
                      <a:endParaRPr lang="en-US" sz="95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F1F2E"/>
                          </a:solidFill>
                          <a:latin typeface="Courier New" pitchFamily="34" charset="0"/>
                          <a:ea typeface="Courier New" pitchFamily="34" charset="-122"/>
                          <a:cs typeface="Courier New" pitchFamily="34" charset="-120"/>
                        </a:rPr>
                        <a:t>0.119</a:t>
                      </a:r>
                      <a:endParaRPr lang="en-US" sz="95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F1F2E"/>
                          </a:solidFill>
                          <a:latin typeface="Courier New" pitchFamily="34" charset="0"/>
                          <a:ea typeface="Courier New" pitchFamily="34" charset="-122"/>
                          <a:cs typeface="Courier New" pitchFamily="34" charset="-120"/>
                        </a:rPr>
                        <a:t>0.560</a:t>
                      </a:r>
                      <a:endParaRPr lang="en-US" sz="95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F1F2E"/>
                          </a:solidFill>
                          <a:latin typeface="Courier New" pitchFamily="34" charset="0"/>
                          <a:ea typeface="Courier New" pitchFamily="34" charset="-122"/>
                          <a:cs typeface="Courier New" pitchFamily="34" charset="-120"/>
                        </a:rPr>
                        <a:t>0.882</a:t>
                      </a:r>
                      <a:endParaRPr lang="en-US" sz="95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F1F2E"/>
                          </a:solidFill>
                          <a:latin typeface="Courier New" pitchFamily="34" charset="0"/>
                          <a:ea typeface="Courier New" pitchFamily="34" charset="-122"/>
                          <a:cs typeface="Courier New" pitchFamily="34" charset="-120"/>
                        </a:rPr>
                        <a:t>0.913</a:t>
                      </a:r>
                      <a:endParaRPr lang="en-US" sz="95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FFFFFF"/>
                    </a:solidFill>
                  </a:tcPr>
                </a:tc>
              </a:tr>
              <a:tr h="256032">
                <a:tc>
                  <a:txBody>
                    <a:bodyPr/>
                    <a:lstStyle/>
                    <a:p>
                      <a:pPr algn="l" indent="0" marL="0">
                        <a:buNone/>
                      </a:pPr>
                      <a:r>
                        <a:rPr lang="en-US" sz="950" dirty="0">
                          <a:solidFill>
                            <a:srgbClr val="1F1F2E"/>
                          </a:solidFill>
                          <a:latin typeface="Arial" pitchFamily="34" charset="0"/>
                          <a:ea typeface="Arial" pitchFamily="34" charset="-122"/>
                          <a:cs typeface="Arial" pitchFamily="34" charset="-120"/>
                        </a:rPr>
                        <a:t>independent p_k</a:t>
                      </a:r>
                      <a:endParaRPr lang="en-US" sz="95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F1F2E"/>
                          </a:solidFill>
                          <a:latin typeface="Courier New" pitchFamily="34" charset="0"/>
                          <a:ea typeface="Courier New" pitchFamily="34" charset="-122"/>
                          <a:cs typeface="Courier New" pitchFamily="34" charset="-120"/>
                        </a:rPr>
                        <a:t>−2, 0, +1, −1</a:t>
                      </a:r>
                      <a:endParaRPr lang="en-US" sz="95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F1F2E"/>
                          </a:solidFill>
                          <a:latin typeface="Courier New" pitchFamily="34" charset="0"/>
                          <a:ea typeface="Courier New" pitchFamily="34" charset="-122"/>
                          <a:cs typeface="Courier New" pitchFamily="34" charset="-120"/>
                        </a:rPr>
                        <a:t>0.119</a:t>
                      </a:r>
                      <a:endParaRPr lang="en-US" sz="95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F1F2E"/>
                          </a:solidFill>
                          <a:latin typeface="Courier New" pitchFamily="34" charset="0"/>
                          <a:ea typeface="Courier New" pitchFamily="34" charset="-122"/>
                          <a:cs typeface="Courier New" pitchFamily="34" charset="-120"/>
                        </a:rPr>
                        <a:t>0.500</a:t>
                      </a:r>
                      <a:endParaRPr lang="en-US" sz="95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F1F2E"/>
                          </a:solidFill>
                          <a:latin typeface="Courier New" pitchFamily="34" charset="0"/>
                          <a:ea typeface="Courier New" pitchFamily="34" charset="-122"/>
                          <a:cs typeface="Courier New" pitchFamily="34" charset="-120"/>
                        </a:rPr>
                        <a:t>0.731</a:t>
                      </a:r>
                      <a:endParaRPr lang="en-US" sz="95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F1F2E"/>
                          </a:solidFill>
                          <a:latin typeface="Courier New" pitchFamily="34" charset="0"/>
                          <a:ea typeface="Courier New" pitchFamily="34" charset="-122"/>
                          <a:cs typeface="Courier New" pitchFamily="34" charset="-120"/>
                        </a:rPr>
                        <a:t>0.269</a:t>
                      </a:r>
                      <a:endParaRPr lang="en-US" sz="95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FFFFFF"/>
                    </a:solidFill>
                  </a:tcPr>
                </a:tc>
              </a:tr>
            </a:tbl>
          </a:graphicData>
        </a:graphic>
      </p:graphicFrame>
      <p:sp>
        <p:nvSpPr>
          <p:cNvPr id="5" name="Shape 1"/>
          <p:cNvSpPr/>
          <p:nvPr/>
        </p:nvSpPr>
        <p:spPr>
          <a:xfrm>
            <a:off x="6537960" y="1371600"/>
            <a:ext cx="5193792" cy="4023360"/>
          </a:xfrm>
          <a:prstGeom prst="roundRect">
            <a:avLst>
              <a:gd name="adj" fmla="val 1818"/>
            </a:avLst>
          </a:prstGeom>
          <a:solidFill>
            <a:srgbClr val="EFEBF9"/>
          </a:solidFill>
          <a:ln w="9525">
            <a:solidFill>
              <a:srgbClr val="D9D0F0"/>
            </a:solidFill>
            <a:prstDash val="solid"/>
          </a:ln>
        </p:spPr>
      </p:sp>
      <p:sp>
        <p:nvSpPr>
          <p:cNvPr id="6" name="Text 2"/>
          <p:cNvSpPr txBox="1"/>
          <p:nvPr/>
        </p:nvSpPr>
        <p:spPr>
          <a:xfrm>
            <a:off x="6720840" y="1481328"/>
            <a:ext cx="4846320" cy="457200"/>
          </a:xfrm>
          <a:prstGeom prst="rect">
            <a:avLst/>
          </a:prstGeom>
          <a:noFill/>
          <a:ln/>
        </p:spPr>
        <p:txBody>
          <a:bodyPr wrap="square" lIns="0" tIns="0" rIns="0" bIns="0" rtlCol="0" anchor="ctr"/>
          <a:lstStyle/>
          <a:p>
            <a:pPr indent="0" marL="0">
              <a:buNone/>
            </a:pPr>
            <a:r>
              <a:rPr lang="en-US" sz="1250" b="1" dirty="0">
                <a:solidFill>
                  <a:srgbClr val="4A3D7A"/>
                </a:solidFill>
                <a:latin typeface="Arial" pitchFamily="34" charset="0"/>
                <a:ea typeface="Arial" pitchFamily="34" charset="-122"/>
                <a:cs typeface="Arial" pitchFamily="34" charset="-120"/>
              </a:rPr>
              <a:t>Discrete-time hazard head (Gensheimer &amp; Narasimhan 2019; Kvamme et al. 2019)</a:t>
            </a:r>
            <a:endParaRPr lang="en-US" sz="1250" dirty="0"/>
          </a:p>
        </p:txBody>
      </p:sp>
      <p:sp>
        <p:nvSpPr>
          <p:cNvPr id="7" name="Text 3"/>
          <p:cNvSpPr txBox="1"/>
          <p:nvPr/>
        </p:nvSpPr>
        <p:spPr>
          <a:xfrm>
            <a:off x="6720840" y="2011680"/>
            <a:ext cx="4846320" cy="1188720"/>
          </a:xfrm>
          <a:prstGeom prst="rect">
            <a:avLst/>
          </a:prstGeom>
          <a:noFill/>
          <a:ln/>
        </p:spPr>
        <p:txBody>
          <a:bodyPr wrap="square" lIns="0" tIns="0" rIns="0" bIns="0" rtlCol="0" anchor="t"/>
          <a:lstStyle/>
          <a:p>
            <a:pPr indent="0" marL="0">
              <a:spcAft>
                <a:spcPts val="300"/>
              </a:spcAft>
              <a:buNone/>
            </a:pPr>
            <a:r>
              <a:rPr lang="en-US" sz="1100" dirty="0">
                <a:solidFill>
                  <a:srgbClr val="1F1F2E"/>
                </a:solidFill>
                <a:latin typeface="Courier New" pitchFamily="34" charset="0"/>
                <a:ea typeface="Courier New" pitchFamily="34" charset="-122"/>
                <a:cs typeface="Courier New" pitchFamily="34" charset="-120"/>
              </a:rPr>
              <a:t>h_k = σ(η_k)             hazard in window k</a:t>
            </a:r>
            <a:endParaRPr lang="en-US" sz="1100" dirty="0"/>
          </a:p>
          <a:p>
            <a:pPr indent="0" marL="0">
              <a:spcAft>
                <a:spcPts val="300"/>
              </a:spcAft>
              <a:buNone/>
            </a:pPr>
            <a:r>
              <a:rPr lang="en-US" sz="1100" dirty="0">
                <a:solidFill>
                  <a:srgbClr val="1F1F2E"/>
                </a:solidFill>
                <a:latin typeface="Courier New" pitchFamily="34" charset="0"/>
                <a:ea typeface="Courier New" pitchFamily="34" charset="-122"/>
                <a:cs typeface="Courier New" pitchFamily="34" charset="-120"/>
              </a:rPr>
              <a:t>S_k = Π_{j≤k} (1 − h_j)  survival through k</a:t>
            </a:r>
            <a:endParaRPr lang="en-US" sz="1100" dirty="0"/>
          </a:p>
          <a:p>
            <a:pPr indent="0" marL="0">
              <a:spcAft>
                <a:spcPts val="300"/>
              </a:spcAft>
              <a:buNone/>
            </a:pPr>
            <a:r>
              <a:rPr lang="en-US" sz="1100" dirty="0">
                <a:solidFill>
                  <a:srgbClr val="1F1F2E"/>
                </a:solidFill>
                <a:latin typeface="Courier New" pitchFamily="34" charset="0"/>
                <a:ea typeface="Courier New" pitchFamily="34" charset="-122"/>
                <a:cs typeface="Courier New" pitchFamily="34" charset="-120"/>
              </a:rPr>
              <a:t>F_k = 1 − S_k            failed by k (rises)</a:t>
            </a:r>
            <a:endParaRPr lang="en-US" sz="1100" dirty="0"/>
          </a:p>
          <a:p>
            <a:pPr indent="0" marL="0">
              <a:spcAft>
                <a:spcPts val="300"/>
              </a:spcAft>
              <a:buNone/>
            </a:pPr>
            <a:r>
              <a:rPr lang="en-US" sz="1100" dirty="0">
                <a:solidFill>
                  <a:srgbClr val="1F1F2E"/>
                </a:solidFill>
                <a:latin typeface="Courier New" pitchFamily="34" charset="0"/>
                <a:ea typeface="Courier New" pitchFamily="34" charset="-122"/>
                <a:cs typeface="Courier New" pitchFamily="34" charset="-120"/>
              </a:rPr>
              <a:t>head returns logit(F_k), in log space</a:t>
            </a:r>
            <a:endParaRPr lang="en-US" sz="1100" dirty="0"/>
          </a:p>
        </p:txBody>
      </p:sp>
      <p:sp>
        <p:nvSpPr>
          <p:cNvPr id="8" name="Text 4"/>
          <p:cNvSpPr txBox="1"/>
          <p:nvPr/>
        </p:nvSpPr>
        <p:spPr>
          <a:xfrm>
            <a:off x="6720840" y="3291840"/>
            <a:ext cx="4846320" cy="2011680"/>
          </a:xfrm>
          <a:prstGeom prst="rect">
            <a:avLst/>
          </a:prstGeom>
          <a:noFill/>
          <a:ln/>
        </p:spPr>
        <p:txBody>
          <a:bodyPr wrap="square" lIns="0" tIns="0" rIns="0" bIns="0" rtlCol="0" anchor="t"/>
          <a:lstStyle/>
          <a:p>
            <a:pPr indent="0" marL="0">
              <a:spcAft>
                <a:spcPts val="600"/>
              </a:spcAft>
              <a:buNone/>
            </a:pPr>
            <a:r>
              <a:rPr lang="en-US" sz="1100" b="1" dirty="0">
                <a:solidFill>
                  <a:srgbClr val="1F1F2E"/>
                </a:solidFill>
                <a:latin typeface="Arial" pitchFamily="34" charset="0"/>
                <a:ea typeface="Arial" pitchFamily="34" charset="-122"/>
                <a:cs typeface="Arial" pitchFamily="34" charset="-120"/>
              </a:rPr>
              <a:t>Unchanged: </a:t>
            </a:r>
            <a:pPr indent="0" marL="0">
              <a:spcAft>
                <a:spcPts val="600"/>
              </a:spcAft>
              <a:buNone/>
            </a:pPr>
            <a:r>
              <a:rPr lang="en-US" sz="1100" dirty="0">
                <a:solidFill>
                  <a:srgbClr val="1F1F2E"/>
                </a:solidFill>
                <a:latin typeface="Arial" pitchFamily="34" charset="0"/>
                <a:ea typeface="Arial" pitchFamily="34" charset="-122"/>
                <a:cs typeface="Arial" pitchFamily="34" charset="-120"/>
              </a:rPr>
              <a:t>parameters (695,960), initialisation and RNG stream, message passing, labels, loss (BCE on the cumulative F_k, so val loss is directly comparable), every metric, the checkpoint format.</a:t>
            </a:r>
            <a:endParaRPr lang="en-US" sz="1100" dirty="0"/>
          </a:p>
          <a:p>
            <a:pPr indent="0" marL="0">
              <a:spcAft>
                <a:spcPts val="600"/>
              </a:spcAft>
              <a:buNone/>
            </a:pPr>
            <a:r>
              <a:rPr lang="en-US" sz="1100" b="1" dirty="0">
                <a:solidFill>
                  <a:srgbClr val="1F1F2E"/>
                </a:solidFill>
                <a:latin typeface="Arial" pitchFamily="34" charset="0"/>
                <a:ea typeface="Arial" pitchFamily="34" charset="-122"/>
                <a:cs typeface="Arial" pitchFamily="34" charset="-120"/>
              </a:rPr>
              <a:t>Verified: </a:t>
            </a:r>
            <a:pPr indent="0" marL="0">
              <a:spcAft>
                <a:spcPts val="600"/>
              </a:spcAft>
              <a:buNone/>
            </a:pPr>
            <a:r>
              <a:rPr lang="en-US" sz="1100" dirty="0">
                <a:solidFill>
                  <a:srgbClr val="1F1F2E"/>
                </a:solidFill>
                <a:latin typeface="Arial" pitchFamily="34" charset="0"/>
                <a:ea typeface="Arial" pitchFamily="34" charset="-122"/>
                <a:cs typeface="Arial" pitchFamily="34" charset="-120"/>
              </a:rPr>
              <a:t>--head independent is bit-identical to the committed model on the real graph (fingerprint script); hazard chain matches the explicit product to 1e−6; ±60 tails finite with finite gradients.</a:t>
            </a:r>
            <a:endParaRPr lang="en-US" sz="1100" dirty="0"/>
          </a:p>
          <a:p>
            <a:pPr indent="0" marL="0">
              <a:spcAft>
                <a:spcPts val="600"/>
              </a:spcAft>
              <a:buNone/>
            </a:pPr>
            <a:r>
              <a:rPr lang="en-US" sz="1100" b="1" dirty="0">
                <a:solidFill>
                  <a:srgbClr val="1F1F2E"/>
                </a:solidFill>
                <a:latin typeface="Arial" pitchFamily="34" charset="0"/>
                <a:ea typeface="Arial" pitchFamily="34" charset="-122"/>
                <a:cs typeface="Arial" pitchFamily="34" charset="-120"/>
              </a:rPr>
              <a:t>Known side effect: </a:t>
            </a:r>
            <a:pPr indent="0" marL="0">
              <a:spcAft>
                <a:spcPts val="600"/>
              </a:spcAft>
              <a:buNone/>
            </a:pPr>
            <a:r>
              <a:rPr lang="en-US" sz="1100" dirty="0">
                <a:solidFill>
                  <a:srgbClr val="1F1F2E"/>
                </a:solidFill>
                <a:latin typeface="Arial" pitchFamily="34" charset="0"/>
                <a:ea typeface="Arial" pitchFamily="34" charset="-122"/>
                <a:cs typeface="Arial" pitchFamily="34" charset="-120"/>
              </a:rPr>
              <a:t>at zero logits the hazard head starts at F = (0.5, 0.75, 0.875, 0.94), so epoch 0 lags by ≤ 0.003; gone by epoch 1.</a:t>
            </a:r>
            <a:endParaRPr lang="en-US" sz="1100" dirty="0"/>
          </a:p>
        </p:txBody>
      </p:sp>
      <p:sp>
        <p:nvSpPr>
          <p:cNvPr id="9" name="Text 5"/>
          <p:cNvSpPr txBox="1"/>
          <p:nvPr/>
        </p:nvSpPr>
        <p:spPr>
          <a:xfrm>
            <a:off x="457200" y="5596128"/>
            <a:ext cx="11274552" cy="274320"/>
          </a:xfrm>
          <a:prstGeom prst="rect">
            <a:avLst/>
          </a:prstGeom>
          <a:noFill/>
          <a:ln/>
        </p:spPr>
        <p:txBody>
          <a:bodyPr wrap="square" lIns="0" tIns="0" rIns="0" bIns="0" rtlCol="0" anchor="ctr"/>
          <a:lstStyle/>
          <a:p>
            <a:pPr indent="0" marL="0">
              <a:buNone/>
            </a:pPr>
            <a:r>
              <a:rPr lang="en-US" sz="950" dirty="0">
                <a:solidFill>
                  <a:srgbClr val="5B5B70"/>
                </a:solidFill>
                <a:latin typeface="Arial" pitchFamily="34" charset="0"/>
                <a:ea typeface="Arial" pitchFamily="34" charset="-122"/>
                <a:cs typeface="Arial" pitchFamily="34" charset="-120"/>
              </a:rPr>
              <a:t>Windows (0,6], (6,24], (24,48], (48,96] h after the Battery peak. Selected over monotone-logit tricks because the hazard is a survival quantity: it is the object the next steps (finer bins, survival likelihood, ±6 h surge-clock shifts, competing causes) are built on.</a:t>
            </a:r>
            <a:endParaRPr lang="en-US" sz="950" dirty="0"/>
          </a:p>
        </p:txBody>
      </p:sp>
      <p:sp>
        <p:nvSpPr>
          <p:cNvPr id="10" name="Shape 6"/>
          <p:cNvSpPr/>
          <p:nvPr/>
        </p:nvSpPr>
        <p:spPr>
          <a:xfrm>
            <a:off x="457200" y="5943600"/>
            <a:ext cx="11274552" cy="621792"/>
          </a:xfrm>
          <a:prstGeom prst="rect">
            <a:avLst/>
          </a:prstGeom>
          <a:solidFill>
            <a:srgbClr val="EFEBF9"/>
          </a:solidFill>
          <a:ln w="9525">
            <a:solidFill>
              <a:srgbClr val="D9D0F0"/>
            </a:solidFill>
            <a:prstDash val="solid"/>
          </a:ln>
        </p:spPr>
      </p:sp>
      <p:sp>
        <p:nvSpPr>
          <p:cNvPr id="11" name="Text 7"/>
          <p:cNvSpPr txBox="1"/>
          <p:nvPr/>
        </p:nvSpPr>
        <p:spPr>
          <a:xfrm>
            <a:off x="594360" y="5943600"/>
            <a:ext cx="11018520" cy="621792"/>
          </a:xfrm>
          <a:prstGeom prst="rect">
            <a:avLst/>
          </a:prstGeom>
          <a:noFill/>
          <a:ln/>
        </p:spPr>
        <p:txBody>
          <a:bodyPr wrap="square" lIns="0" tIns="0" rIns="0" bIns="0" rtlCol="0" anchor="ctr"/>
          <a:lstStyle/>
          <a:p>
            <a:pPr indent="0" marL="0">
              <a:buNone/>
            </a:pPr>
            <a:r>
              <a:rPr lang="en-US" sz="1100" b="1" i="1" dirty="0">
                <a:solidFill>
                  <a:srgbClr val="4A3D7A"/>
                </a:solidFill>
                <a:latin typeface="Arial" pitchFamily="34" charset="0"/>
                <a:ea typeface="Arial" pitchFamily="34" charset="-122"/>
                <a:cs typeface="Arial" pitchFamily="34" charset="-120"/>
              </a:rPr>
              <a:t>Say: </a:t>
            </a:r>
            <a:pPr indent="0" marL="0">
              <a:buNone/>
            </a:pPr>
            <a:r>
              <a:rPr lang="en-US" sz="1100" i="1" dirty="0">
                <a:solidFill>
                  <a:srgbClr val="1F1F2E"/>
                </a:solidFill>
                <a:latin typeface="Arial" pitchFamily="34" charset="0"/>
                <a:ea typeface="Arial" pitchFamily="34" charset="-122"/>
                <a:cs typeface="Arial" pitchFamily="34" charset="-120"/>
              </a:rPr>
              <a:t>Same network, same last layer, same four numbers — but read as the chance of failing in each window given survival so far, and chained. On the same raw outputs the old reading drops from 73 to 27 percent; the new one can only climb. Nothing else changed, which is what makes the comparison on the next slide clean.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74552" cy="960120"/>
          </a:xfrm>
          <a:prstGeom prst="rect">
            <a:avLst/>
          </a:prstGeom>
          <a:noFill/>
          <a:ln/>
        </p:spPr>
        <p:txBody>
          <a:bodyPr wrap="square" lIns="0" tIns="0" rIns="0" bIns="0" rtlCol="0" anchor="t"/>
          <a:lstStyle/>
          <a:p>
            <a:pPr indent="0" marL="0">
              <a:buNone/>
            </a:pPr>
            <a:r>
              <a:rPr lang="en-US" sz="2200" b="1" dirty="0">
                <a:solidFill>
                  <a:srgbClr val="1F1F2E"/>
                </a:solidFill>
                <a:latin typeface="Arial" pitchFamily="34" charset="0"/>
                <a:ea typeface="Arial" pitchFamily="34" charset="-122"/>
                <a:cs typeface="Arial" pitchFamily="34" charset="-120"/>
              </a:rPr>
              <a:t>Phase 0a passed every pre-registered test: no harm in any of the four cells, zero monotonicity violations, held-out storm ranking unchanged</a:t>
            </a:r>
            <a:endParaRPr lang="en-US" sz="2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74552" cy="914400"/>
        </p:xfrm>
        <a:graphic>
          <a:graphicData uri="http://schemas.openxmlformats.org/drawingml/2006/table">
            <a:tbl>
              <a:tblPr/>
              <a:tblGrid>
                <a:gridCol w="2377440"/>
                <a:gridCol w="1554480"/>
                <a:gridCol w="1463040"/>
                <a:gridCol w="1463040"/>
                <a:gridCol w="1737360"/>
                <a:gridCol w="1463040"/>
                <a:gridCol w="1216152"/>
              </a:tblGrid>
              <a:tr h="347472">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cell (labels, inputs)</a:t>
                      </a:r>
                      <a:endParaRPr lang="en-US" sz="105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4A3D7A"/>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independent best val</a:t>
                      </a:r>
                      <a:endParaRPr lang="en-US" sz="105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4A3D7A"/>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hazard best val</a:t>
                      </a:r>
                      <a:endParaRPr lang="en-US" sz="105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4A3D7A"/>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Δ (pass ±0.005)</a:t>
                      </a:r>
                      <a:endParaRPr lang="en-US" sz="105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4A3D7A"/>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mono_viol indep → hazard</a:t>
                      </a:r>
                      <a:endParaRPr lang="en-US" sz="105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4A3D7A"/>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cascade PR-AUC max |Δ|</a:t>
                      </a:r>
                      <a:endParaRPr lang="en-US" sz="105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4A3D7A"/>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held-out order</a:t>
                      </a:r>
                      <a:endParaRPr lang="en-US" sz="105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4A3D7A"/>
                    </a:solidFill>
                  </a:tcPr>
                </a:tc>
              </a:tr>
              <a:tr h="347472">
                <a:tc>
                  <a:txBody>
                    <a:bodyPr/>
                    <a:lstStyle/>
                    <a:p>
                      <a:pPr algn="l" indent="0" marL="0">
                        <a:buNone/>
                      </a:pPr>
                      <a:r>
                        <a:rPr lang="en-US" sz="1050" dirty="0">
                          <a:solidFill>
                            <a:srgbClr val="1F1F2E"/>
                          </a:solidFill>
                          <a:latin typeface="Arial" pitchFamily="34" charset="0"/>
                          <a:ea typeface="Arial" pitchFamily="34" charset="-122"/>
                          <a:cs typeface="Arial" pitchFamily="34" charset="-120"/>
                        </a:rPr>
                        <a:t>static, mask</a:t>
                      </a:r>
                      <a:endParaRPr lang="en-US" sz="105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1F2E"/>
                          </a:solidFill>
                          <a:latin typeface="Courier New" pitchFamily="34" charset="0"/>
                          <a:ea typeface="Courier New" pitchFamily="34" charset="-122"/>
                          <a:cs typeface="Courier New" pitchFamily="34" charset="-120"/>
                        </a:rPr>
                        <a:t>0.1082</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1F2E"/>
                          </a:solidFill>
                          <a:latin typeface="Courier New" pitchFamily="34" charset="0"/>
                          <a:ea typeface="Courier New" pitchFamily="34" charset="-122"/>
                          <a:cs typeface="Courier New" pitchFamily="34" charset="-120"/>
                        </a:rPr>
                        <a:t>0.1080</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1F2E"/>
                          </a:solidFill>
                          <a:latin typeface="Courier New" pitchFamily="34" charset="0"/>
                          <a:ea typeface="Courier New" pitchFamily="34" charset="-122"/>
                          <a:cs typeface="Courier New" pitchFamily="34" charset="-120"/>
                        </a:rPr>
                        <a:t>−0.0002  ✓</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1F2E"/>
                          </a:solidFill>
                          <a:latin typeface="Courier New" pitchFamily="34" charset="0"/>
                          <a:ea typeface="Courier New" pitchFamily="34" charset="-122"/>
                          <a:cs typeface="Courier New" pitchFamily="34" charset="-120"/>
                        </a:rPr>
                        <a:t>6.8 % → 0.0</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1F2E"/>
                          </a:solidFill>
                          <a:latin typeface="Courier New" pitchFamily="34" charset="0"/>
                          <a:ea typeface="Courier New" pitchFamily="34" charset="-122"/>
                          <a:cs typeface="Courier New" pitchFamily="34" charset="-120"/>
                        </a:rPr>
                        <a:t>0.004  ✓</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1F2E"/>
                          </a:solidFill>
                          <a:latin typeface="Courier New" pitchFamily="34" charset="0"/>
                          <a:ea typeface="Courier New" pitchFamily="34" charset="-122"/>
                          <a:cs typeface="Courier New" pitchFamily="34" charset="-120"/>
                        </a:rPr>
                        <a:t>same  ✓</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FFFFFF"/>
                    </a:solidFill>
                  </a:tcPr>
                </a:tc>
              </a:tr>
              <a:tr h="347472">
                <a:tc>
                  <a:txBody>
                    <a:bodyPr/>
                    <a:lstStyle/>
                    <a:p>
                      <a:pPr algn="l" indent="0" marL="0">
                        <a:buNone/>
                      </a:pPr>
                      <a:r>
                        <a:rPr lang="en-US" sz="1050" dirty="0">
                          <a:solidFill>
                            <a:srgbClr val="1F1F2E"/>
                          </a:solidFill>
                          <a:latin typeface="Arial" pitchFamily="34" charset="0"/>
                          <a:ea typeface="Arial" pitchFamily="34" charset="-122"/>
                          <a:cs typeface="Arial" pitchFamily="34" charset="-120"/>
                        </a:rPr>
                        <a:t>static, mask + timing</a:t>
                      </a:r>
                      <a:endParaRPr lang="en-US" sz="105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1F2E"/>
                          </a:solidFill>
                          <a:latin typeface="Courier New" pitchFamily="34" charset="0"/>
                          <a:ea typeface="Courier New" pitchFamily="34" charset="-122"/>
                          <a:cs typeface="Courier New" pitchFamily="34" charset="-120"/>
                        </a:rPr>
                        <a:t>0.0981</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1F2E"/>
                          </a:solidFill>
                          <a:latin typeface="Courier New" pitchFamily="34" charset="0"/>
                          <a:ea typeface="Courier New" pitchFamily="34" charset="-122"/>
                          <a:cs typeface="Courier New" pitchFamily="34" charset="-120"/>
                        </a:rPr>
                        <a:t>0.0980</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1F2E"/>
                          </a:solidFill>
                          <a:latin typeface="Courier New" pitchFamily="34" charset="0"/>
                          <a:ea typeface="Courier New" pitchFamily="34" charset="-122"/>
                          <a:cs typeface="Courier New" pitchFamily="34" charset="-120"/>
                        </a:rPr>
                        <a:t>−0.0001  ✓</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1F2E"/>
                          </a:solidFill>
                          <a:latin typeface="Courier New" pitchFamily="34" charset="0"/>
                          <a:ea typeface="Courier New" pitchFamily="34" charset="-122"/>
                          <a:cs typeface="Courier New" pitchFamily="34" charset="-120"/>
                        </a:rPr>
                        <a:t>7.8 % → 0.0</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1F2E"/>
                          </a:solidFill>
                          <a:latin typeface="Courier New" pitchFamily="34" charset="0"/>
                          <a:ea typeface="Courier New" pitchFamily="34" charset="-122"/>
                          <a:cs typeface="Courier New" pitchFamily="34" charset="-120"/>
                        </a:rPr>
                        <a:t>0.002  ✓</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1F2E"/>
                          </a:solidFill>
                          <a:latin typeface="Courier New" pitchFamily="34" charset="0"/>
                          <a:ea typeface="Courier New" pitchFamily="34" charset="-122"/>
                          <a:cs typeface="Courier New" pitchFamily="34" charset="-120"/>
                        </a:rPr>
                        <a:t>same  ✓</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FFFFFF"/>
                    </a:solidFill>
                  </a:tcPr>
                </a:tc>
              </a:tr>
              <a:tr h="347472">
                <a:tc>
                  <a:txBody>
                    <a:bodyPr/>
                    <a:lstStyle/>
                    <a:p>
                      <a:pPr algn="l" indent="0" marL="0">
                        <a:buNone/>
                      </a:pPr>
                      <a:r>
                        <a:rPr lang="en-US" sz="1050" dirty="0">
                          <a:solidFill>
                            <a:srgbClr val="1F1F2E"/>
                          </a:solidFill>
                          <a:latin typeface="Arial" pitchFamily="34" charset="0"/>
                          <a:ea typeface="Arial" pitchFamily="34" charset="-122"/>
                          <a:cs typeface="Arial" pitchFamily="34" charset="-120"/>
                        </a:rPr>
                        <a:t>dynamic, mask</a:t>
                      </a:r>
                      <a:endParaRPr lang="en-US" sz="105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1F2E"/>
                          </a:solidFill>
                          <a:latin typeface="Courier New" pitchFamily="34" charset="0"/>
                          <a:ea typeface="Courier New" pitchFamily="34" charset="-122"/>
                          <a:cs typeface="Courier New" pitchFamily="34" charset="-120"/>
                        </a:rPr>
                        <a:t>0.1877</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1F2E"/>
                          </a:solidFill>
                          <a:latin typeface="Courier New" pitchFamily="34" charset="0"/>
                          <a:ea typeface="Courier New" pitchFamily="34" charset="-122"/>
                          <a:cs typeface="Courier New" pitchFamily="34" charset="-120"/>
                        </a:rPr>
                        <a:t>0.1880</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1F2E"/>
                          </a:solidFill>
                          <a:latin typeface="Courier New" pitchFamily="34" charset="0"/>
                          <a:ea typeface="Courier New" pitchFamily="34" charset="-122"/>
                          <a:cs typeface="Courier New" pitchFamily="34" charset="-120"/>
                        </a:rPr>
                        <a:t>+0.0003  ✓</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1F2E"/>
                          </a:solidFill>
                          <a:latin typeface="Courier New" pitchFamily="34" charset="0"/>
                          <a:ea typeface="Courier New" pitchFamily="34" charset="-122"/>
                          <a:cs typeface="Courier New" pitchFamily="34" charset="-120"/>
                        </a:rPr>
                        <a:t>4.0 % → 0.0</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1F2E"/>
                          </a:solidFill>
                          <a:latin typeface="Courier New" pitchFamily="34" charset="0"/>
                          <a:ea typeface="Courier New" pitchFamily="34" charset="-122"/>
                          <a:cs typeface="Courier New" pitchFamily="34" charset="-120"/>
                        </a:rPr>
                        <a:t>0.002  ✓</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1F2E"/>
                          </a:solidFill>
                          <a:latin typeface="Courier New" pitchFamily="34" charset="0"/>
                          <a:ea typeface="Courier New" pitchFamily="34" charset="-122"/>
                          <a:cs typeface="Courier New" pitchFamily="34" charset="-120"/>
                        </a:rPr>
                        <a:t>same  ✓</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FFFFFF"/>
                    </a:solidFill>
                  </a:tcPr>
                </a:tc>
              </a:tr>
              <a:tr h="347472">
                <a:tc>
                  <a:txBody>
                    <a:bodyPr/>
                    <a:lstStyle/>
                    <a:p>
                      <a:pPr algn="l" indent="0" marL="0">
                        <a:buNone/>
                      </a:pPr>
                      <a:r>
                        <a:rPr lang="en-US" sz="1050" dirty="0">
                          <a:solidFill>
                            <a:srgbClr val="1F1F2E"/>
                          </a:solidFill>
                          <a:latin typeface="Arial" pitchFamily="34" charset="0"/>
                          <a:ea typeface="Arial" pitchFamily="34" charset="-122"/>
                          <a:cs typeface="Arial" pitchFamily="34" charset="-120"/>
                        </a:rPr>
                        <a:t>dynamic, mask + timing</a:t>
                      </a:r>
                      <a:endParaRPr lang="en-US" sz="105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1F2E"/>
                          </a:solidFill>
                          <a:latin typeface="Courier New" pitchFamily="34" charset="0"/>
                          <a:ea typeface="Courier New" pitchFamily="34" charset="-122"/>
                          <a:cs typeface="Courier New" pitchFamily="34" charset="-120"/>
                        </a:rPr>
                        <a:t>0.1653</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1F2E"/>
                          </a:solidFill>
                          <a:latin typeface="Courier New" pitchFamily="34" charset="0"/>
                          <a:ea typeface="Courier New" pitchFamily="34" charset="-122"/>
                          <a:cs typeface="Courier New" pitchFamily="34" charset="-120"/>
                        </a:rPr>
                        <a:t>0.1651</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1F2E"/>
                          </a:solidFill>
                          <a:latin typeface="Courier New" pitchFamily="34" charset="0"/>
                          <a:ea typeface="Courier New" pitchFamily="34" charset="-122"/>
                          <a:cs typeface="Courier New" pitchFamily="34" charset="-120"/>
                        </a:rPr>
                        <a:t>−0.0002  ✓</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1F2E"/>
                          </a:solidFill>
                          <a:latin typeface="Courier New" pitchFamily="34" charset="0"/>
                          <a:ea typeface="Courier New" pitchFamily="34" charset="-122"/>
                          <a:cs typeface="Courier New" pitchFamily="34" charset="-120"/>
                        </a:rPr>
                        <a:t>6.3 % → 0.0</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1F2E"/>
                          </a:solidFill>
                          <a:latin typeface="Courier New" pitchFamily="34" charset="0"/>
                          <a:ea typeface="Courier New" pitchFamily="34" charset="-122"/>
                          <a:cs typeface="Courier New" pitchFamily="34" charset="-120"/>
                        </a:rPr>
                        <a:t>0.003  ✓</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1F2E"/>
                          </a:solidFill>
                          <a:latin typeface="Courier New" pitchFamily="34" charset="0"/>
                          <a:ea typeface="Courier New" pitchFamily="34" charset="-122"/>
                          <a:cs typeface="Courier New" pitchFamily="34" charset="-120"/>
                        </a:rPr>
                        <a:t>same  ✓</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FFFFFF"/>
                    </a:solidFill>
                  </a:tcPr>
                </a:tc>
              </a:tr>
            </a:tbl>
          </a:graphicData>
        </a:graphic>
      </p:graphicFrame>
      <p:sp>
        <p:nvSpPr>
          <p:cNvPr id="4" name="Shape 1"/>
          <p:cNvSpPr/>
          <p:nvPr/>
        </p:nvSpPr>
        <p:spPr>
          <a:xfrm>
            <a:off x="457200" y="3291840"/>
            <a:ext cx="5532120" cy="2240280"/>
          </a:xfrm>
          <a:prstGeom prst="roundRect">
            <a:avLst>
              <a:gd name="adj" fmla="val 3265"/>
            </a:avLst>
          </a:prstGeom>
          <a:solidFill>
            <a:srgbClr val="EFEBF9"/>
          </a:solidFill>
          <a:ln w="9525">
            <a:solidFill>
              <a:srgbClr val="D9D0F0"/>
            </a:solidFill>
            <a:prstDash val="solid"/>
          </a:ln>
        </p:spPr>
      </p:sp>
      <p:sp>
        <p:nvSpPr>
          <p:cNvPr id="5" name="Text 2"/>
          <p:cNvSpPr txBox="1"/>
          <p:nvPr/>
        </p:nvSpPr>
        <p:spPr>
          <a:xfrm>
            <a:off x="640080" y="3401568"/>
            <a:ext cx="5212080" cy="457200"/>
          </a:xfrm>
          <a:prstGeom prst="rect">
            <a:avLst/>
          </a:prstGeom>
          <a:noFill/>
          <a:ln/>
        </p:spPr>
        <p:txBody>
          <a:bodyPr wrap="square" lIns="0" tIns="0" rIns="0" bIns="0" rtlCol="0" anchor="ctr"/>
          <a:lstStyle/>
          <a:p>
            <a:pPr indent="0" marL="0">
              <a:buNone/>
            </a:pPr>
            <a:r>
              <a:rPr lang="en-US" sz="1200" b="1" dirty="0">
                <a:solidFill>
                  <a:srgbClr val="4A3D7A"/>
                </a:solidFill>
                <a:latin typeface="Arial" pitchFamily="34" charset="0"/>
                <a:ea typeface="Arial" pitchFamily="34" charset="-122"/>
                <a:cs typeface="Arial" pitchFamily="34" charset="-120"/>
              </a:rPr>
              <a:t>Observed, not predicted (single seed — a hypothesis for Phase 0b, not a claim)</a:t>
            </a:r>
            <a:endParaRPr lang="en-US" sz="1200" dirty="0"/>
          </a:p>
        </p:txBody>
      </p:sp>
      <p:sp>
        <p:nvSpPr>
          <p:cNvPr id="6" name="Text 3"/>
          <p:cNvSpPr txBox="1"/>
          <p:nvPr/>
        </p:nvSpPr>
        <p:spPr>
          <a:xfrm>
            <a:off x="640080" y="3858768"/>
            <a:ext cx="5212080" cy="1600200"/>
          </a:xfrm>
          <a:prstGeom prst="rect">
            <a:avLst/>
          </a:prstGeom>
          <a:noFill/>
          <a:ln/>
        </p:spPr>
        <p:txBody>
          <a:bodyPr wrap="square" lIns="0" tIns="0" rIns="0" bIns="0" rtlCol="0" anchor="t"/>
          <a:lstStyle/>
          <a:p>
            <a:pPr indent="0" marL="0">
              <a:spcAft>
                <a:spcPts val="500"/>
              </a:spcAft>
              <a:buNone/>
            </a:pPr>
            <a:r>
              <a:rPr lang="en-US" sz="1050" dirty="0">
                <a:solidFill>
                  <a:srgbClr val="1F1F2E"/>
                </a:solidFill>
                <a:latin typeface="Arial" pitchFamily="34" charset="0"/>
                <a:ea typeface="Arial" pitchFamily="34" charset="-122"/>
                <a:cs typeface="Arial" pitchFamily="34" charset="-120"/>
              </a:rPr>
              <a:t>On the extrapolation set (five held-out storms), the dynamic + timing hazard model is better on 4 of 5: 808_27 −0.0145, 605_5 −0.0112, gc_2050 −0.0089, 258_9 −0.0050; worse only on 914_6 (+0.0015). Static cells: within ±0.003 either way.</a:t>
            </a:r>
            <a:endParaRPr lang="en-US" sz="1050" dirty="0"/>
          </a:p>
          <a:p>
            <a:pPr indent="0" marL="0">
              <a:spcAft>
                <a:spcPts val="500"/>
              </a:spcAft>
              <a:buNone/>
            </a:pPr>
            <a:r>
              <a:rPr lang="en-US" sz="1050" dirty="0">
                <a:solidFill>
                  <a:srgbClr val="1F1F2E"/>
                </a:solidFill>
                <a:latin typeface="Arial" pitchFamily="34" charset="0"/>
                <a:ea typeface="Arial" pitchFamily="34" charset="-122"/>
                <a:cs typeface="Arial" pitchFamily="34" charset="-120"/>
              </a:rPr>
              <a:t>Every point prediction landed inside its pre-registered range (0.105–0.111, 0.095–0.101, 0.183–0.190, 0.160–0.166).</a:t>
            </a:r>
            <a:endParaRPr lang="en-US" sz="1050" dirty="0"/>
          </a:p>
        </p:txBody>
      </p:sp>
      <p:sp>
        <p:nvSpPr>
          <p:cNvPr id="7" name="Shape 4"/>
          <p:cNvSpPr/>
          <p:nvPr/>
        </p:nvSpPr>
        <p:spPr>
          <a:xfrm>
            <a:off x="6199632" y="3291840"/>
            <a:ext cx="5532120" cy="2240280"/>
          </a:xfrm>
          <a:prstGeom prst="roundRect">
            <a:avLst>
              <a:gd name="adj" fmla="val 3265"/>
            </a:avLst>
          </a:prstGeom>
          <a:solidFill>
            <a:srgbClr val="EFEBF9"/>
          </a:solidFill>
          <a:ln w="9525">
            <a:solidFill>
              <a:srgbClr val="D9D0F0"/>
            </a:solidFill>
            <a:prstDash val="solid"/>
          </a:ln>
        </p:spPr>
      </p:sp>
      <p:sp>
        <p:nvSpPr>
          <p:cNvPr id="8" name="Text 5"/>
          <p:cNvSpPr txBox="1"/>
          <p:nvPr/>
        </p:nvSpPr>
        <p:spPr>
          <a:xfrm>
            <a:off x="6382512" y="3401568"/>
            <a:ext cx="5212080" cy="320040"/>
          </a:xfrm>
          <a:prstGeom prst="rect">
            <a:avLst/>
          </a:prstGeom>
          <a:noFill/>
          <a:ln/>
        </p:spPr>
        <p:txBody>
          <a:bodyPr wrap="square" lIns="0" tIns="0" rIns="0" bIns="0" rtlCol="0" anchor="ctr"/>
          <a:lstStyle/>
          <a:p>
            <a:pPr indent="0" marL="0">
              <a:buNone/>
            </a:pPr>
            <a:r>
              <a:rPr lang="en-US" sz="1200" b="1" dirty="0">
                <a:solidFill>
                  <a:srgbClr val="4A3D7A"/>
                </a:solidFill>
                <a:latin typeface="Arial" pitchFamily="34" charset="0"/>
                <a:ea typeface="Arial" pitchFamily="34" charset="-122"/>
                <a:cs typeface="Arial" pitchFamily="34" charset="-120"/>
              </a:rPr>
              <a:t>Misses, on the record</a:t>
            </a:r>
            <a:endParaRPr lang="en-US" sz="1200" dirty="0"/>
          </a:p>
        </p:txBody>
      </p:sp>
      <p:sp>
        <p:nvSpPr>
          <p:cNvPr id="9" name="Text 6"/>
          <p:cNvSpPr txBox="1"/>
          <p:nvPr/>
        </p:nvSpPr>
        <p:spPr>
          <a:xfrm>
            <a:off x="6382512" y="3749040"/>
            <a:ext cx="5212080" cy="1737360"/>
          </a:xfrm>
          <a:prstGeom prst="rect">
            <a:avLst/>
          </a:prstGeom>
          <a:noFill/>
          <a:ln/>
        </p:spPr>
        <p:txBody>
          <a:bodyPr wrap="square" lIns="0" tIns="0" rIns="0" bIns="0" rtlCol="0" anchor="t"/>
          <a:lstStyle/>
          <a:p>
            <a:pPr indent="0" marL="0">
              <a:spcAft>
                <a:spcPts val="500"/>
              </a:spcAft>
              <a:buNone/>
            </a:pPr>
            <a:r>
              <a:rPr lang="en-US" sz="1050" dirty="0">
                <a:solidFill>
                  <a:srgbClr val="1F1F2E"/>
                </a:solidFill>
                <a:latin typeface="Arial" pitchFamily="34" charset="0"/>
                <a:ea typeface="Arial" pitchFamily="34" charset="-122"/>
                <a:cs typeface="Arial" pitchFamily="34" charset="-120"/>
              </a:rPr>
              <a:t>Predicted baseline mono_viol of 0.5–3 %, larger in the dynamic cells. Actual: 4–8 %, larger in the static cells. Why static is worse is open — a magnitude breakdown is the next diagnostic.</a:t>
            </a:r>
            <a:endParaRPr lang="en-US" sz="1050" dirty="0"/>
          </a:p>
          <a:p>
            <a:pPr indent="0" marL="0">
              <a:spcAft>
                <a:spcPts val="500"/>
              </a:spcAft>
              <a:buNone/>
            </a:pPr>
            <a:r>
              <a:rPr lang="en-US" sz="1050" dirty="0">
                <a:solidFill>
                  <a:srgbClr val="1F1F2E"/>
                </a:solidFill>
                <a:latin typeface="Arial" pitchFamily="34" charset="0"/>
                <a:ea typeface="Arial" pitchFamily="34" charset="-122"/>
                <a:cs typeface="Arial" pitchFamily="34" charset="-120"/>
              </a:rPr>
              <a:t>Predicted the 3-h grid would converge (diminishing increments). Actual: +0.10 again at 1 h (slide 2).</a:t>
            </a:r>
            <a:endParaRPr lang="en-US" sz="1050" dirty="0"/>
          </a:p>
          <a:p>
            <a:pPr indent="0" marL="0">
              <a:spcAft>
                <a:spcPts val="500"/>
              </a:spcAft>
              <a:buNone/>
            </a:pPr>
            <a:r>
              <a:rPr lang="en-US" sz="1050" dirty="0">
                <a:solidFill>
                  <a:srgbClr val="1F1F2E"/>
                </a:solidFill>
                <a:latin typeface="Arial" pitchFamily="34" charset="0"/>
                <a:ea typeface="Arial" pitchFamily="34" charset="-122"/>
                <a:cs typeface="Arial" pitchFamily="34" charset="-120"/>
              </a:rPr>
              <a:t>What Phase 0a does not claim: an accuracy gain. Its value is that the surrogate now outputs a legitimate survival curve — the object every later step is built on.</a:t>
            </a:r>
            <a:endParaRPr lang="en-US" sz="1050" dirty="0"/>
          </a:p>
        </p:txBody>
      </p:sp>
      <p:sp>
        <p:nvSpPr>
          <p:cNvPr id="10" name="Text 7"/>
          <p:cNvSpPr txBox="1"/>
          <p:nvPr/>
        </p:nvSpPr>
        <p:spPr>
          <a:xfrm>
            <a:off x="457200" y="5596128"/>
            <a:ext cx="11274552" cy="274320"/>
          </a:xfrm>
          <a:prstGeom prst="rect">
            <a:avLst/>
          </a:prstGeom>
          <a:noFill/>
          <a:ln/>
        </p:spPr>
        <p:txBody>
          <a:bodyPr wrap="square" lIns="0" tIns="0" rIns="0" bIns="0" rtlCol="0" anchor="ctr"/>
          <a:lstStyle/>
          <a:p>
            <a:pPr indent="0" marL="0">
              <a:buNone/>
            </a:pPr>
            <a:r>
              <a:rPr lang="en-US" sz="950" dirty="0">
                <a:solidFill>
                  <a:srgbClr val="5B5B70"/>
                </a:solidFill>
                <a:latin typeface="Arial" pitchFamily="34" charset="0"/>
                <a:ea typeface="Arial" pitchFamily="34" charset="-122"/>
                <a:cs typeface="Arial" pitchFamily="34" charset="-120"/>
              </a:rPr>
              <a:t>Job 18286484 (4 arms × 6 epochs, seed 42, L40S, ~12–15 min/epoch); audit job 18284821; smoke 18284822. Val loss = per-node-type mean BCE averaged over six types, val split 3,400 runs of 17 storms; held-out 5 × 1,000 runs. Baseline (static, mask) is the twin gnn_twin_v1/legacy.</a:t>
            </a:r>
            <a:endParaRPr lang="en-US" sz="950" dirty="0"/>
          </a:p>
        </p:txBody>
      </p:sp>
      <p:sp>
        <p:nvSpPr>
          <p:cNvPr id="11" name="Shape 8"/>
          <p:cNvSpPr/>
          <p:nvPr/>
        </p:nvSpPr>
        <p:spPr>
          <a:xfrm>
            <a:off x="457200" y="5943600"/>
            <a:ext cx="11274552" cy="621792"/>
          </a:xfrm>
          <a:prstGeom prst="rect">
            <a:avLst/>
          </a:prstGeom>
          <a:solidFill>
            <a:srgbClr val="EFEBF9"/>
          </a:solidFill>
          <a:ln w="9525">
            <a:solidFill>
              <a:srgbClr val="D9D0F0"/>
            </a:solidFill>
            <a:prstDash val="solid"/>
          </a:ln>
        </p:spPr>
      </p:sp>
      <p:sp>
        <p:nvSpPr>
          <p:cNvPr id="12" name="Text 9"/>
          <p:cNvSpPr txBox="1"/>
          <p:nvPr/>
        </p:nvSpPr>
        <p:spPr>
          <a:xfrm>
            <a:off x="594360" y="5943600"/>
            <a:ext cx="11018520" cy="621792"/>
          </a:xfrm>
          <a:prstGeom prst="rect">
            <a:avLst/>
          </a:prstGeom>
          <a:noFill/>
          <a:ln/>
        </p:spPr>
        <p:txBody>
          <a:bodyPr wrap="square" lIns="0" tIns="0" rIns="0" bIns="0" rtlCol="0" anchor="ctr"/>
          <a:lstStyle/>
          <a:p>
            <a:pPr indent="0" marL="0">
              <a:buNone/>
            </a:pPr>
            <a:r>
              <a:rPr lang="en-US" sz="1100" b="1" i="1" dirty="0">
                <a:solidFill>
                  <a:srgbClr val="4A3D7A"/>
                </a:solidFill>
                <a:latin typeface="Arial" pitchFamily="34" charset="0"/>
                <a:ea typeface="Arial" pitchFamily="34" charset="-122"/>
                <a:cs typeface="Arial" pitchFamily="34" charset="-120"/>
              </a:rPr>
              <a:t>Say: </a:t>
            </a:r>
            <a:pPr indent="0" marL="0">
              <a:buNone/>
            </a:pPr>
            <a:r>
              <a:rPr lang="en-US" sz="1100" i="1" dirty="0">
                <a:solidFill>
                  <a:srgbClr val="1F1F2E"/>
                </a:solidFill>
                <a:latin typeface="Arial" pitchFamily="34" charset="0"/>
                <a:ea typeface="Arial" pitchFamily="34" charset="-122"/>
                <a:cs typeface="Arial" pitchFamily="34" charset="-120"/>
              </a:rPr>
              <a:t>Four cells, four passes on every criterion I wrote down before submitting. The head is now monotone by construction at no cost in fit. I also got two predictions wrong and I'd rather show you those than hide them — they're what tell me where to look next.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74552" cy="960120"/>
          </a:xfrm>
          <a:prstGeom prst="rect">
            <a:avLst/>
          </a:prstGeom>
          <a:noFill/>
          <a:ln/>
        </p:spPr>
        <p:txBody>
          <a:bodyPr wrap="square" lIns="0" tIns="0" rIns="0" bIns="0" rtlCol="0" anchor="t"/>
          <a:lstStyle/>
          <a:p>
            <a:pPr indent="0" marL="0">
              <a:buNone/>
            </a:pPr>
            <a:r>
              <a:rPr lang="en-US" sz="2200" b="1" dirty="0">
                <a:solidFill>
                  <a:srgbClr val="1F1F2E"/>
                </a:solidFill>
                <a:latin typeface="Arial" pitchFamily="34" charset="0"/>
                <a:ea typeface="Arial" pitchFamily="34" charset="-122"/>
                <a:cs typeface="Arial" pitchFamily="34" charset="-120"/>
              </a:rPr>
              <a:t>Next: teach the head what time it is — one variable at a time — and three decisions I need from you</a:t>
            </a:r>
            <a:endParaRPr lang="en-US" sz="2200" dirty="0"/>
          </a:p>
        </p:txBody>
      </p:sp>
      <p:sp>
        <p:nvSpPr>
          <p:cNvPr id="3" name="Shape 1"/>
          <p:cNvSpPr/>
          <p:nvPr/>
        </p:nvSpPr>
        <p:spPr>
          <a:xfrm>
            <a:off x="457200" y="1417320"/>
            <a:ext cx="3611880" cy="4023360"/>
          </a:xfrm>
          <a:prstGeom prst="roundRect">
            <a:avLst>
              <a:gd name="adj" fmla="val 2025"/>
            </a:avLst>
          </a:prstGeom>
          <a:solidFill>
            <a:srgbClr val="EFEBF9"/>
          </a:solidFill>
          <a:ln w="9525">
            <a:solidFill>
              <a:srgbClr val="D9D0F0"/>
            </a:solidFill>
            <a:prstDash val="solid"/>
          </a:ln>
        </p:spPr>
      </p:sp>
      <p:sp>
        <p:nvSpPr>
          <p:cNvPr id="4" name="Text 2"/>
          <p:cNvSpPr txBox="1"/>
          <p:nvPr/>
        </p:nvSpPr>
        <p:spPr>
          <a:xfrm>
            <a:off x="640080" y="1554480"/>
            <a:ext cx="3246120" cy="365760"/>
          </a:xfrm>
          <a:prstGeom prst="rect">
            <a:avLst/>
          </a:prstGeom>
          <a:noFill/>
          <a:ln/>
        </p:spPr>
        <p:txBody>
          <a:bodyPr wrap="square" lIns="0" tIns="0" rIns="0" bIns="0" rtlCol="0" anchor="ctr"/>
          <a:lstStyle/>
          <a:p>
            <a:pPr indent="0" marL="0">
              <a:buNone/>
            </a:pPr>
            <a:r>
              <a:rPr lang="en-US" sz="1350" b="1" dirty="0">
                <a:solidFill>
                  <a:srgbClr val="4A3D7A"/>
                </a:solidFill>
                <a:latin typeface="Arial" pitchFamily="34" charset="0"/>
                <a:ea typeface="Arial" pitchFamily="34" charset="-122"/>
                <a:cs typeface="Arial" pitchFamily="34" charset="-120"/>
              </a:rPr>
              <a:t>Phase 0b — proposed, in order</a:t>
            </a:r>
            <a:endParaRPr lang="en-US" sz="1350" dirty="0"/>
          </a:p>
        </p:txBody>
      </p:sp>
      <p:sp>
        <p:nvSpPr>
          <p:cNvPr id="5" name="Text 3"/>
          <p:cNvSpPr txBox="1"/>
          <p:nvPr/>
        </p:nvSpPr>
        <p:spPr>
          <a:xfrm>
            <a:off x="640080" y="1965960"/>
            <a:ext cx="3246120" cy="333756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1F1F2E"/>
                </a:solidFill>
                <a:latin typeface="Arial" pitchFamily="34" charset="0"/>
                <a:ea typeface="Arial" pitchFamily="34" charset="-122"/>
                <a:cs typeface="Arial" pitchFamily="34" charset="-120"/>
              </a:rPr>
              <a:t>Survival likelihood as the training loss (multinomial over windows) instead of four separate BCEs — the proper likelihood of an event time</a:t>
            </a:r>
            <a:endParaRPr lang="en-US" sz="1150" dirty="0"/>
          </a:p>
          <a:p>
            <a:pPr marL="342900" indent="-342900">
              <a:spcAft>
                <a:spcPts val="800"/>
              </a:spcAft>
              <a:buSzPct val="100000"/>
              <a:buChar char="•"/>
            </a:pPr>
            <a:r>
              <a:rPr lang="en-US" sz="1150" dirty="0">
                <a:solidFill>
                  <a:srgbClr val="1F1F2E"/>
                </a:solidFill>
                <a:latin typeface="Arial" pitchFamily="34" charset="0"/>
                <a:ea typeface="Arial" pitchFamily="34" charset="-122"/>
                <a:cs typeface="Arial" pitchFamily="34" charset="-120"/>
              </a:rPr>
              <a:t>3-h windows from the existing peak-relative record (fail_time_per_node), which the 1-h result says is the right physical frame — never a tipping share</a:t>
            </a:r>
            <a:endParaRPr lang="en-US" sz="1150" dirty="0"/>
          </a:p>
          <a:p>
            <a:pPr marL="342900" indent="-342900">
              <a:spcAft>
                <a:spcPts val="800"/>
              </a:spcAft>
              <a:buSzPct val="100000"/>
              <a:buChar char="•"/>
            </a:pPr>
            <a:r>
              <a:rPr lang="en-US" sz="1150" dirty="0">
                <a:solidFill>
                  <a:srgbClr val="1F1F2E"/>
                </a:solidFill>
                <a:latin typeface="Arial" pitchFamily="34" charset="0"/>
                <a:ea typeface="Arial" pitchFamily="34" charset="-122"/>
                <a:cs typeface="Arial" pitchFamily="34" charset="-120"/>
              </a:rPr>
              <a:t>A time-conditioned head that is asked "hazard at τ", so it can be shifted ±6 h exactly like the simulator's surge clock and tested against the phase result</a:t>
            </a:r>
            <a:endParaRPr lang="en-US" sz="1150" dirty="0"/>
          </a:p>
          <a:p>
            <a:pPr marL="342900" indent="-342900">
              <a:spcAft>
                <a:spcPts val="800"/>
              </a:spcAft>
              <a:buSzPct val="100000"/>
              <a:buChar char="•"/>
            </a:pPr>
            <a:r>
              <a:rPr lang="en-US" sz="1150" dirty="0">
                <a:solidFill>
                  <a:srgbClr val="1F1F2E"/>
                </a:solidFill>
                <a:latin typeface="Arial" pitchFamily="34" charset="0"/>
                <a:ea typeface="Arial" pitchFamily="34" charset="-122"/>
                <a:cs typeface="Arial" pitchFamily="34" charset="-120"/>
              </a:rPr>
              <a:t>Then, and only then, the hydrograph as an input (arrival is already there; depth-over-time is not)</a:t>
            </a:r>
            <a:endParaRPr lang="en-US" sz="1150" dirty="0"/>
          </a:p>
        </p:txBody>
      </p:sp>
      <p:sp>
        <p:nvSpPr>
          <p:cNvPr id="6" name="Shape 4"/>
          <p:cNvSpPr/>
          <p:nvPr/>
        </p:nvSpPr>
        <p:spPr>
          <a:xfrm>
            <a:off x="4288536" y="1417320"/>
            <a:ext cx="3611880" cy="4023360"/>
          </a:xfrm>
          <a:prstGeom prst="roundRect">
            <a:avLst>
              <a:gd name="adj" fmla="val 2025"/>
            </a:avLst>
          </a:prstGeom>
          <a:solidFill>
            <a:srgbClr val="EFEBF9"/>
          </a:solidFill>
          <a:ln w="9525">
            <a:solidFill>
              <a:srgbClr val="D9D0F0"/>
            </a:solidFill>
            <a:prstDash val="solid"/>
          </a:ln>
        </p:spPr>
      </p:sp>
      <p:sp>
        <p:nvSpPr>
          <p:cNvPr id="7" name="Text 5"/>
          <p:cNvSpPr txBox="1"/>
          <p:nvPr/>
        </p:nvSpPr>
        <p:spPr>
          <a:xfrm>
            <a:off x="4471416" y="1554480"/>
            <a:ext cx="3246120" cy="365760"/>
          </a:xfrm>
          <a:prstGeom prst="rect">
            <a:avLst/>
          </a:prstGeom>
          <a:noFill/>
          <a:ln/>
        </p:spPr>
        <p:txBody>
          <a:bodyPr wrap="square" lIns="0" tIns="0" rIns="0" bIns="0" rtlCol="0" anchor="ctr"/>
          <a:lstStyle/>
          <a:p>
            <a:pPr indent="0" marL="0">
              <a:buNone/>
            </a:pPr>
            <a:r>
              <a:rPr lang="en-US" sz="1350" b="1" dirty="0">
                <a:solidFill>
                  <a:srgbClr val="4A3D7A"/>
                </a:solidFill>
                <a:latin typeface="Arial" pitchFamily="34" charset="0"/>
                <a:ea typeface="Arial" pitchFamily="34" charset="-122"/>
                <a:cs typeface="Arial" pitchFamily="34" charset="-120"/>
              </a:rPr>
              <a:t>Decisions needed</a:t>
            </a:r>
            <a:endParaRPr lang="en-US" sz="1350" dirty="0"/>
          </a:p>
        </p:txBody>
      </p:sp>
      <p:sp>
        <p:nvSpPr>
          <p:cNvPr id="8" name="Text 6"/>
          <p:cNvSpPr txBox="1"/>
          <p:nvPr/>
        </p:nvSpPr>
        <p:spPr>
          <a:xfrm>
            <a:off x="4471416" y="1965960"/>
            <a:ext cx="3246120" cy="333756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1F1F2E"/>
                </a:solidFill>
                <a:latin typeface="Arial" pitchFamily="34" charset="0"/>
                <a:ea typeface="Arial" pitchFamily="34" charset="-122"/>
                <a:cs typeface="Arial" pitchFamily="34" charset="-120"/>
              </a:rPr>
              <a:t>Surge-clock anchor: peak or onset? Open since Sept 10; it fixes the label frame for every dynamic campaign from here on</a:t>
            </a:r>
            <a:endParaRPr lang="en-US" sz="1150" dirty="0"/>
          </a:p>
          <a:p>
            <a:pPr marL="342900" indent="-342900">
              <a:spcAft>
                <a:spcPts val="800"/>
              </a:spcAft>
              <a:buSzPct val="100000"/>
              <a:buChar char="•"/>
            </a:pPr>
            <a:r>
              <a:rPr lang="en-US" sz="1150" dirty="0">
                <a:solidFill>
                  <a:srgbClr val="1F1F2E"/>
                </a:solidFill>
                <a:latin typeface="Arial" pitchFamily="34" charset="0"/>
                <a:ea typeface="Arial" pitchFamily="34" charset="-122"/>
                <a:cs typeface="Arial" pitchFamily="34" charset="-120"/>
              </a:rPr>
              <a:t>Torch 3-h N = 1000 rerun for the Week 23 saturated-storm magnitudes: given non-convergence, is it worth 2× wall time, or do we state those magnitudes as grid-conditional and move on? My recommendation: the latter</a:t>
            </a:r>
            <a:endParaRPr lang="en-US" sz="1150" dirty="0"/>
          </a:p>
          <a:p>
            <a:pPr marL="342900" indent="-342900">
              <a:spcAft>
                <a:spcPts val="800"/>
              </a:spcAft>
              <a:buSzPct val="100000"/>
              <a:buChar char="•"/>
            </a:pPr>
            <a:r>
              <a:rPr lang="en-US" sz="1150" dirty="0">
                <a:solidFill>
                  <a:srgbClr val="1F1F2E"/>
                </a:solidFill>
                <a:latin typeface="Arial" pitchFamily="34" charset="0"/>
                <a:ea typeface="Arial" pitchFamily="34" charset="-122"/>
                <a:cs typeface="Arial" pitchFamily="34" charset="-120"/>
              </a:rPr>
              <a:t>Adopt the slide-2 convention formally: tipping share reported with its grid; surrogate targets fixed and physical</a:t>
            </a:r>
            <a:endParaRPr lang="en-US" sz="1150" dirty="0"/>
          </a:p>
        </p:txBody>
      </p:sp>
      <p:sp>
        <p:nvSpPr>
          <p:cNvPr id="9" name="Shape 7"/>
          <p:cNvSpPr/>
          <p:nvPr/>
        </p:nvSpPr>
        <p:spPr>
          <a:xfrm>
            <a:off x="8119872" y="1417320"/>
            <a:ext cx="3611880" cy="4023360"/>
          </a:xfrm>
          <a:prstGeom prst="roundRect">
            <a:avLst>
              <a:gd name="adj" fmla="val 2025"/>
            </a:avLst>
          </a:prstGeom>
          <a:solidFill>
            <a:srgbClr val="EFEBF9"/>
          </a:solidFill>
          <a:ln w="9525">
            <a:solidFill>
              <a:srgbClr val="D9D0F0"/>
            </a:solidFill>
            <a:prstDash val="solid"/>
          </a:ln>
        </p:spPr>
      </p:sp>
      <p:sp>
        <p:nvSpPr>
          <p:cNvPr id="10" name="Text 8"/>
          <p:cNvSpPr txBox="1"/>
          <p:nvPr/>
        </p:nvSpPr>
        <p:spPr>
          <a:xfrm>
            <a:off x="8302752" y="1554480"/>
            <a:ext cx="3246120" cy="365760"/>
          </a:xfrm>
          <a:prstGeom prst="rect">
            <a:avLst/>
          </a:prstGeom>
          <a:noFill/>
          <a:ln/>
        </p:spPr>
        <p:txBody>
          <a:bodyPr wrap="square" lIns="0" tIns="0" rIns="0" bIns="0" rtlCol="0" anchor="ctr"/>
          <a:lstStyle/>
          <a:p>
            <a:pPr indent="0" marL="0">
              <a:buNone/>
            </a:pPr>
            <a:r>
              <a:rPr lang="en-US" sz="1350" b="1" dirty="0">
                <a:solidFill>
                  <a:srgbClr val="4A3D7A"/>
                </a:solidFill>
                <a:latin typeface="Arial" pitchFamily="34" charset="0"/>
                <a:ea typeface="Arial" pitchFamily="34" charset="-122"/>
                <a:cs typeface="Arial" pitchFamily="34" charset="-120"/>
              </a:rPr>
              <a:t>Parked, deliberately</a:t>
            </a:r>
            <a:endParaRPr lang="en-US" sz="1350" dirty="0"/>
          </a:p>
        </p:txBody>
      </p:sp>
      <p:sp>
        <p:nvSpPr>
          <p:cNvPr id="11" name="Text 9"/>
          <p:cNvSpPr txBox="1"/>
          <p:nvPr/>
        </p:nvSpPr>
        <p:spPr>
          <a:xfrm>
            <a:off x="8302752" y="1965960"/>
            <a:ext cx="3246120" cy="333756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1F1F2E"/>
                </a:solidFill>
                <a:latin typeface="Arial" pitchFamily="34" charset="0"/>
                <a:ea typeface="Arial" pitchFamily="34" charset="-122"/>
                <a:cs typeface="Arial" pitchFamily="34" charset="-120"/>
              </a:rPr>
              <a:t>Jesse's RATE_C variant (memo drafted; adoption pending)</a:t>
            </a:r>
            <a:endParaRPr lang="en-US" sz="1150" dirty="0"/>
          </a:p>
          <a:p>
            <a:pPr marL="342900" indent="-342900">
              <a:spcAft>
                <a:spcPts val="800"/>
              </a:spcAft>
              <a:buSzPct val="100000"/>
              <a:buChar char="•"/>
            </a:pPr>
            <a:r>
              <a:rPr lang="en-US" sz="1150" dirty="0">
                <a:solidFill>
                  <a:srgbClr val="1F1F2E"/>
                </a:solidFill>
                <a:latin typeface="Arial" pitchFamily="34" charset="0"/>
                <a:ea typeface="Arial" pitchFamily="34" charset="-122"/>
                <a:cs typeface="Arial" pitchFamily="34" charset="-120"/>
              </a:rPr>
              <a:t>Sandy hindcast</a:t>
            </a:r>
            <a:endParaRPr lang="en-US" sz="1150" dirty="0"/>
          </a:p>
          <a:p>
            <a:pPr marL="342900" indent="-342900">
              <a:spcAft>
                <a:spcPts val="800"/>
              </a:spcAft>
              <a:buSzPct val="100000"/>
              <a:buChar char="•"/>
            </a:pPr>
            <a:r>
              <a:rPr lang="en-US" sz="1150" dirty="0">
                <a:solidFill>
                  <a:srgbClr val="1F1F2E"/>
                </a:solidFill>
                <a:latin typeface="Arial" pitchFamily="34" charset="0"/>
                <a:ea typeface="Arial" pitchFamily="34" charset="-122"/>
                <a:cs typeface="Arial" pitchFamily="34" charset="-120"/>
              </a:rPr>
              <a:t>GeoClaw fgmax request</a:t>
            </a:r>
            <a:endParaRPr lang="en-US" sz="1150" dirty="0"/>
          </a:p>
          <a:p>
            <a:pPr marL="342900" indent="-342900">
              <a:spcAft>
                <a:spcPts val="800"/>
              </a:spcAft>
              <a:buSzPct val="100000"/>
              <a:buChar char="•"/>
            </a:pPr>
            <a:r>
              <a:rPr lang="en-US" sz="1150" dirty="0">
                <a:solidFill>
                  <a:srgbClr val="1F1F2E"/>
                </a:solidFill>
                <a:latin typeface="Arial" pitchFamily="34" charset="0"/>
                <a:ea typeface="Arial" pitchFamily="34" charset="-122"/>
                <a:cs typeface="Arial" pitchFamily="34" charset="-120"/>
              </a:rPr>
              <a:t>GISSR batch 2 / Gwen audit message</a:t>
            </a:r>
            <a:endParaRPr lang="en-US" sz="1150" dirty="0"/>
          </a:p>
          <a:p>
            <a:pPr marL="342900" indent="-342900">
              <a:spcAft>
                <a:spcPts val="800"/>
              </a:spcAft>
              <a:buSzPct val="100000"/>
              <a:buChar char="•"/>
            </a:pPr>
            <a:r>
              <a:rPr lang="en-US" sz="1150" dirty="0">
                <a:solidFill>
                  <a:srgbClr val="1F1F2E"/>
                </a:solidFill>
                <a:latin typeface="Arial" pitchFamily="34" charset="0"/>
                <a:ea typeface="Arial" pitchFamily="34" charset="-122"/>
                <a:cs typeface="Arial" pitchFamily="34" charset="-120"/>
              </a:rPr>
              <a:t>Monotonicity-violation magnitude breakdown (cheap; next week)</a:t>
            </a:r>
            <a:endParaRPr lang="en-US" sz="1150" dirty="0"/>
          </a:p>
        </p:txBody>
      </p:sp>
      <p:sp>
        <p:nvSpPr>
          <p:cNvPr id="12" name="Shape 10"/>
          <p:cNvSpPr/>
          <p:nvPr/>
        </p:nvSpPr>
        <p:spPr>
          <a:xfrm>
            <a:off x="457200" y="5943600"/>
            <a:ext cx="11274552" cy="621792"/>
          </a:xfrm>
          <a:prstGeom prst="rect">
            <a:avLst/>
          </a:prstGeom>
          <a:solidFill>
            <a:srgbClr val="EFEBF9"/>
          </a:solidFill>
          <a:ln w="9525">
            <a:solidFill>
              <a:srgbClr val="D9D0F0"/>
            </a:solidFill>
            <a:prstDash val="solid"/>
          </a:ln>
        </p:spPr>
      </p:sp>
      <p:sp>
        <p:nvSpPr>
          <p:cNvPr id="13" name="Text 11"/>
          <p:cNvSpPr txBox="1"/>
          <p:nvPr/>
        </p:nvSpPr>
        <p:spPr>
          <a:xfrm>
            <a:off x="594360" y="5943600"/>
            <a:ext cx="11018520" cy="621792"/>
          </a:xfrm>
          <a:prstGeom prst="rect">
            <a:avLst/>
          </a:prstGeom>
          <a:noFill/>
          <a:ln/>
        </p:spPr>
        <p:txBody>
          <a:bodyPr wrap="square" lIns="0" tIns="0" rIns="0" bIns="0" rtlCol="0" anchor="ctr"/>
          <a:lstStyle/>
          <a:p>
            <a:pPr indent="0" marL="0">
              <a:buNone/>
            </a:pPr>
            <a:r>
              <a:rPr lang="en-US" sz="1100" b="1" i="1" dirty="0">
                <a:solidFill>
                  <a:srgbClr val="4A3D7A"/>
                </a:solidFill>
                <a:latin typeface="Arial" pitchFamily="34" charset="0"/>
                <a:ea typeface="Arial" pitchFamily="34" charset="-122"/>
                <a:cs typeface="Arial" pitchFamily="34" charset="-120"/>
              </a:rPr>
              <a:t>Say: </a:t>
            </a:r>
            <a:pPr indent="0" marL="0">
              <a:buNone/>
            </a:pPr>
            <a:r>
              <a:rPr lang="en-US" sz="1100" i="1" dirty="0">
                <a:solidFill>
                  <a:srgbClr val="1F1F2E"/>
                </a:solidFill>
                <a:latin typeface="Arial" pitchFamily="34" charset="0"/>
                <a:ea typeface="Arial" pitchFamily="34" charset="-122"/>
                <a:cs typeface="Arial" pitchFamily="34" charset="-120"/>
              </a:rPr>
              <a:t>The plan is the same discipline as this week: one change, a fingerprint, a pre-registered prediction, then the run. The three decisions on the middle card are the ones that change what I do next — the surge clock most of all, because it sets the frame for every label.</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74552" cy="960120"/>
          </a:xfrm>
          <a:prstGeom prst="rect">
            <a:avLst/>
          </a:prstGeom>
          <a:noFill/>
          <a:ln/>
        </p:spPr>
        <p:txBody>
          <a:bodyPr wrap="square" lIns="0" tIns="0" rIns="0" bIns="0" rtlCol="0" anchor="t"/>
          <a:lstStyle/>
          <a:p>
            <a:pPr indent="0" marL="0">
              <a:buNone/>
            </a:pPr>
            <a:r>
              <a:rPr lang="en-US" sz="2200" b="1" dirty="0">
                <a:solidFill>
                  <a:srgbClr val="1F1F2E"/>
                </a:solidFill>
                <a:latin typeface="Arial" pitchFamily="34" charset="0"/>
                <a:ea typeface="Arial" pitchFamily="34" charset="-122"/>
                <a:cs typeface="Arial" pitchFamily="34" charset="-120"/>
              </a:rPr>
              <a:t>Backup — held-out per-storm loss, hazard minus independent (negative = hazard better), and per-epoch validation trajectories</a:t>
            </a:r>
            <a:endParaRPr lang="en-US" sz="2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5852160" cy="914400"/>
        </p:xfrm>
        <a:graphic>
          <a:graphicData uri="http://schemas.openxmlformats.org/drawingml/2006/table">
            <a:tbl>
              <a:tblPr/>
              <a:tblGrid>
                <a:gridCol w="1920240"/>
                <a:gridCol w="786384"/>
                <a:gridCol w="786384"/>
                <a:gridCol w="786384"/>
                <a:gridCol w="786384"/>
                <a:gridCol w="786384"/>
              </a:tblGrid>
              <a:tr h="329184">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cell</a:t>
                      </a:r>
                      <a:endParaRPr lang="en-US" sz="10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4A3D7A"/>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914_6</a:t>
                      </a:r>
                      <a:endParaRPr lang="en-US" sz="10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4A3D7A"/>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258_9</a:t>
                      </a:r>
                      <a:endParaRPr lang="en-US" sz="10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4A3D7A"/>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gc_2050</a:t>
                      </a:r>
                      <a:endParaRPr lang="en-US" sz="10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4A3D7A"/>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808_27</a:t>
                      </a:r>
                      <a:endParaRPr lang="en-US" sz="10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4A3D7A"/>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605_5</a:t>
                      </a:r>
                      <a:endParaRPr lang="en-US" sz="10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4A3D7A"/>
                    </a:solidFill>
                  </a:tcPr>
                </a:tc>
              </a:tr>
              <a:tr h="329184">
                <a:tc>
                  <a:txBody>
                    <a:bodyPr/>
                    <a:lstStyle/>
                    <a:p>
                      <a:pPr algn="l" indent="0" marL="0">
                        <a:buNone/>
                      </a:pPr>
                      <a:r>
                        <a:rPr lang="en-US" sz="1000" dirty="0">
                          <a:solidFill>
                            <a:srgbClr val="1F1F2E"/>
                          </a:solidFill>
                          <a:latin typeface="Arial" pitchFamily="34" charset="0"/>
                          <a:ea typeface="Arial" pitchFamily="34" charset="-122"/>
                          <a:cs typeface="Arial" pitchFamily="34" charset="-120"/>
                        </a:rPr>
                        <a:t>static, mask</a:t>
                      </a:r>
                      <a:endParaRPr lang="en-US" sz="10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1F2E"/>
                          </a:solidFill>
                          <a:latin typeface="Courier New" pitchFamily="34" charset="0"/>
                          <a:ea typeface="Courier New" pitchFamily="34" charset="-122"/>
                          <a:cs typeface="Courier New" pitchFamily="34" charset="-120"/>
                        </a:rPr>
                        <a:t>+0.0001</a:t>
                      </a:r>
                      <a:endParaRPr lang="en-US" sz="10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1F2E"/>
                          </a:solidFill>
                          <a:latin typeface="Courier New" pitchFamily="34" charset="0"/>
                          <a:ea typeface="Courier New" pitchFamily="34" charset="-122"/>
                          <a:cs typeface="Courier New" pitchFamily="34" charset="-120"/>
                        </a:rPr>
                        <a:t>+0.0004</a:t>
                      </a:r>
                      <a:endParaRPr lang="en-US" sz="10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1F2E"/>
                          </a:solidFill>
                          <a:latin typeface="Courier New" pitchFamily="34" charset="0"/>
                          <a:ea typeface="Courier New" pitchFamily="34" charset="-122"/>
                          <a:cs typeface="Courier New" pitchFamily="34" charset="-120"/>
                        </a:rPr>
                        <a:t>+0.0017</a:t>
                      </a:r>
                      <a:endParaRPr lang="en-US" sz="10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1F2E"/>
                          </a:solidFill>
                          <a:latin typeface="Courier New" pitchFamily="34" charset="0"/>
                          <a:ea typeface="Courier New" pitchFamily="34" charset="-122"/>
                          <a:cs typeface="Courier New" pitchFamily="34" charset="-120"/>
                        </a:rPr>
                        <a:t>+0.0002</a:t>
                      </a:r>
                      <a:endParaRPr lang="en-US" sz="10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1F2E"/>
                          </a:solidFill>
                          <a:latin typeface="Courier New" pitchFamily="34" charset="0"/>
                          <a:ea typeface="Courier New" pitchFamily="34" charset="-122"/>
                          <a:cs typeface="Courier New" pitchFamily="34" charset="-120"/>
                        </a:rPr>
                        <a:t>+0.0033</a:t>
                      </a:r>
                      <a:endParaRPr lang="en-US" sz="10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FFFFFF"/>
                    </a:solidFill>
                  </a:tcPr>
                </a:tc>
              </a:tr>
              <a:tr h="329184">
                <a:tc>
                  <a:txBody>
                    <a:bodyPr/>
                    <a:lstStyle/>
                    <a:p>
                      <a:pPr algn="l" indent="0" marL="0">
                        <a:buNone/>
                      </a:pPr>
                      <a:r>
                        <a:rPr lang="en-US" sz="1000" dirty="0">
                          <a:solidFill>
                            <a:srgbClr val="1F1F2E"/>
                          </a:solidFill>
                          <a:latin typeface="Arial" pitchFamily="34" charset="0"/>
                          <a:ea typeface="Arial" pitchFamily="34" charset="-122"/>
                          <a:cs typeface="Arial" pitchFamily="34" charset="-120"/>
                        </a:rPr>
                        <a:t>static, mask + timing</a:t>
                      </a:r>
                      <a:endParaRPr lang="en-US" sz="10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1F2E"/>
                          </a:solidFill>
                          <a:latin typeface="Courier New" pitchFamily="34" charset="0"/>
                          <a:ea typeface="Courier New" pitchFamily="34" charset="-122"/>
                          <a:cs typeface="Courier New" pitchFamily="34" charset="-120"/>
                        </a:rPr>
                        <a:t>+0.0006</a:t>
                      </a:r>
                      <a:endParaRPr lang="en-US" sz="10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1F2E"/>
                          </a:solidFill>
                          <a:latin typeface="Courier New" pitchFamily="34" charset="0"/>
                          <a:ea typeface="Courier New" pitchFamily="34" charset="-122"/>
                          <a:cs typeface="Courier New" pitchFamily="34" charset="-120"/>
                        </a:rPr>
                        <a:t>−0.0001</a:t>
                      </a:r>
                      <a:endParaRPr lang="en-US" sz="10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1F2E"/>
                          </a:solidFill>
                          <a:latin typeface="Courier New" pitchFamily="34" charset="0"/>
                          <a:ea typeface="Courier New" pitchFamily="34" charset="-122"/>
                          <a:cs typeface="Courier New" pitchFamily="34" charset="-120"/>
                        </a:rPr>
                        <a:t>+0.0009</a:t>
                      </a:r>
                      <a:endParaRPr lang="en-US" sz="10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1F2E"/>
                          </a:solidFill>
                          <a:latin typeface="Courier New" pitchFamily="34" charset="0"/>
                          <a:ea typeface="Courier New" pitchFamily="34" charset="-122"/>
                          <a:cs typeface="Courier New" pitchFamily="34" charset="-120"/>
                        </a:rPr>
                        <a:t>−0.0008</a:t>
                      </a:r>
                      <a:endParaRPr lang="en-US" sz="10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1F2E"/>
                          </a:solidFill>
                          <a:latin typeface="Courier New" pitchFamily="34" charset="0"/>
                          <a:ea typeface="Courier New" pitchFamily="34" charset="-122"/>
                          <a:cs typeface="Courier New" pitchFamily="34" charset="-120"/>
                        </a:rPr>
                        <a:t>−0.0010</a:t>
                      </a:r>
                      <a:endParaRPr lang="en-US" sz="10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FFFFFF"/>
                    </a:solidFill>
                  </a:tcPr>
                </a:tc>
              </a:tr>
              <a:tr h="329184">
                <a:tc>
                  <a:txBody>
                    <a:bodyPr/>
                    <a:lstStyle/>
                    <a:p>
                      <a:pPr algn="l" indent="0" marL="0">
                        <a:buNone/>
                      </a:pPr>
                      <a:r>
                        <a:rPr lang="en-US" sz="1000" dirty="0">
                          <a:solidFill>
                            <a:srgbClr val="1F1F2E"/>
                          </a:solidFill>
                          <a:latin typeface="Arial" pitchFamily="34" charset="0"/>
                          <a:ea typeface="Arial" pitchFamily="34" charset="-122"/>
                          <a:cs typeface="Arial" pitchFamily="34" charset="-120"/>
                        </a:rPr>
                        <a:t>dynamic, mask</a:t>
                      </a:r>
                      <a:endParaRPr lang="en-US" sz="10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1F2E"/>
                          </a:solidFill>
                          <a:latin typeface="Courier New" pitchFamily="34" charset="0"/>
                          <a:ea typeface="Courier New" pitchFamily="34" charset="-122"/>
                          <a:cs typeface="Courier New" pitchFamily="34" charset="-120"/>
                        </a:rPr>
                        <a:t>+0.0017</a:t>
                      </a:r>
                      <a:endParaRPr lang="en-US" sz="10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1F2E"/>
                          </a:solidFill>
                          <a:latin typeface="Courier New" pitchFamily="34" charset="0"/>
                          <a:ea typeface="Courier New" pitchFamily="34" charset="-122"/>
                          <a:cs typeface="Courier New" pitchFamily="34" charset="-120"/>
                        </a:rPr>
                        <a:t>−0.0023</a:t>
                      </a:r>
                      <a:endParaRPr lang="en-US" sz="10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1F2E"/>
                          </a:solidFill>
                          <a:latin typeface="Courier New" pitchFamily="34" charset="0"/>
                          <a:ea typeface="Courier New" pitchFamily="34" charset="-122"/>
                          <a:cs typeface="Courier New" pitchFamily="34" charset="-120"/>
                        </a:rPr>
                        <a:t>−0.0040</a:t>
                      </a:r>
                      <a:endParaRPr lang="en-US" sz="10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1F2E"/>
                          </a:solidFill>
                          <a:latin typeface="Courier New" pitchFamily="34" charset="0"/>
                          <a:ea typeface="Courier New" pitchFamily="34" charset="-122"/>
                          <a:cs typeface="Courier New" pitchFamily="34" charset="-120"/>
                        </a:rPr>
                        <a:t>+0.0013</a:t>
                      </a:r>
                      <a:endParaRPr lang="en-US" sz="10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1F2E"/>
                          </a:solidFill>
                          <a:latin typeface="Courier New" pitchFamily="34" charset="0"/>
                          <a:ea typeface="Courier New" pitchFamily="34" charset="-122"/>
                          <a:cs typeface="Courier New" pitchFamily="34" charset="-120"/>
                        </a:rPr>
                        <a:t>+0.0092</a:t>
                      </a:r>
                      <a:endParaRPr lang="en-US" sz="10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FFFFFF"/>
                    </a:solidFill>
                  </a:tcPr>
                </a:tc>
              </a:tr>
              <a:tr h="329184">
                <a:tc>
                  <a:txBody>
                    <a:bodyPr/>
                    <a:lstStyle/>
                    <a:p>
                      <a:pPr algn="l" indent="0" marL="0">
                        <a:buNone/>
                      </a:pPr>
                      <a:r>
                        <a:rPr lang="en-US" sz="1000" dirty="0">
                          <a:solidFill>
                            <a:srgbClr val="1F1F2E"/>
                          </a:solidFill>
                          <a:latin typeface="Arial" pitchFamily="34" charset="0"/>
                          <a:ea typeface="Arial" pitchFamily="34" charset="-122"/>
                          <a:cs typeface="Arial" pitchFamily="34" charset="-120"/>
                        </a:rPr>
                        <a:t>dynamic, mask + timing</a:t>
                      </a:r>
                      <a:endParaRPr lang="en-US" sz="10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1F2E"/>
                          </a:solidFill>
                          <a:latin typeface="Courier New" pitchFamily="34" charset="0"/>
                          <a:ea typeface="Courier New" pitchFamily="34" charset="-122"/>
                          <a:cs typeface="Courier New" pitchFamily="34" charset="-120"/>
                        </a:rPr>
                        <a:t>+0.0015</a:t>
                      </a:r>
                      <a:endParaRPr lang="en-US" sz="10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1F2E"/>
                          </a:solidFill>
                          <a:latin typeface="Courier New" pitchFamily="34" charset="0"/>
                          <a:ea typeface="Courier New" pitchFamily="34" charset="-122"/>
                          <a:cs typeface="Courier New" pitchFamily="34" charset="-120"/>
                        </a:rPr>
                        <a:t>−0.0050</a:t>
                      </a:r>
                      <a:endParaRPr lang="en-US" sz="10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1F2E"/>
                          </a:solidFill>
                          <a:latin typeface="Courier New" pitchFamily="34" charset="0"/>
                          <a:ea typeface="Courier New" pitchFamily="34" charset="-122"/>
                          <a:cs typeface="Courier New" pitchFamily="34" charset="-120"/>
                        </a:rPr>
                        <a:t>−0.0089</a:t>
                      </a:r>
                      <a:endParaRPr lang="en-US" sz="10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1F2E"/>
                          </a:solidFill>
                          <a:latin typeface="Courier New" pitchFamily="34" charset="0"/>
                          <a:ea typeface="Courier New" pitchFamily="34" charset="-122"/>
                          <a:cs typeface="Courier New" pitchFamily="34" charset="-120"/>
                        </a:rPr>
                        <a:t>−0.0145</a:t>
                      </a:r>
                      <a:endParaRPr lang="en-US" sz="10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1F2E"/>
                          </a:solidFill>
                          <a:latin typeface="Courier New" pitchFamily="34" charset="0"/>
                          <a:ea typeface="Courier New" pitchFamily="34" charset="-122"/>
                          <a:cs typeface="Courier New" pitchFamily="34" charset="-120"/>
                        </a:rPr>
                        <a:t>−0.0112</a:t>
                      </a:r>
                      <a:endParaRPr lang="en-US" sz="10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FFFFFF"/>
                    </a:solidFill>
                  </a:tcPr>
                </a:tc>
              </a:tr>
            </a:tbl>
          </a:graphicData>
        </a:graphic>
      </p:graphicFrame>
      <p:graphicFrame>
        <p:nvGraphicFramePr>
          <p:cNvPr id="4" name="Chart 0" descr=""/>
          <p:cNvGraphicFramePr/>
          <p:nvPr/>
        </p:nvGraphicFramePr>
        <p:xfrm>
          <a:off x="6537960" y="1371600"/>
          <a:ext cx="5193792" cy="329184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457200" y="3200400"/>
            <a:ext cx="5852160" cy="1463040"/>
          </a:xfrm>
          <a:prstGeom prst="rect">
            <a:avLst/>
          </a:prstGeom>
          <a:noFill/>
          <a:ln/>
        </p:spPr>
        <p:txBody>
          <a:bodyPr wrap="square" lIns="0" tIns="0" rIns="0" bIns="0" rtlCol="0" anchor="t"/>
          <a:lstStyle/>
          <a:p>
            <a:pPr indent="0" marL="0">
              <a:buNone/>
            </a:pPr>
            <a:r>
              <a:rPr lang="en-US" sz="1050" dirty="0">
                <a:solidFill>
                  <a:srgbClr val="1F1F2E"/>
                </a:solidFill>
                <a:latin typeface="Arial" pitchFamily="34" charset="0"/>
                <a:ea typeface="Arial" pitchFamily="34" charset="-122"/>
                <a:cs typeface="Arial" pitchFamily="34" charset="-120"/>
              </a:rPr>
              <a:t>Held-out difficulty order is identical under both heads in every cell (static cells: 914_6 &lt; 258_9 &lt; 808_27 &lt; gc_2050 &lt; 605_5 for mask; 914_6 &lt; 808_27 &lt; 258_9 &lt; gc_2050 &lt; 605_5 with timing; dynamic cells: 914_6 &lt; 258_9 &lt; gc_2050 &lt; 808_27 &lt; 605_5). Cascade-only PR-AUC per horizon on held-out storms: every |Δ| ≤ 0.009.</a:t>
            </a:r>
            <a:endParaRPr lang="en-US" sz="1050" dirty="0"/>
          </a:p>
        </p:txBody>
      </p:sp>
      <p:sp>
        <p:nvSpPr>
          <p:cNvPr id="6" name="Text 2"/>
          <p:cNvSpPr txBox="1"/>
          <p:nvPr/>
        </p:nvSpPr>
        <p:spPr>
          <a:xfrm>
            <a:off x="457200" y="5596128"/>
            <a:ext cx="11274552" cy="274320"/>
          </a:xfrm>
          <a:prstGeom prst="rect">
            <a:avLst/>
          </a:prstGeom>
          <a:noFill/>
          <a:ln/>
        </p:spPr>
        <p:txBody>
          <a:bodyPr wrap="square" lIns="0" tIns="0" rIns="0" bIns="0" rtlCol="0" anchor="ctr"/>
          <a:lstStyle/>
          <a:p>
            <a:pPr indent="0" marL="0">
              <a:buNone/>
            </a:pPr>
            <a:r>
              <a:rPr lang="en-US" sz="950" dirty="0">
                <a:solidFill>
                  <a:srgbClr val="5B5B70"/>
                </a:solidFill>
                <a:latin typeface="Arial" pitchFamily="34" charset="0"/>
                <a:ea typeface="Arial" pitchFamily="34" charset="-122"/>
                <a:cs typeface="Arial" pitchFamily="34" charset="-120"/>
              </a:rPr>
              <a:t>Sources: data/hpc_results_aug2026/gnn_hazard_v1/&lt;cell&gt;/history.json, gnn_audit_mono_v1/&lt;cell&gt;.eval.json, gnn_2x2_v1/&lt;cell&gt;/history.json.</a:t>
            </a:r>
            <a:endParaRPr lang="en-US" sz="950" dirty="0"/>
          </a:p>
        </p:txBody>
      </p:sp>
      <p:sp>
        <p:nvSpPr>
          <p:cNvPr id="7" name="Shape 3"/>
          <p:cNvSpPr/>
          <p:nvPr/>
        </p:nvSpPr>
        <p:spPr>
          <a:xfrm>
            <a:off x="457200" y="5943600"/>
            <a:ext cx="11274552" cy="621792"/>
          </a:xfrm>
          <a:prstGeom prst="rect">
            <a:avLst/>
          </a:prstGeom>
          <a:solidFill>
            <a:srgbClr val="EFEBF9"/>
          </a:solidFill>
          <a:ln w="9525">
            <a:solidFill>
              <a:srgbClr val="D9D0F0"/>
            </a:solidFill>
            <a:prstDash val="solid"/>
          </a:ln>
        </p:spPr>
      </p:sp>
      <p:sp>
        <p:nvSpPr>
          <p:cNvPr id="8" name="Text 4"/>
          <p:cNvSpPr txBox="1"/>
          <p:nvPr/>
        </p:nvSpPr>
        <p:spPr>
          <a:xfrm>
            <a:off x="594360" y="5943600"/>
            <a:ext cx="11018520" cy="621792"/>
          </a:xfrm>
          <a:prstGeom prst="rect">
            <a:avLst/>
          </a:prstGeom>
          <a:noFill/>
          <a:ln/>
        </p:spPr>
        <p:txBody>
          <a:bodyPr wrap="square" lIns="0" tIns="0" rIns="0" bIns="0" rtlCol="0" anchor="ctr"/>
          <a:lstStyle/>
          <a:p>
            <a:pPr indent="0" marL="0">
              <a:buNone/>
            </a:pPr>
            <a:r>
              <a:rPr lang="en-US" sz="1100" b="1" i="1" dirty="0">
                <a:solidFill>
                  <a:srgbClr val="4A3D7A"/>
                </a:solidFill>
                <a:latin typeface="Arial" pitchFamily="34" charset="0"/>
                <a:ea typeface="Arial" pitchFamily="34" charset="-122"/>
                <a:cs typeface="Arial" pitchFamily="34" charset="-120"/>
              </a:rPr>
              <a:t>Say: </a:t>
            </a:r>
            <a:pPr indent="0" marL="0">
              <a:buNone/>
            </a:pPr>
            <a:r>
              <a:rPr lang="en-US" sz="1100" i="1" dirty="0">
                <a:solidFill>
                  <a:srgbClr val="1F1F2E"/>
                </a:solidFill>
                <a:latin typeface="Arial" pitchFamily="34" charset="0"/>
                <a:ea typeface="Arial" pitchFamily="34" charset="-122"/>
                <a:cs typeface="Arial" pitchFamily="34" charset="-120"/>
              </a:rPr>
              <a:t>Backup only. The dynamic-plus-timing row is where the head seems to help on unseen storms; one seed, so it goes in as a hypothesis for the next campaign, not a result.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27 — Grid convergence and the hazard head</dc:title>
  <dc:subject>PptxGenJS Presentation</dc:subject>
  <dc:creator>Tanmay Jain</dc:creator>
  <cp:lastModifiedBy>Tanmay Jain</cp:lastModifiedBy>
  <cp:revision>1</cp:revision>
  <dcterms:created xsi:type="dcterms:W3CDTF">2026-09-23T16:44:21Z</dcterms:created>
  <dcterms:modified xsi:type="dcterms:W3CDTF">2026-09-23T16:44:21Z</dcterms:modified>
</cp:coreProperties>
</file>