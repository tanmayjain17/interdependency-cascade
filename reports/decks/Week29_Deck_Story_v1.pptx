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Arial"/>
              </a:defRPr>
            </a:pPr>
            <a:r>
              <a:rPr sz="1300" b="0" i="0" u="none" strike="noStrike">
                <a:solidFill>
                  <a:srgbClr val="1F1F2E"/>
                </a:solidFill>
                <a:latin typeface="Arial"/>
              </a:rPr>
              <a:t>Predicted ÷ simulated failures on five unseen storms (1.0 = correct)</a:t>
            </a:r>
          </a:p>
        </c:rich>
      </c:tx>
      <c:layout/>
      <c:overlay val="0"/>
    </c:title>
    <c:autoTitleDeleted val="0"/>
    <c:plotArea>
      <c:layout/>
      <c:barChart>
        <c:barDir val="col"/>
        <c:grouping val="clustered"/>
        <c:varyColors val="0"/>
        <c:ser>
          <c:idx val="0"/>
          <c:order val="0"/>
          <c:tx>
            <c:strRef>
              <c:f>Sheet1!$B$1</c:f>
              <c:strCache>
                <c:ptCount val="1"/>
                <c:pt idx="0">
                  <c:v>Predicted ÷ simulated failures</c:v>
                </c:pt>
              </c:strCache>
            </c:strRef>
          </c:tx>
          <c:spPr>
            <a:solidFill>
              <a:srgbClr val="B5443C"/>
            </a:solidFill>
            <a:effectLst/>
          </c:spPr>
          <c:invertIfNegative val="0"/>
          <c:dLbls>
            <c:numFmt formatCode="0.0" sourceLinked="0"/>
            <c:txPr>
              <a:bodyPr/>
              <a:lstStyle/>
              <a:p>
                <a:pPr>
                  <a:defRPr b="1" i="0" strike="noStrike" sz="1300" u="none">
                    <a:solidFill>
                      <a:srgbClr val="1F1F2E"/>
                    </a:solidFill>
                    <a:latin typeface="Arial"/>
                  </a:defRPr>
                </a:pPr>
              </a:p>
            </c:txPr>
            <c:showLegendKey val="0"/>
            <c:showVal val="1"/>
            <c:showCatName val="0"/>
            <c:showSerName val="0"/>
            <c:showPercent val="0"/>
            <c:showBubbleSize val="0"/>
            <c:showLeaderLines val="0"/>
          </c:dLbls>
          <c:dPt>
            <c:idx val="0"/>
            <c:invertIfNegative val="0"/>
            <c:bubble3D val="0"/>
            <c:spPr>
              <a:solidFill>
                <a:srgbClr val="B5443C"/>
              </a:solidFill>
              <a:effectLst/>
            </c:spPr>
          </c:dPt>
          <c:dPt>
            <c:idx val="1"/>
            <c:invertIfNegative val="0"/>
            <c:bubble3D val="0"/>
            <c:spPr>
              <a:solidFill>
                <a:srgbClr val="4A3D7A"/>
              </a:solidFill>
              <a:effectLst/>
            </c:spPr>
          </c:dPt>
          <c:dPt>
            <c:idx val="2"/>
            <c:invertIfNegative val="0"/>
            <c:bubble3D val="0"/>
            <c:spPr>
              <a:solidFill>
                <a:srgbClr val="4A3D7A"/>
              </a:solidFill>
              <a:effectLst/>
            </c:spPr>
          </c:dPt>
          <c:dPt>
            <c:idx val="3"/>
            <c:invertIfNegative val="0"/>
            <c:bubble3D val="0"/>
            <c:spPr>
              <a:solidFill>
                <a:srgbClr val="4A3D7A"/>
              </a:solidFill>
              <a:effectLst/>
            </c:spPr>
          </c:dPt>
          <c:dPt>
            <c:idx val="4"/>
            <c:invertIfNegative val="0"/>
            <c:bubble3D val="0"/>
            <c:spPr>
              <a:solidFill>
                <a:srgbClr val="4A3D7A"/>
              </a:solidFill>
              <a:effectLst/>
            </c:spPr>
          </c:dPt>
          <c:cat>
            <c:multiLvlStrRef>
              <c:f>Sheet1!$A$2:$A$6</c:f>
              <c:multiLvlStrCache>
                <c:ptCount val="5"/>
                <c:lvl>
                  <c:pt idx="0">
                    <c:v>Small storm
(2.2 m)</c:v>
                  </c:pt>
                  <c:pt idx="1">
                    <c:v>3.4 m</c:v>
                  </c:pt>
                  <c:pt idx="2">
                    <c:v>GeoClaw
map</c:v>
                  </c:pt>
                  <c:pt idx="3">
                    <c:v>3.7 m</c:v>
                  </c:pt>
                  <c:pt idx="4">
                    <c:v>Largest
(4.5 m)</c:v>
                  </c:pt>
                </c:lvl>
              </c:multiLvlStrCache>
            </c:multiLvlStrRef>
          </c:cat>
          <c:val>
            <c:numRef>
              <c:f>Sheet1!$B$2:$B$6</c:f>
              <c:numCache>
                <c:formatCode>General</c:formatCode>
                <c:ptCount val="5"/>
                <c:pt idx="0">
                  <c:v>3.8</c:v>
                </c:pt>
                <c:pt idx="1">
                  <c:v>0.7</c:v>
                </c:pt>
                <c:pt idx="2">
                  <c:v>0.62</c:v>
                </c:pt>
                <c:pt idx="3">
                  <c:v>0.7</c:v>
                </c:pt>
                <c:pt idx="4">
                  <c:v>0.72</c:v>
                </c:pt>
              </c:numCache>
            </c:numRef>
          </c:val>
        </c:ser>
        <c:dLbls>
          <c:numFmt formatCode="0.0" sourceLinked="0"/>
          <c:txPr>
            <a:bodyPr/>
            <a:lstStyle/>
            <a:p>
              <a:pPr>
                <a:defRPr b="1" i="0" strike="noStrike" sz="1300" u="none">
                  <a:solidFill>
                    <a:srgbClr val="1F1F2E"/>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B7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Arial"/>
              </a:defRPr>
            </a:pPr>
            <a:r>
              <a:rPr sz="1300" b="0" i="0" u="none" strike="noStrike">
                <a:solidFill>
                  <a:srgbClr val="1F1F2E"/>
                </a:solidFill>
                <a:latin typeface="Arial"/>
              </a:rPr>
              <a:t>Predicted ÷ simulated failures on five unseen storms (1.0 = correct)</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C4C4CF"/>
            </a:solidFill>
            <a:effectLst/>
          </c:spPr>
          <c:invertIfNegative val="0"/>
          <c:dLbls>
            <c:numFmt formatCode="0.0" sourceLinked="0"/>
            <c:txPr>
              <a:bodyPr/>
              <a:lstStyle/>
              <a:p>
                <a:pPr>
                  <a:defRPr b="0" i="0" strike="noStrike" sz="1200" u="none">
                    <a:solidFill>
                      <a:srgbClr val="1F1F2E"/>
                    </a:solidFill>
                    <a:latin typeface="Arial"/>
                  </a:defRPr>
                </a:pPr>
              </a:p>
            </c:txPr>
            <c:showLegendKey val="0"/>
            <c:showVal val="1"/>
            <c:showCatName val="0"/>
            <c:showSerName val="0"/>
            <c:showPercent val="0"/>
            <c:showBubbleSize val="0"/>
            <c:showLeaderLines val="0"/>
          </c:dLbls>
          <c:cat>
            <c:multiLvlStrRef>
              <c:f>Sheet1!$A$2:$A$6</c:f>
              <c:multiLvlStrCache>
                <c:ptCount val="5"/>
                <c:lvl>
                  <c:pt idx="0">
                    <c:v>Small storm
(2.2 m)</c:v>
                  </c:pt>
                  <c:pt idx="1">
                    <c:v>3.4 m</c:v>
                  </c:pt>
                  <c:pt idx="2">
                    <c:v>GeoClaw
map</c:v>
                  </c:pt>
                  <c:pt idx="3">
                    <c:v>3.7 m</c:v>
                  </c:pt>
                  <c:pt idx="4">
                    <c:v>Largest
(4.5 m)</c:v>
                  </c:pt>
                </c:lvl>
              </c:multiLvlStrCache>
            </c:multiLvlStrRef>
          </c:cat>
          <c:val>
            <c:numRef>
              <c:f>Sheet1!$B$2:$B$6</c:f>
              <c:numCache>
                <c:formatCode>General</c:formatCode>
                <c:ptCount val="5"/>
                <c:pt idx="0">
                  <c:v>3.8</c:v>
                </c:pt>
                <c:pt idx="1">
                  <c:v>0.7</c:v>
                </c:pt>
                <c:pt idx="2">
                  <c:v>0.62</c:v>
                </c:pt>
                <c:pt idx="3">
                  <c:v>0.7</c:v>
                </c:pt>
                <c:pt idx="4">
                  <c:v>0.72</c:v>
                </c:pt>
              </c:numCache>
            </c:numRef>
          </c:val>
        </c:ser>
        <c:ser>
          <c:idx val="1"/>
          <c:order val="1"/>
          <c:tx>
            <c:strRef>
              <c:f>Sheet1!$C$1</c:f>
              <c:strCache>
                <c:ptCount val="1"/>
                <c:pt idx="0">
                  <c:v>With the storm-size input</c:v>
                </c:pt>
              </c:strCache>
            </c:strRef>
          </c:tx>
          <c:spPr>
            <a:solidFill>
              <a:srgbClr val="4A3D7A"/>
            </a:solidFill>
            <a:effectLst/>
          </c:spPr>
          <c:invertIfNegative val="0"/>
          <c:dLbls>
            <c:numFmt formatCode="0.0" sourceLinked="0"/>
            <c:txPr>
              <a:bodyPr/>
              <a:lstStyle/>
              <a:p>
                <a:pPr>
                  <a:defRPr b="0" i="0" strike="noStrike" sz="1200" u="none">
                    <a:solidFill>
                      <a:srgbClr val="1F1F2E"/>
                    </a:solidFill>
                    <a:latin typeface="Arial"/>
                  </a:defRPr>
                </a:pPr>
              </a:p>
            </c:txPr>
            <c:showLegendKey val="0"/>
            <c:showVal val="1"/>
            <c:showCatName val="0"/>
            <c:showSerName val="0"/>
            <c:showPercent val="0"/>
            <c:showBubbleSize val="0"/>
            <c:showLeaderLines val="0"/>
          </c:dLbls>
          <c:cat>
            <c:multiLvlStrRef>
              <c:f>Sheet1!$A$2:$A$6</c:f>
              <c:multiLvlStrCache>
                <c:ptCount val="5"/>
                <c:lvl>
                  <c:pt idx="0">
                    <c:v>Small storm
(2.2 m)</c:v>
                  </c:pt>
                  <c:pt idx="1">
                    <c:v>3.4 m</c:v>
                  </c:pt>
                  <c:pt idx="2">
                    <c:v>GeoClaw
map</c:v>
                  </c:pt>
                  <c:pt idx="3">
                    <c:v>3.7 m</c:v>
                  </c:pt>
                  <c:pt idx="4">
                    <c:v>Largest
(4.5 m)</c:v>
                  </c:pt>
                </c:lvl>
              </c:multiLvlStrCache>
            </c:multiLvlStrRef>
          </c:cat>
          <c:val>
            <c:numRef>
              <c:f>Sheet1!$C$2:$C$6</c:f>
              <c:numCache>
                <c:formatCode>General</c:formatCode>
                <c:ptCount val="5"/>
                <c:pt idx="0">
                  <c:v>1.05</c:v>
                </c:pt>
                <c:pt idx="1">
                  <c:v>0.91</c:v>
                </c:pt>
                <c:pt idx="2">
                  <c:v>0.83</c:v>
                </c:pt>
                <c:pt idx="3">
                  <c:v>0.96</c:v>
                </c:pt>
                <c:pt idx="4">
                  <c:v>1.02</c:v>
                </c:pt>
              </c:numCache>
            </c:numRef>
          </c:val>
        </c:ser>
        <c:dLbls>
          <c:numFmt formatCode="0.0" sourceLinked="0"/>
          <c:txPr>
            <a:bodyPr/>
            <a:lstStyle/>
            <a:p>
              <a:pPr>
                <a:defRPr b="0" i="0" strike="noStrike" sz="1200" u="none">
                  <a:solidFill>
                    <a:srgbClr val="1F1F2E"/>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B70"/>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Arial"/>
              </a:defRPr>
            </a:pPr>
            <a:r>
              <a:rPr sz="1300" b="0" i="0" u="none" strike="noStrike">
                <a:solidFill>
                  <a:srgbClr val="1F1F2E"/>
                </a:solidFill>
                <a:latin typeface="Arial"/>
              </a:rPr>
              <a:t>Storm speed (hours a site is wet before the peak) against storm size</a:t>
            </a:r>
          </a:p>
        </c:rich>
      </c:tx>
      <c:layout/>
      <c:overlay val="0"/>
    </c:title>
    <c:autoTitleDeleted val="0"/>
    <c:plotArea>
      <c:layout/>
      <c:scatterChart>
        <c:scatterStyle val="lineMarker"/>
        <c:varyColors val="0"/>
        <c:ser>
          <c:idx val="0"/>
          <c:order val="0"/>
          <c:tx>
            <c:strRef>
              <c:f>Sheet1!$B$1</c:f>
              <c:strCache>
                <c:ptCount val="1"/>
                <c:pt idx="0">
                  <c:v>20 old storms</c:v>
                </c:pt>
              </c:strCache>
            </c:strRef>
          </c:tx>
          <c:spPr>
            <a:solidFill>
              <a:srgbClr val="8A8A99"/>
            </a:solidFill>
            <a:ln>
              <a:noFill/>
            </a:ln>
            <a:effectLst/>
          </c:spPr>
          <c:marker>
            <c:symbol val="circle"/>
            <c:size val="8"/>
            <c:spPr>
              <a:solidFill>
                <a:srgbClr val="8A8A99"/>
              </a:solidFill>
              <a:ln w="9525" cap="flat">
                <a:solidFill>
                  <a:srgbClr val="8A8A99"/>
                </a:solidFill>
                <a:prstDash val="solid"/>
                <a:round/>
              </a:ln>
              <a:effectLst/>
            </c:spPr>
          </c:marker>
          <c:xVal>
            <c:numRef>
              <c:f>Sheet1!$A$2:$A$69</c:f>
              <c:numCache>
                <c:formatCode>General</c:formatCode>
                <c:ptCount val="68"/>
                <c:pt idx="0">
                  <c:v>1.911</c:v>
                </c:pt>
                <c:pt idx="1">
                  <c:v>1.922</c:v>
                </c:pt>
                <c:pt idx="2">
                  <c:v>1.922</c:v>
                </c:pt>
                <c:pt idx="3">
                  <c:v>2.017</c:v>
                </c:pt>
                <c:pt idx="4">
                  <c:v>2.102</c:v>
                </c:pt>
                <c:pt idx="5">
                  <c:v>2.15</c:v>
                </c:pt>
                <c:pt idx="6">
                  <c:v>2.166</c:v>
                </c:pt>
                <c:pt idx="7">
                  <c:v>2.272</c:v>
                </c:pt>
                <c:pt idx="8">
                  <c:v>2.292</c:v>
                </c:pt>
                <c:pt idx="9">
                  <c:v>2.369</c:v>
                </c:pt>
                <c:pt idx="10">
                  <c:v>2.563</c:v>
                </c:pt>
                <c:pt idx="11">
                  <c:v>2.632</c:v>
                </c:pt>
                <c:pt idx="12">
                  <c:v>2.797</c:v>
                </c:pt>
                <c:pt idx="13">
                  <c:v>3.092</c:v>
                </c:pt>
                <c:pt idx="14">
                  <c:v>3.24</c:v>
                </c:pt>
                <c:pt idx="15">
                  <c:v>3.372</c:v>
                </c:pt>
                <c:pt idx="16">
                  <c:v>3.444</c:v>
                </c:pt>
                <c:pt idx="17">
                  <c:v>3.64</c:v>
                </c:pt>
                <c:pt idx="18">
                  <c:v>3.745</c:v>
                </c:pt>
                <c:pt idx="19">
                  <c:v>4.458</c:v>
                </c:pt>
                <c:pt idx="20">
                  <c:v>1.935</c:v>
                </c:pt>
                <c:pt idx="21">
                  <c:v>2.002</c:v>
                </c:pt>
                <c:pt idx="22">
                  <c:v>2.07</c:v>
                </c:pt>
                <c:pt idx="23">
                  <c:v>2.138</c:v>
                </c:pt>
                <c:pt idx="24">
                  <c:v>2.205</c:v>
                </c:pt>
                <c:pt idx="25">
                  <c:v>2.272</c:v>
                </c:pt>
                <c:pt idx="26">
                  <c:v>2.339</c:v>
                </c:pt>
                <c:pt idx="27">
                  <c:v>2.408</c:v>
                </c:pt>
                <c:pt idx="28">
                  <c:v>2.477</c:v>
                </c:pt>
                <c:pt idx="29">
                  <c:v>2.544</c:v>
                </c:pt>
                <c:pt idx="30">
                  <c:v>2.614</c:v>
                </c:pt>
                <c:pt idx="31">
                  <c:v>2.684</c:v>
                </c:pt>
                <c:pt idx="32">
                  <c:v>2.755</c:v>
                </c:pt>
                <c:pt idx="33">
                  <c:v>2.807</c:v>
                </c:pt>
                <c:pt idx="34">
                  <c:v>2.88</c:v>
                </c:pt>
                <c:pt idx="35">
                  <c:v>2.959</c:v>
                </c:pt>
                <c:pt idx="36">
                  <c:v>3.011</c:v>
                </c:pt>
                <c:pt idx="37">
                  <c:v>3.089</c:v>
                </c:pt>
                <c:pt idx="38">
                  <c:v>3.142</c:v>
                </c:pt>
                <c:pt idx="39">
                  <c:v>3.232</c:v>
                </c:pt>
                <c:pt idx="40">
                  <c:v>3.299</c:v>
                </c:pt>
                <c:pt idx="41">
                  <c:v>3.342</c:v>
                </c:pt>
                <c:pt idx="42">
                  <c:v>3.407</c:v>
                </c:pt>
                <c:pt idx="43">
                  <c:v>3.498</c:v>
                </c:pt>
                <c:pt idx="44">
                  <c:v>3.557</c:v>
                </c:pt>
                <c:pt idx="45">
                  <c:v>3.632</c:v>
                </c:pt>
                <c:pt idx="46">
                  <c:v>3.687</c:v>
                </c:pt>
                <c:pt idx="47">
                  <c:v>3.759</c:v>
                </c:pt>
                <c:pt idx="48">
                  <c:v>3.827</c:v>
                </c:pt>
                <c:pt idx="49">
                  <c:v>3.89</c:v>
                </c:pt>
                <c:pt idx="50">
                  <c:v>3.963</c:v>
                </c:pt>
                <c:pt idx="51">
                  <c:v>4.027</c:v>
                </c:pt>
                <c:pt idx="52">
                  <c:v>4.105</c:v>
                </c:pt>
                <c:pt idx="53">
                  <c:v>4.153</c:v>
                </c:pt>
                <c:pt idx="54">
                  <c:v>4.23</c:v>
                </c:pt>
                <c:pt idx="55">
                  <c:v>4.297</c:v>
                </c:pt>
                <c:pt idx="56">
                  <c:v>4.363</c:v>
                </c:pt>
                <c:pt idx="57">
                  <c:v>4.437</c:v>
                </c:pt>
                <c:pt idx="58">
                  <c:v>4.508</c:v>
                </c:pt>
                <c:pt idx="59">
                  <c:v>4.572</c:v>
                </c:pt>
                <c:pt idx="60">
                  <c:v>2.103</c:v>
                </c:pt>
                <c:pt idx="61">
                  <c:v>2.439</c:v>
                </c:pt>
                <c:pt idx="62">
                  <c:v>2.777</c:v>
                </c:pt>
                <c:pt idx="63">
                  <c:v>3.116</c:v>
                </c:pt>
                <c:pt idx="64">
                  <c:v>3.458</c:v>
                </c:pt>
                <c:pt idx="65">
                  <c:v>3.8</c:v>
                </c:pt>
                <c:pt idx="66">
                  <c:v>4.13</c:v>
                </c:pt>
                <c:pt idx="67">
                  <c:v>4.722</c:v>
                </c:pt>
              </c:numCache>
            </c:numRef>
          </c:xVal>
          <c:yVal>
            <c:numRef>
              <c:f>Sheet1!$B$2:$B$69</c:f>
              <c:numCache>
                <c:formatCode>General</c:formatCode>
                <c:ptCount val="68"/>
                <c:pt idx="0">
                  <c:v>1.86</c:v>
                </c:pt>
                <c:pt idx="1">
                  <c:v>1.8</c:v>
                </c:pt>
                <c:pt idx="2">
                  <c:v>1.89</c:v>
                </c:pt>
                <c:pt idx="3">
                  <c:v>1.6</c:v>
                </c:pt>
                <c:pt idx="4">
                  <c:v>2.22</c:v>
                </c:pt>
                <c:pt idx="5">
                  <c:v>2.46</c:v>
                </c:pt>
                <c:pt idx="6">
                  <c:v>1.69</c:v>
                </c:pt>
                <c:pt idx="7">
                  <c:v>2.08</c:v>
                </c:pt>
                <c:pt idx="8">
                  <c:v>2.42</c:v>
                </c:pt>
                <c:pt idx="9">
                  <c:v>2.6</c:v>
                </c:pt>
                <c:pt idx="10">
                  <c:v>1.52</c:v>
                </c:pt>
                <c:pt idx="11">
                  <c:v>2.2</c:v>
                </c:pt>
                <c:pt idx="12">
                  <c:v>12.92</c:v>
                </c:pt>
                <c:pt idx="13">
                  <c:v>3.54</c:v>
                </c:pt>
                <c:pt idx="14">
                  <c:v>3.28</c:v>
                </c:pt>
                <c:pt idx="15">
                  <c:v>2.55</c:v>
                </c:pt>
                <c:pt idx="16">
                  <c:v>13.95</c:v>
                </c:pt>
                <c:pt idx="17">
                  <c:v>14.48</c:v>
                </c:pt>
                <c:pt idx="18">
                  <c:v>13.45</c:v>
                </c:pt>
                <c:pt idx="19">
                  <c:v>26.38</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numCache>
            </c:numRef>
          </c:yVal>
          <c:smooth val="0"/>
        </c:ser>
        <c:ser>
          <c:idx val="1"/>
          <c:order val="1"/>
          <c:tx>
            <c:strRef>
              <c:f>Sheet1!$C$1</c:f>
              <c:strCache>
                <c:ptCount val="1"/>
                <c:pt idx="0">
                  <c:v>40 new, for training</c:v>
                </c:pt>
              </c:strCache>
            </c:strRef>
          </c:tx>
          <c:spPr>
            <a:solidFill>
              <a:srgbClr val="4A3D7A"/>
            </a:solidFill>
            <a:ln>
              <a:noFill/>
            </a:ln>
            <a:effectLst/>
          </c:spPr>
          <c:marker>
            <c:symbol val="circle"/>
            <c:size val="8"/>
            <c:spPr>
              <a:solidFill>
                <a:srgbClr val="4A3D7A"/>
              </a:solidFill>
              <a:ln w="9525" cap="flat">
                <a:solidFill>
                  <a:srgbClr val="4A3D7A"/>
                </a:solidFill>
                <a:prstDash val="solid"/>
                <a:round/>
              </a:ln>
              <a:effectLst/>
            </c:spPr>
          </c:marker>
          <c:xVal>
            <c:numRef>
              <c:f>Sheet1!$A$2:$A$69</c:f>
              <c:numCache>
                <c:formatCode>General</c:formatCode>
                <c:ptCount val="68"/>
                <c:pt idx="0">
                  <c:v>1.911</c:v>
                </c:pt>
                <c:pt idx="1">
                  <c:v>1.922</c:v>
                </c:pt>
                <c:pt idx="2">
                  <c:v>1.922</c:v>
                </c:pt>
                <c:pt idx="3">
                  <c:v>2.017</c:v>
                </c:pt>
                <c:pt idx="4">
                  <c:v>2.102</c:v>
                </c:pt>
                <c:pt idx="5">
                  <c:v>2.15</c:v>
                </c:pt>
                <c:pt idx="6">
                  <c:v>2.166</c:v>
                </c:pt>
                <c:pt idx="7">
                  <c:v>2.272</c:v>
                </c:pt>
                <c:pt idx="8">
                  <c:v>2.292</c:v>
                </c:pt>
                <c:pt idx="9">
                  <c:v>2.369</c:v>
                </c:pt>
                <c:pt idx="10">
                  <c:v>2.563</c:v>
                </c:pt>
                <c:pt idx="11">
                  <c:v>2.632</c:v>
                </c:pt>
                <c:pt idx="12">
                  <c:v>2.797</c:v>
                </c:pt>
                <c:pt idx="13">
                  <c:v>3.092</c:v>
                </c:pt>
                <c:pt idx="14">
                  <c:v>3.24</c:v>
                </c:pt>
                <c:pt idx="15">
                  <c:v>3.372</c:v>
                </c:pt>
                <c:pt idx="16">
                  <c:v>3.444</c:v>
                </c:pt>
                <c:pt idx="17">
                  <c:v>3.64</c:v>
                </c:pt>
                <c:pt idx="18">
                  <c:v>3.745</c:v>
                </c:pt>
                <c:pt idx="19">
                  <c:v>4.458</c:v>
                </c:pt>
                <c:pt idx="20">
                  <c:v>1.935</c:v>
                </c:pt>
                <c:pt idx="21">
                  <c:v>2.002</c:v>
                </c:pt>
                <c:pt idx="22">
                  <c:v>2.07</c:v>
                </c:pt>
                <c:pt idx="23">
                  <c:v>2.138</c:v>
                </c:pt>
                <c:pt idx="24">
                  <c:v>2.205</c:v>
                </c:pt>
                <c:pt idx="25">
                  <c:v>2.272</c:v>
                </c:pt>
                <c:pt idx="26">
                  <c:v>2.339</c:v>
                </c:pt>
                <c:pt idx="27">
                  <c:v>2.408</c:v>
                </c:pt>
                <c:pt idx="28">
                  <c:v>2.477</c:v>
                </c:pt>
                <c:pt idx="29">
                  <c:v>2.544</c:v>
                </c:pt>
                <c:pt idx="30">
                  <c:v>2.614</c:v>
                </c:pt>
                <c:pt idx="31">
                  <c:v>2.684</c:v>
                </c:pt>
                <c:pt idx="32">
                  <c:v>2.755</c:v>
                </c:pt>
                <c:pt idx="33">
                  <c:v>2.807</c:v>
                </c:pt>
                <c:pt idx="34">
                  <c:v>2.88</c:v>
                </c:pt>
                <c:pt idx="35">
                  <c:v>2.959</c:v>
                </c:pt>
                <c:pt idx="36">
                  <c:v>3.011</c:v>
                </c:pt>
                <c:pt idx="37">
                  <c:v>3.089</c:v>
                </c:pt>
                <c:pt idx="38">
                  <c:v>3.142</c:v>
                </c:pt>
                <c:pt idx="39">
                  <c:v>3.232</c:v>
                </c:pt>
                <c:pt idx="40">
                  <c:v>3.299</c:v>
                </c:pt>
                <c:pt idx="41">
                  <c:v>3.342</c:v>
                </c:pt>
                <c:pt idx="42">
                  <c:v>3.407</c:v>
                </c:pt>
                <c:pt idx="43">
                  <c:v>3.498</c:v>
                </c:pt>
                <c:pt idx="44">
                  <c:v>3.557</c:v>
                </c:pt>
                <c:pt idx="45">
                  <c:v>3.632</c:v>
                </c:pt>
                <c:pt idx="46">
                  <c:v>3.687</c:v>
                </c:pt>
                <c:pt idx="47">
                  <c:v>3.759</c:v>
                </c:pt>
                <c:pt idx="48">
                  <c:v>3.827</c:v>
                </c:pt>
                <c:pt idx="49">
                  <c:v>3.89</c:v>
                </c:pt>
                <c:pt idx="50">
                  <c:v>3.963</c:v>
                </c:pt>
                <c:pt idx="51">
                  <c:v>4.027</c:v>
                </c:pt>
                <c:pt idx="52">
                  <c:v>4.105</c:v>
                </c:pt>
                <c:pt idx="53">
                  <c:v>4.153</c:v>
                </c:pt>
                <c:pt idx="54">
                  <c:v>4.23</c:v>
                </c:pt>
                <c:pt idx="55">
                  <c:v>4.297</c:v>
                </c:pt>
                <c:pt idx="56">
                  <c:v>4.363</c:v>
                </c:pt>
                <c:pt idx="57">
                  <c:v>4.437</c:v>
                </c:pt>
                <c:pt idx="58">
                  <c:v>4.508</c:v>
                </c:pt>
                <c:pt idx="59">
                  <c:v>4.572</c:v>
                </c:pt>
                <c:pt idx="60">
                  <c:v>2.103</c:v>
                </c:pt>
                <c:pt idx="61">
                  <c:v>2.439</c:v>
                </c:pt>
                <c:pt idx="62">
                  <c:v>2.777</c:v>
                </c:pt>
                <c:pt idx="63">
                  <c:v>3.116</c:v>
                </c:pt>
                <c:pt idx="64">
                  <c:v>3.458</c:v>
                </c:pt>
                <c:pt idx="65">
                  <c:v>3.8</c:v>
                </c:pt>
                <c:pt idx="66">
                  <c:v>4.13</c:v>
                </c:pt>
                <c:pt idx="67">
                  <c:v>4.722</c:v>
                </c:pt>
              </c:numCache>
            </c:numRef>
          </c:xVal>
          <c:yVal>
            <c:numRef>
              <c:f>Sheet1!$C$2:$C$69</c:f>
              <c:numCache>
                <c:formatCode>General</c:formatCode>
                <c:ptCount val="68"/>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2</c:v>
                </c:pt>
                <c:pt idx="21">
                  <c:v>12.05</c:v>
                </c:pt>
                <c:pt idx="22">
                  <c:v>2</c:v>
                </c:pt>
                <c:pt idx="23">
                  <c:v>11.91</c:v>
                </c:pt>
                <c:pt idx="24">
                  <c:v>2</c:v>
                </c:pt>
                <c:pt idx="25">
                  <c:v>11.96</c:v>
                </c:pt>
                <c:pt idx="26">
                  <c:v>2</c:v>
                </c:pt>
                <c:pt idx="27">
                  <c:v>11.9</c:v>
                </c:pt>
                <c:pt idx="28">
                  <c:v>1.99</c:v>
                </c:pt>
                <c:pt idx="29">
                  <c:v>11.99</c:v>
                </c:pt>
                <c:pt idx="30">
                  <c:v>2</c:v>
                </c:pt>
                <c:pt idx="31">
                  <c:v>12.02</c:v>
                </c:pt>
                <c:pt idx="32">
                  <c:v>2</c:v>
                </c:pt>
                <c:pt idx="33">
                  <c:v>12</c:v>
                </c:pt>
                <c:pt idx="34">
                  <c:v>2.01</c:v>
                </c:pt>
                <c:pt idx="35">
                  <c:v>11.91</c:v>
                </c:pt>
                <c:pt idx="36">
                  <c:v>2.05</c:v>
                </c:pt>
                <c:pt idx="37">
                  <c:v>12.02</c:v>
                </c:pt>
                <c:pt idx="38">
                  <c:v>1.99</c:v>
                </c:pt>
                <c:pt idx="39">
                  <c:v>11.96</c:v>
                </c:pt>
                <c:pt idx="40">
                  <c:v>2</c:v>
                </c:pt>
                <c:pt idx="41">
                  <c:v>11.77</c:v>
                </c:pt>
                <c:pt idx="42">
                  <c:v>2.01</c:v>
                </c:pt>
                <c:pt idx="43">
                  <c:v>11.41</c:v>
                </c:pt>
                <c:pt idx="44">
                  <c:v>2.02</c:v>
                </c:pt>
                <c:pt idx="45">
                  <c:v>12.01</c:v>
                </c:pt>
                <c:pt idx="46">
                  <c:v>1.99</c:v>
                </c:pt>
                <c:pt idx="47">
                  <c:v>12.08</c:v>
                </c:pt>
                <c:pt idx="48">
                  <c:v>2.05</c:v>
                </c:pt>
                <c:pt idx="49">
                  <c:v>12.6</c:v>
                </c:pt>
                <c:pt idx="50">
                  <c:v>2.42</c:v>
                </c:pt>
                <c:pt idx="51">
                  <c:v>11.97</c:v>
                </c:pt>
                <c:pt idx="52">
                  <c:v>2.42</c:v>
                </c:pt>
                <c:pt idx="53">
                  <c:v>11.91</c:v>
                </c:pt>
                <c:pt idx="54">
                  <c:v>2.98</c:v>
                </c:pt>
                <c:pt idx="55">
                  <c:v>12.29</c:v>
                </c:pt>
                <c:pt idx="56">
                  <c:v>2.62</c:v>
                </c:pt>
                <c:pt idx="57">
                  <c:v>11.87</c:v>
                </c:pt>
                <c:pt idx="58">
                  <c:v>2.63</c:v>
                </c:pt>
                <c:pt idx="59">
                  <c:v>12.72</c:v>
                </c:pt>
                <c:pt idx="60">
                  <c:v/>
                </c:pt>
                <c:pt idx="61">
                  <c:v/>
                </c:pt>
                <c:pt idx="62">
                  <c:v/>
                </c:pt>
                <c:pt idx="63">
                  <c:v/>
                </c:pt>
                <c:pt idx="64">
                  <c:v/>
                </c:pt>
                <c:pt idx="65">
                  <c:v/>
                </c:pt>
                <c:pt idx="66">
                  <c:v/>
                </c:pt>
                <c:pt idx="67">
                  <c:v/>
                </c:pt>
              </c:numCache>
            </c:numRef>
          </c:yVal>
          <c:smooth val="0"/>
        </c:ser>
        <c:ser>
          <c:idx val="2"/>
          <c:order val="2"/>
          <c:tx>
            <c:strRef>
              <c:f>Sheet1!$D$1</c:f>
              <c:strCache>
                <c:ptCount val="1"/>
                <c:pt idx="0">
                  <c:v>8 new, kept unseen</c:v>
                </c:pt>
              </c:strCache>
            </c:strRef>
          </c:tx>
          <c:spPr>
            <a:solidFill>
              <a:srgbClr val="B5443C"/>
            </a:solidFill>
            <a:ln>
              <a:noFill/>
            </a:ln>
            <a:effectLst/>
          </c:spPr>
          <c:marker>
            <c:symbol val="circle"/>
            <c:size val="8"/>
            <c:spPr>
              <a:solidFill>
                <a:srgbClr val="B5443C"/>
              </a:solidFill>
              <a:ln w="9525" cap="flat">
                <a:solidFill>
                  <a:srgbClr val="B5443C"/>
                </a:solidFill>
                <a:prstDash val="solid"/>
                <a:round/>
              </a:ln>
              <a:effectLst/>
            </c:spPr>
          </c:marker>
          <c:xVal>
            <c:numRef>
              <c:f>Sheet1!$A$2:$A$69</c:f>
              <c:numCache>
                <c:formatCode>General</c:formatCode>
                <c:ptCount val="68"/>
                <c:pt idx="0">
                  <c:v>1.911</c:v>
                </c:pt>
                <c:pt idx="1">
                  <c:v>1.922</c:v>
                </c:pt>
                <c:pt idx="2">
                  <c:v>1.922</c:v>
                </c:pt>
                <c:pt idx="3">
                  <c:v>2.017</c:v>
                </c:pt>
                <c:pt idx="4">
                  <c:v>2.102</c:v>
                </c:pt>
                <c:pt idx="5">
                  <c:v>2.15</c:v>
                </c:pt>
                <c:pt idx="6">
                  <c:v>2.166</c:v>
                </c:pt>
                <c:pt idx="7">
                  <c:v>2.272</c:v>
                </c:pt>
                <c:pt idx="8">
                  <c:v>2.292</c:v>
                </c:pt>
                <c:pt idx="9">
                  <c:v>2.369</c:v>
                </c:pt>
                <c:pt idx="10">
                  <c:v>2.563</c:v>
                </c:pt>
                <c:pt idx="11">
                  <c:v>2.632</c:v>
                </c:pt>
                <c:pt idx="12">
                  <c:v>2.797</c:v>
                </c:pt>
                <c:pt idx="13">
                  <c:v>3.092</c:v>
                </c:pt>
                <c:pt idx="14">
                  <c:v>3.24</c:v>
                </c:pt>
                <c:pt idx="15">
                  <c:v>3.372</c:v>
                </c:pt>
                <c:pt idx="16">
                  <c:v>3.444</c:v>
                </c:pt>
                <c:pt idx="17">
                  <c:v>3.64</c:v>
                </c:pt>
                <c:pt idx="18">
                  <c:v>3.745</c:v>
                </c:pt>
                <c:pt idx="19">
                  <c:v>4.458</c:v>
                </c:pt>
                <c:pt idx="20">
                  <c:v>1.935</c:v>
                </c:pt>
                <c:pt idx="21">
                  <c:v>2.002</c:v>
                </c:pt>
                <c:pt idx="22">
                  <c:v>2.07</c:v>
                </c:pt>
                <c:pt idx="23">
                  <c:v>2.138</c:v>
                </c:pt>
                <c:pt idx="24">
                  <c:v>2.205</c:v>
                </c:pt>
                <c:pt idx="25">
                  <c:v>2.272</c:v>
                </c:pt>
                <c:pt idx="26">
                  <c:v>2.339</c:v>
                </c:pt>
                <c:pt idx="27">
                  <c:v>2.408</c:v>
                </c:pt>
                <c:pt idx="28">
                  <c:v>2.477</c:v>
                </c:pt>
                <c:pt idx="29">
                  <c:v>2.544</c:v>
                </c:pt>
                <c:pt idx="30">
                  <c:v>2.614</c:v>
                </c:pt>
                <c:pt idx="31">
                  <c:v>2.684</c:v>
                </c:pt>
                <c:pt idx="32">
                  <c:v>2.755</c:v>
                </c:pt>
                <c:pt idx="33">
                  <c:v>2.807</c:v>
                </c:pt>
                <c:pt idx="34">
                  <c:v>2.88</c:v>
                </c:pt>
                <c:pt idx="35">
                  <c:v>2.959</c:v>
                </c:pt>
                <c:pt idx="36">
                  <c:v>3.011</c:v>
                </c:pt>
                <c:pt idx="37">
                  <c:v>3.089</c:v>
                </c:pt>
                <c:pt idx="38">
                  <c:v>3.142</c:v>
                </c:pt>
                <c:pt idx="39">
                  <c:v>3.232</c:v>
                </c:pt>
                <c:pt idx="40">
                  <c:v>3.299</c:v>
                </c:pt>
                <c:pt idx="41">
                  <c:v>3.342</c:v>
                </c:pt>
                <c:pt idx="42">
                  <c:v>3.407</c:v>
                </c:pt>
                <c:pt idx="43">
                  <c:v>3.498</c:v>
                </c:pt>
                <c:pt idx="44">
                  <c:v>3.557</c:v>
                </c:pt>
                <c:pt idx="45">
                  <c:v>3.632</c:v>
                </c:pt>
                <c:pt idx="46">
                  <c:v>3.687</c:v>
                </c:pt>
                <c:pt idx="47">
                  <c:v>3.759</c:v>
                </c:pt>
                <c:pt idx="48">
                  <c:v>3.827</c:v>
                </c:pt>
                <c:pt idx="49">
                  <c:v>3.89</c:v>
                </c:pt>
                <c:pt idx="50">
                  <c:v>3.963</c:v>
                </c:pt>
                <c:pt idx="51">
                  <c:v>4.027</c:v>
                </c:pt>
                <c:pt idx="52">
                  <c:v>4.105</c:v>
                </c:pt>
                <c:pt idx="53">
                  <c:v>4.153</c:v>
                </c:pt>
                <c:pt idx="54">
                  <c:v>4.23</c:v>
                </c:pt>
                <c:pt idx="55">
                  <c:v>4.297</c:v>
                </c:pt>
                <c:pt idx="56">
                  <c:v>4.363</c:v>
                </c:pt>
                <c:pt idx="57">
                  <c:v>4.437</c:v>
                </c:pt>
                <c:pt idx="58">
                  <c:v>4.508</c:v>
                </c:pt>
                <c:pt idx="59">
                  <c:v>4.572</c:v>
                </c:pt>
                <c:pt idx="60">
                  <c:v>2.103</c:v>
                </c:pt>
                <c:pt idx="61">
                  <c:v>2.439</c:v>
                </c:pt>
                <c:pt idx="62">
                  <c:v>2.777</c:v>
                </c:pt>
                <c:pt idx="63">
                  <c:v>3.116</c:v>
                </c:pt>
                <c:pt idx="64">
                  <c:v>3.458</c:v>
                </c:pt>
                <c:pt idx="65">
                  <c:v>3.8</c:v>
                </c:pt>
                <c:pt idx="66">
                  <c:v>4.13</c:v>
                </c:pt>
                <c:pt idx="67">
                  <c:v>4.722</c:v>
                </c:pt>
              </c:numCache>
            </c:numRef>
          </c:xVal>
          <c:yVal>
            <c:numRef>
              <c:f>Sheet1!$D$2:$D$69</c:f>
              <c:numCache>
                <c:formatCode>General</c:formatCode>
                <c:ptCount val="68"/>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3.77</c:v>
                </c:pt>
                <c:pt idx="61">
                  <c:v>10.65</c:v>
                </c:pt>
                <c:pt idx="62">
                  <c:v>3.96</c:v>
                </c:pt>
                <c:pt idx="63">
                  <c:v>9.26</c:v>
                </c:pt>
                <c:pt idx="64">
                  <c:v>4.02</c:v>
                </c:pt>
                <c:pt idx="65">
                  <c:v>6.68</c:v>
                </c:pt>
                <c:pt idx="66">
                  <c:v>4.06</c:v>
                </c:pt>
                <c:pt idx="67">
                  <c:v>6.72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
          <c:min val="1.5"/>
        </c:scaling>
        <c:delete val="0"/>
        <c:axPos val="b"/>
        <c:title>
          <c:tx>
            <c:rich>
              <a:bodyPr/>
              <a:lstStyle/>
              <a:p>
                <a:pPr>
                  <a:defRPr sz="1100" b="0" i="0" u="none" strike="noStrike">
                    <a:solidFill>
                      <a:srgbClr val="5B5B70"/>
                    </a:solidFill>
                    <a:latin typeface="Arial"/>
                  </a:defRPr>
                </a:pPr>
                <a:r>
                  <a:rPr sz="1100" b="0" i="0" u="none" strike="noStrike">
                    <a:solidFill>
                      <a:srgbClr val="5B5B70"/>
                    </a:solidFill>
                    <a:latin typeface="Arial"/>
                  </a:rPr>
                  <a:t>Storm size: peak water level at the Battery (m)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1F1F2E"/>
                </a:solidFill>
                <a:latin typeface="Arial"/>
              </a:defRPr>
            </a:pPr>
            <a:endParaRPr lang="en-US"/>
          </a:p>
        </c:txPr>
        <c:crossAx val="2094734552"/>
        <c:crosses val="autoZero"/>
        <c:auto val="1"/>
        <c:lblAlgn val="ctr"/>
        <c:noMultiLvlLbl val="1"/>
      </c:valAx>
      <c:valAx>
        <c:axId val="2094734552"/>
        <c:scaling>
          <c:orientation val="minMax"/>
          <c:max val="30"/>
          <c:min val="0"/>
        </c:scaling>
        <c:delete val="0"/>
        <c:axPos val="l"/>
        <c:majorGridlines>
          <c:spPr>
            <a:ln w="6350" cap="flat">
              <a:solidFill>
                <a:srgbClr val="E4E2EC"/>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B5B7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1F1F2E"/>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Arial"/>
              </a:defRPr>
            </a:pPr>
            <a:r>
              <a:rPr sz="1300" b="0" i="0" u="none" strike="noStrike">
                <a:solidFill>
                  <a:srgbClr val="1F1F2E"/>
                </a:solidFill>
                <a:latin typeface="Arial"/>
              </a:rPr>
              <a:t>Prediction error on 13 unseen storms (lower is better)</a:t>
            </a:r>
          </a:p>
        </c:rich>
      </c:tx>
      <c:layout/>
      <c:overlay val="0"/>
    </c:title>
    <c:autoTitleDeleted val="0"/>
    <c:plotArea>
      <c:layout/>
      <c:barChart>
        <c:barDir val="col"/>
        <c:grouping val="clustered"/>
        <c:varyColors val="0"/>
        <c:ser>
          <c:idx val="0"/>
          <c:order val="0"/>
          <c:tx>
            <c:strRef>
              <c:f>Sheet1!$B$1</c:f>
              <c:strCache>
                <c:ptCount val="1"/>
                <c:pt idx="0">
                  <c:v>Error on 13 unseen storms</c:v>
                </c:pt>
              </c:strCache>
            </c:strRef>
          </c:tx>
          <c:spPr>
            <a:solidFill>
              <a:srgbClr val="C4C4CF"/>
            </a:solidFill>
            <a:effectLst/>
          </c:spPr>
          <c:invertIfNegative val="0"/>
          <c:dLbls>
            <c:numFmt formatCode="0.00" sourceLinked="0"/>
            <c:txPr>
              <a:bodyPr/>
              <a:lstStyle/>
              <a:p>
                <a:pPr>
                  <a:defRPr b="1" i="0" strike="noStrike" sz="1300" u="none">
                    <a:solidFill>
                      <a:srgbClr val="1F1F2E"/>
                    </a:solidFill>
                    <a:latin typeface="Arial"/>
                  </a:defRPr>
                </a:pPr>
              </a:p>
            </c:txPr>
            <c:showLegendKey val="0"/>
            <c:showVal val="1"/>
            <c:showCatName val="0"/>
            <c:showSerName val="0"/>
            <c:showPercent val="0"/>
            <c:showBubbleSize val="0"/>
            <c:showLeaderLines val="0"/>
          </c:dLbls>
          <c:dPt>
            <c:idx val="0"/>
            <c:invertIfNegative val="0"/>
            <c:bubble3D val="0"/>
            <c:spPr>
              <a:solidFill>
                <a:srgbClr val="C4C4CF"/>
              </a:solidFill>
              <a:effectLst/>
            </c:spPr>
          </c:dPt>
          <c:dPt>
            <c:idx val="1"/>
            <c:invertIfNegative val="0"/>
            <c:bubble3D val="0"/>
            <c:spPr>
              <a:solidFill>
                <a:srgbClr val="8A8A99"/>
              </a:solidFill>
              <a:effectLst/>
            </c:spPr>
          </c:dPt>
          <c:dPt>
            <c:idx val="2"/>
            <c:invertIfNegative val="0"/>
            <c:bubble3D val="0"/>
            <c:spPr>
              <a:solidFill>
                <a:srgbClr val="B5443C"/>
              </a:solidFill>
              <a:effectLst/>
            </c:spPr>
          </c:dPt>
          <c:dPt>
            <c:idx val="3"/>
            <c:invertIfNegative val="0"/>
            <c:bubble3D val="0"/>
            <c:spPr>
              <a:solidFill>
                <a:srgbClr val="9A8AD0"/>
              </a:solidFill>
              <a:effectLst/>
            </c:spPr>
          </c:dPt>
          <c:dPt>
            <c:idx val="4"/>
            <c:invertIfNegative val="0"/>
            <c:bubble3D val="0"/>
            <c:spPr>
              <a:solidFill>
                <a:srgbClr val="4A3D7A"/>
              </a:solidFill>
              <a:effectLst/>
            </c:spPr>
          </c:dPt>
          <c:cat>
            <c:multiLvlStrRef>
              <c:f>Sheet1!$A$2:$A$6</c:f>
              <c:multiLvlStrCache>
                <c:ptCount val="5"/>
                <c:lvl>
                  <c:pt idx="0">
                    <c:v>17 storms
(old)</c:v>
                  </c:pt>
                  <c:pt idx="1">
                    <c:v>57 storms
(old + new)</c:v>
                  </c:pt>
                  <c:pt idx="2">
                    <c:v>Lookup
table</c:v>
                  </c:pt>
                  <c:pt idx="3">
                    <c:v>17 storms
+ storm size</c:v>
                  </c:pt>
                  <c:pt idx="4">
                    <c:v>57 storms
+ storm size</c:v>
                  </c:pt>
                </c:lvl>
              </c:multiLvlStrCache>
            </c:multiLvlStrRef>
          </c:cat>
          <c:val>
            <c:numRef>
              <c:f>Sheet1!$B$2:$B$6</c:f>
              <c:numCache>
                <c:formatCode>General</c:formatCode>
                <c:ptCount val="5"/>
                <c:pt idx="0">
                  <c:v>0.229</c:v>
                </c:pt>
                <c:pt idx="1">
                  <c:v>0.179</c:v>
                </c:pt>
                <c:pt idx="2">
                  <c:v>0.163</c:v>
                </c:pt>
                <c:pt idx="3">
                  <c:v>0.126</c:v>
                </c:pt>
                <c:pt idx="4">
                  <c:v>0.099</c:v>
                </c:pt>
              </c:numCache>
            </c:numRef>
          </c:val>
        </c:ser>
        <c:dLbls>
          <c:numFmt formatCode="0.00" sourceLinked="0"/>
          <c:txPr>
            <a:bodyPr/>
            <a:lstStyle/>
            <a:p>
              <a:pPr>
                <a:defRPr b="1" i="0" strike="noStrike" sz="1300" u="none">
                  <a:solidFill>
                    <a:srgbClr val="1F1F2E"/>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0.25"/>
          <c:min val="0"/>
        </c:scaling>
        <c:delete val="0"/>
        <c:axPos val="l"/>
        <c:majorGridlines>
          <c:spPr>
            <a:ln w="6350" cap="flat">
              <a:solidFill>
                <a:srgbClr val="E4E2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B70"/>
                </a:solidFill>
                <a:latin typeface="Arial"/>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you liked the dynamic cascade model and asked for two things. First, numbers: how good is the fast model. Second, more flood maps from Gwyn's GISSR model, the simulator run on them, then train on old plus new and compare. I will go through them in that order. The first request turned up a problem, and most of the week went into understanding and fixing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 scoring tool and ran it on the eight models we already had, with no retraining. The model is good at which sites fail: ranking score 0.92 to 0.93. It is good at when: for 73 to 86 percent of failing sites it picks the right time window. But it is poor at how many sites fail: the count is off by 41 to 54 percent. A simple lookup table, which just reuses the most similar training storm, is off by only 19 percent. I had predicted the model would beat that table. It did not, and that miss is what led to the rest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in one picture. Each bar is one storm the model never saw. A bar at 1.0 would be correct. For the small storm the model predicts almost four times too many failures. For the big storms it predicts about a third too few. So it behaves as if it gives roughly the same, average answer whatever the size of the storm. The question was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reason. The model passes information along the network for two links only. A site within two links of a flooded site can see the flood. A site further away sees nothing. And most sites are further away: 59 to 88 percent of them, depending on the storm. Think of a cell tower in the Bronx with nothing flooded nearby. It is told nothing about whether Lower Manhattan is under water. So it gets exactly the same input in a small storm and in a big one, and the model must give it the same answer: an average. I checked this on the model itself: 3,481 sites got identical outputs in a small storm and a large one, although 24 of them fail in the small storm and 610 in the large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problem is that far-away sites do not know the size of the storm, the simplest fix is to tell them. Every site now also receives seven numbers that describe the whole storm: how much of each of the six infrastructure systems the water knocks out, and the total. Sandy version: every operator in the city is told beforehand how much of each system will be under water. Two things matter here. First, this is not giving the model the answer: the numbers come only from the flood map, which the model already had as an input. Second, I wrote down five predictions before training, so the test could fail. Everything else stayed the same: same 17 storms, same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worked, and it worked the way I had written down beforehand: all five predictions passed. Look at the small storm: from almost four times too many failures to about 1.1 times. The big storms moved from about a third too few to within a few percent. Count error on validation fell from 41 to 54 percent down to 15 to 17 percent. And the model now beats the lookup table in 23 of 24 comparisons; before it won 7. One honest limit: under dynamic labels the GeoClaw map is still about 17 percent low, which you can see in the middle bar. The detailed deck has every storm and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second request I chose 48 new storms from Gwyn's catalogue of about 74,000, by a rule written before I saw any cascade result: evenly spaced sizes, alternating fast and slow. Forty are for training and eight are held out. I ran the simulator 1,000 times on each one, and everything passed its checks. The chart shows what they add. In the old storms, the grey dots, the big storms were always the slow ones, so the model could not tell size from speed. The new storms, in purple, have fast and slow storms at every size, and they go up to 4.6 metres where the old training set stopped at 3.6. One caution: these maps come from the same flood model, so they add new sizes and timing, not new places where the water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comparison you asked for: the same model trained on the old storms and on old plus new, tested on 13 storms it never saw. Read the bars left to right as a staircase. Old storms only: 0.23. Adding the new storms: 0.18, and the gain is largest for storms bigger than any in the old set, 26 to 44 percent lower there. But more storms alone do not get under the lookup table, the red bar, because they do not fix the size problem. The storm-size input does: 0.13. And with both, 0.10, less than half of where we started. This is the dynamic model; the static one shows the same order. I call it interim: each bar is one training run, and the run that uses all of the new simulator runs was cancelled by the cluster part-way, so I report only what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model was missing one fact, the size of the storm, and giving it that fact fixes the count. That result is solid: two training runs per setting, predictions written first, all passed, and the model now beats the lookup table in 23 of 24 comparisons. More storms help most for storms bigger than anything in the old set. Three things are still open, and I would rather say them myself. The old-against-new comparison is interim: one run each, and one training set was cancelled. With 57 storms plus the fix, the two smallest unseen storms are over-counted by 26 to 57 percent, and I do not know why yet. And under dynamic labels the GeoClaw map is still 13 to 17 percent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next steps. First, finish the old plus new comparison: the runs the cluster cancelled, and a second run of each so I can say how much the results move. Second, make the storm summary follow the clock, because today it is one set of numbers for the whole storm and the first six hours of the largest storms are still a little low. Third, test on flood maps that look different, not just bigger, because GISSR storms differ only in size and timing. And I need four decisions. Three are open from September: where the phone-demand surge clock starts, how to quote the Week 23 numbers, and the reporting rule for the tipping share. One is new: the new depth tables come from Gwyn's unpublished model and are in the public repository, as the first twenty are. Is that acceptable? One more question for Gwyn herself: her 20 maps are reproduced by one-hour time steps; I would like to confirm that is what she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1 · WHERE WE STARTED</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Last week you liked the dynamic cascade model, and asked for two things</a:t>
            </a:r>
            <a:endParaRPr lang="en-US" sz="2600" dirty="0"/>
          </a:p>
        </p:txBody>
      </p:sp>
      <p:sp>
        <p:nvSpPr>
          <p:cNvPr id="4" name="Shape 2"/>
          <p:cNvSpPr/>
          <p:nvPr/>
        </p:nvSpPr>
        <p:spPr>
          <a:xfrm>
            <a:off x="548640" y="1828800"/>
            <a:ext cx="5394960" cy="3291840"/>
          </a:xfrm>
          <a:prstGeom prst="roundRect">
            <a:avLst>
              <a:gd name="adj" fmla="val 2222"/>
            </a:avLst>
          </a:prstGeom>
          <a:solidFill>
            <a:srgbClr val="EFEBF9"/>
          </a:solidFill>
          <a:ln w="9525">
            <a:solidFill>
              <a:srgbClr val="D9D0F0"/>
            </a:solidFill>
            <a:prstDash val="solid"/>
          </a:ln>
        </p:spPr>
      </p:sp>
      <p:sp>
        <p:nvSpPr>
          <p:cNvPr id="5" name="Text 3"/>
          <p:cNvSpPr txBox="1"/>
          <p:nvPr/>
        </p:nvSpPr>
        <p:spPr>
          <a:xfrm>
            <a:off x="822960" y="2011680"/>
            <a:ext cx="914400" cy="914400"/>
          </a:xfrm>
          <a:prstGeom prst="rect">
            <a:avLst/>
          </a:prstGeom>
          <a:noFill/>
          <a:ln/>
        </p:spPr>
        <p:txBody>
          <a:bodyPr wrap="square" lIns="0" tIns="0" rIns="0" bIns="0" rtlCol="0" anchor="ctr"/>
          <a:lstStyle/>
          <a:p>
            <a:pPr indent="0" marL="0">
              <a:buNone/>
            </a:pPr>
            <a:r>
              <a:rPr lang="en-US" sz="5400" b="1" dirty="0">
                <a:solidFill>
                  <a:srgbClr val="4A3D7A"/>
                </a:solidFill>
                <a:latin typeface="Arial" pitchFamily="34" charset="0"/>
                <a:ea typeface="Arial" pitchFamily="34" charset="-122"/>
                <a:cs typeface="Arial" pitchFamily="34" charset="-120"/>
              </a:rPr>
              <a:t>1</a:t>
            </a:r>
            <a:endParaRPr lang="en-US" sz="5400" dirty="0"/>
          </a:p>
        </p:txBody>
      </p:sp>
      <p:sp>
        <p:nvSpPr>
          <p:cNvPr id="6" name="Text 4"/>
          <p:cNvSpPr txBox="1"/>
          <p:nvPr/>
        </p:nvSpPr>
        <p:spPr>
          <a:xfrm>
            <a:off x="822960" y="2971800"/>
            <a:ext cx="4846320" cy="548640"/>
          </a:xfrm>
          <a:prstGeom prst="rect">
            <a:avLst/>
          </a:prstGeom>
          <a:noFill/>
          <a:ln/>
        </p:spPr>
        <p:txBody>
          <a:bodyPr wrap="square" lIns="0" tIns="0" rIns="0" bIns="0" rtlCol="0" anchor="ctr"/>
          <a:lstStyle/>
          <a:p>
            <a:pPr indent="0" marL="0">
              <a:buNone/>
            </a:pPr>
            <a:r>
              <a:rPr lang="en-US" sz="2800" b="1" dirty="0">
                <a:solidFill>
                  <a:srgbClr val="1F1F2E"/>
                </a:solidFill>
                <a:latin typeface="Arial" pitchFamily="34" charset="0"/>
                <a:ea typeface="Arial" pitchFamily="34" charset="-122"/>
                <a:cs typeface="Arial" pitchFamily="34" charset="-120"/>
              </a:rPr>
              <a:t>Numbers</a:t>
            </a:r>
            <a:endParaRPr lang="en-US" sz="2800" dirty="0"/>
          </a:p>
        </p:txBody>
      </p:sp>
      <p:sp>
        <p:nvSpPr>
          <p:cNvPr id="7" name="Text 5"/>
          <p:cNvSpPr txBox="1"/>
          <p:nvPr/>
        </p:nvSpPr>
        <p:spPr>
          <a:xfrm>
            <a:off x="822960" y="3611880"/>
            <a:ext cx="4846320" cy="1188720"/>
          </a:xfrm>
          <a:prstGeom prst="rect">
            <a:avLst/>
          </a:prstGeom>
          <a:noFill/>
          <a:ln/>
        </p:spPr>
        <p:txBody>
          <a:bodyPr wrap="square" lIns="0" tIns="0" rIns="0" bIns="0" rtlCol="0" anchor="t"/>
          <a:lstStyle/>
          <a:p>
            <a:pPr indent="0" marL="0">
              <a:buNone/>
            </a:pPr>
            <a:r>
              <a:rPr lang="en-US" sz="1800" dirty="0">
                <a:solidFill>
                  <a:srgbClr val="1F1F2E"/>
                </a:solidFill>
                <a:latin typeface="Arial" pitchFamily="34" charset="0"/>
                <a:ea typeface="Arial" pitchFamily="34" charset="-122"/>
                <a:cs typeface="Arial" pitchFamily="34" charset="-120"/>
              </a:rPr>
              <a:t>How good is the fast model, in numbers a reader can use?</a:t>
            </a:r>
            <a:endParaRPr lang="en-US" sz="1800" dirty="0"/>
          </a:p>
        </p:txBody>
      </p:sp>
      <p:sp>
        <p:nvSpPr>
          <p:cNvPr id="8" name="Shape 6"/>
          <p:cNvSpPr/>
          <p:nvPr/>
        </p:nvSpPr>
        <p:spPr>
          <a:xfrm>
            <a:off x="6245352" y="1828800"/>
            <a:ext cx="5394960" cy="3291840"/>
          </a:xfrm>
          <a:prstGeom prst="roundRect">
            <a:avLst>
              <a:gd name="adj" fmla="val 2222"/>
            </a:avLst>
          </a:prstGeom>
          <a:solidFill>
            <a:srgbClr val="EFEBF9"/>
          </a:solidFill>
          <a:ln w="9525">
            <a:solidFill>
              <a:srgbClr val="D9D0F0"/>
            </a:solidFill>
            <a:prstDash val="solid"/>
          </a:ln>
        </p:spPr>
      </p:sp>
      <p:sp>
        <p:nvSpPr>
          <p:cNvPr id="9" name="Text 7"/>
          <p:cNvSpPr txBox="1"/>
          <p:nvPr/>
        </p:nvSpPr>
        <p:spPr>
          <a:xfrm>
            <a:off x="6519672" y="2011680"/>
            <a:ext cx="914400" cy="914400"/>
          </a:xfrm>
          <a:prstGeom prst="rect">
            <a:avLst/>
          </a:prstGeom>
          <a:noFill/>
          <a:ln/>
        </p:spPr>
        <p:txBody>
          <a:bodyPr wrap="square" lIns="0" tIns="0" rIns="0" bIns="0" rtlCol="0" anchor="ctr"/>
          <a:lstStyle/>
          <a:p>
            <a:pPr indent="0" marL="0">
              <a:buNone/>
            </a:pPr>
            <a:r>
              <a:rPr lang="en-US" sz="5400" b="1" dirty="0">
                <a:solidFill>
                  <a:srgbClr val="4A3D7A"/>
                </a:solidFill>
                <a:latin typeface="Arial" pitchFamily="34" charset="0"/>
                <a:ea typeface="Arial" pitchFamily="34" charset="-122"/>
                <a:cs typeface="Arial" pitchFamily="34" charset="-120"/>
              </a:rPr>
              <a:t>2</a:t>
            </a:r>
            <a:endParaRPr lang="en-US" sz="5400" dirty="0"/>
          </a:p>
        </p:txBody>
      </p:sp>
      <p:sp>
        <p:nvSpPr>
          <p:cNvPr id="10" name="Text 8"/>
          <p:cNvSpPr txBox="1"/>
          <p:nvPr/>
        </p:nvSpPr>
        <p:spPr>
          <a:xfrm>
            <a:off x="6519672" y="2971800"/>
            <a:ext cx="4846320" cy="548640"/>
          </a:xfrm>
          <a:prstGeom prst="rect">
            <a:avLst/>
          </a:prstGeom>
          <a:noFill/>
          <a:ln/>
        </p:spPr>
        <p:txBody>
          <a:bodyPr wrap="square" lIns="0" tIns="0" rIns="0" bIns="0" rtlCol="0" anchor="ctr"/>
          <a:lstStyle/>
          <a:p>
            <a:pPr indent="0" marL="0">
              <a:buNone/>
            </a:pPr>
            <a:r>
              <a:rPr lang="en-US" sz="2800" b="1" dirty="0">
                <a:solidFill>
                  <a:srgbClr val="1F1F2E"/>
                </a:solidFill>
                <a:latin typeface="Arial" pitchFamily="34" charset="0"/>
                <a:ea typeface="Arial" pitchFamily="34" charset="-122"/>
                <a:cs typeface="Arial" pitchFamily="34" charset="-120"/>
              </a:rPr>
              <a:t>More storms</a:t>
            </a:r>
            <a:endParaRPr lang="en-US" sz="2800" dirty="0"/>
          </a:p>
        </p:txBody>
      </p:sp>
      <p:sp>
        <p:nvSpPr>
          <p:cNvPr id="11" name="Text 9"/>
          <p:cNvSpPr txBox="1"/>
          <p:nvPr/>
        </p:nvSpPr>
        <p:spPr>
          <a:xfrm>
            <a:off x="6519672" y="3611880"/>
            <a:ext cx="4846320" cy="1371600"/>
          </a:xfrm>
          <a:prstGeom prst="rect">
            <a:avLst/>
          </a:prstGeom>
          <a:noFill/>
          <a:ln/>
        </p:spPr>
        <p:txBody>
          <a:bodyPr wrap="square" lIns="0" tIns="0" rIns="0" bIns="0" rtlCol="0" anchor="t"/>
          <a:lstStyle/>
          <a:p>
            <a:pPr indent="0" marL="0">
              <a:buNone/>
            </a:pPr>
            <a:r>
              <a:rPr lang="en-US" sz="1800" dirty="0">
                <a:solidFill>
                  <a:srgbClr val="1F1F2E"/>
                </a:solidFill>
                <a:latin typeface="Arial" pitchFamily="34" charset="0"/>
                <a:ea typeface="Arial" pitchFamily="34" charset="-122"/>
                <a:cs typeface="Arial" pitchFamily="34" charset="-120"/>
              </a:rPr>
              <a:t>Make more flood maps with Gwyn's model, run the simulator on them, train on old + new, and compare.</a:t>
            </a:r>
            <a:endParaRPr lang="en-US" sz="1800" dirty="0"/>
          </a:p>
        </p:txBody>
      </p:sp>
      <p:sp>
        <p:nvSpPr>
          <p:cNvPr id="12" name="Text 10"/>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300" dirty="0">
                <a:solidFill>
                  <a:srgbClr val="5B5B70"/>
                </a:solidFill>
                <a:latin typeface="Arial" pitchFamily="34" charset="0"/>
                <a:ea typeface="Arial" pitchFamily="34" charset="-122"/>
                <a:cs typeface="Arial" pitchFamily="34" charset="-120"/>
              </a:rPr>
              <a:t>Fast model = the neural network that imitates the simulator. It answers in 11 milliseconds; one simulator run takes 0.2 to 1.5 seconds.</a:t>
            </a:r>
            <a:endParaRPr lang="en-US" sz="1300" dirty="0"/>
          </a:p>
        </p:txBody>
      </p:sp>
      <p:sp>
        <p:nvSpPr>
          <p:cNvPr id="13" name="Text 11"/>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This week follows your two requests, in that order.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2 · ASK 1: THE NUMBERS</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The fast model knows which sites fail and when, but not how many</a:t>
            </a:r>
            <a:endParaRPr lang="en-US" sz="2600" dirty="0"/>
          </a:p>
        </p:txBody>
      </p:sp>
      <p:sp>
        <p:nvSpPr>
          <p:cNvPr id="4" name="Shape 2"/>
          <p:cNvSpPr/>
          <p:nvPr/>
        </p:nvSpPr>
        <p:spPr>
          <a:xfrm>
            <a:off x="548640" y="1828800"/>
            <a:ext cx="3520440" cy="3017520"/>
          </a:xfrm>
          <a:prstGeom prst="roundRect">
            <a:avLst>
              <a:gd name="adj" fmla="val 2424"/>
            </a:avLst>
          </a:prstGeom>
          <a:solidFill>
            <a:srgbClr val="EFEBF9"/>
          </a:solidFill>
          <a:ln w="9525">
            <a:solidFill>
              <a:srgbClr val="D9D0F0"/>
            </a:solidFill>
            <a:prstDash val="solid"/>
          </a:ln>
        </p:spPr>
      </p:sp>
      <p:sp>
        <p:nvSpPr>
          <p:cNvPr id="5" name="Text 3"/>
          <p:cNvSpPr txBox="1"/>
          <p:nvPr/>
        </p:nvSpPr>
        <p:spPr>
          <a:xfrm>
            <a:off x="777240" y="2011680"/>
            <a:ext cx="306324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Which sites fail</a:t>
            </a:r>
            <a:endParaRPr lang="en-US" sz="1500" dirty="0"/>
          </a:p>
        </p:txBody>
      </p:sp>
      <p:sp>
        <p:nvSpPr>
          <p:cNvPr id="6" name="Text 4"/>
          <p:cNvSpPr txBox="1"/>
          <p:nvPr/>
        </p:nvSpPr>
        <p:spPr>
          <a:xfrm>
            <a:off x="777240" y="2468880"/>
            <a:ext cx="3063240" cy="914400"/>
          </a:xfrm>
          <a:prstGeom prst="rect">
            <a:avLst/>
          </a:prstGeom>
          <a:noFill/>
          <a:ln/>
        </p:spPr>
        <p:txBody>
          <a:bodyPr wrap="square" lIns="0" tIns="0" rIns="0" bIns="0" rtlCol="0" anchor="ctr"/>
          <a:lstStyle/>
          <a:p>
            <a:pPr indent="0" marL="0">
              <a:buNone/>
            </a:pPr>
            <a:r>
              <a:rPr lang="en-US" sz="4000" b="1" dirty="0">
                <a:solidFill>
                  <a:srgbClr val="1F1F2E"/>
                </a:solidFill>
                <a:latin typeface="Arial" pitchFamily="34" charset="0"/>
                <a:ea typeface="Arial" pitchFamily="34" charset="-122"/>
                <a:cs typeface="Arial" pitchFamily="34" charset="-120"/>
              </a:rPr>
              <a:t>Good</a:t>
            </a:r>
            <a:endParaRPr lang="en-US" sz="4000" dirty="0"/>
          </a:p>
        </p:txBody>
      </p:sp>
      <p:sp>
        <p:nvSpPr>
          <p:cNvPr id="7" name="Text 5"/>
          <p:cNvSpPr txBox="1"/>
          <p:nvPr/>
        </p:nvSpPr>
        <p:spPr>
          <a:xfrm>
            <a:off x="777240" y="3429000"/>
            <a:ext cx="3063240" cy="1280160"/>
          </a:xfrm>
          <a:prstGeom prst="rect">
            <a:avLst/>
          </a:prstGeom>
          <a:noFill/>
          <a:ln/>
        </p:spPr>
        <p:txBody>
          <a:bodyPr wrap="square" lIns="0" tIns="0" rIns="0" bIns="0" rtlCol="0" anchor="t"/>
          <a:lstStyle/>
          <a:p>
            <a:pPr indent="0" marL="0">
              <a:buNone/>
            </a:pPr>
            <a:r>
              <a:rPr lang="en-US" sz="1600" dirty="0">
                <a:solidFill>
                  <a:srgbClr val="1F1F2E"/>
                </a:solidFill>
                <a:latin typeface="Arial" pitchFamily="34" charset="0"/>
                <a:ea typeface="Arial" pitchFamily="34" charset="-122"/>
                <a:cs typeface="Arial" pitchFamily="34" charset="-120"/>
              </a:rPr>
              <a:t>Ranking score 0.92–0.93</a:t>
            </a:r>
            <a:endParaRPr lang="en-US" sz="1600" dirty="0"/>
          </a:p>
          <a:p>
            <a:pPr indent="0" marL="0">
              <a:buNone/>
            </a:pPr>
            <a:r>
              <a:rPr lang="en-US" sz="1600" dirty="0">
                <a:solidFill>
                  <a:srgbClr val="1F1F2E"/>
                </a:solidFill>
                <a:latin typeface="Arial" pitchFamily="34" charset="0"/>
                <a:ea typeface="Arial" pitchFamily="34" charset="-122"/>
                <a:cs typeface="Arial" pitchFamily="34" charset="-120"/>
              </a:rPr>
              <a:t>(1.0 is perfect)</a:t>
            </a:r>
            <a:endParaRPr lang="en-US" sz="1600" dirty="0"/>
          </a:p>
        </p:txBody>
      </p:sp>
      <p:sp>
        <p:nvSpPr>
          <p:cNvPr id="8" name="Shape 6"/>
          <p:cNvSpPr/>
          <p:nvPr/>
        </p:nvSpPr>
        <p:spPr>
          <a:xfrm>
            <a:off x="4334256" y="1828800"/>
            <a:ext cx="3520440" cy="3017520"/>
          </a:xfrm>
          <a:prstGeom prst="roundRect">
            <a:avLst>
              <a:gd name="adj" fmla="val 2424"/>
            </a:avLst>
          </a:prstGeom>
          <a:solidFill>
            <a:srgbClr val="EFEBF9"/>
          </a:solidFill>
          <a:ln w="9525">
            <a:solidFill>
              <a:srgbClr val="D9D0F0"/>
            </a:solidFill>
            <a:prstDash val="solid"/>
          </a:ln>
        </p:spPr>
      </p:sp>
      <p:sp>
        <p:nvSpPr>
          <p:cNvPr id="9" name="Text 7"/>
          <p:cNvSpPr txBox="1"/>
          <p:nvPr/>
        </p:nvSpPr>
        <p:spPr>
          <a:xfrm>
            <a:off x="4562856" y="2011680"/>
            <a:ext cx="306324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When they fail</a:t>
            </a:r>
            <a:endParaRPr lang="en-US" sz="1500" dirty="0"/>
          </a:p>
        </p:txBody>
      </p:sp>
      <p:sp>
        <p:nvSpPr>
          <p:cNvPr id="10" name="Text 8"/>
          <p:cNvSpPr txBox="1"/>
          <p:nvPr/>
        </p:nvSpPr>
        <p:spPr>
          <a:xfrm>
            <a:off x="4562856" y="2468880"/>
            <a:ext cx="3063240" cy="914400"/>
          </a:xfrm>
          <a:prstGeom prst="rect">
            <a:avLst/>
          </a:prstGeom>
          <a:noFill/>
          <a:ln/>
        </p:spPr>
        <p:txBody>
          <a:bodyPr wrap="square" lIns="0" tIns="0" rIns="0" bIns="0" rtlCol="0" anchor="ctr"/>
          <a:lstStyle/>
          <a:p>
            <a:pPr indent="0" marL="0">
              <a:buNone/>
            </a:pPr>
            <a:r>
              <a:rPr lang="en-US" sz="4000" b="1" dirty="0">
                <a:solidFill>
                  <a:srgbClr val="1F1F2E"/>
                </a:solidFill>
                <a:latin typeface="Arial" pitchFamily="34" charset="0"/>
                <a:ea typeface="Arial" pitchFamily="34" charset="-122"/>
                <a:cs typeface="Arial" pitchFamily="34" charset="-120"/>
              </a:rPr>
              <a:t>Good</a:t>
            </a:r>
            <a:endParaRPr lang="en-US" sz="4000" dirty="0"/>
          </a:p>
        </p:txBody>
      </p:sp>
      <p:sp>
        <p:nvSpPr>
          <p:cNvPr id="11" name="Text 9"/>
          <p:cNvSpPr txBox="1"/>
          <p:nvPr/>
        </p:nvSpPr>
        <p:spPr>
          <a:xfrm>
            <a:off x="4562856" y="3429000"/>
            <a:ext cx="3063240" cy="1280160"/>
          </a:xfrm>
          <a:prstGeom prst="rect">
            <a:avLst/>
          </a:prstGeom>
          <a:noFill/>
          <a:ln/>
        </p:spPr>
        <p:txBody>
          <a:bodyPr wrap="square" lIns="0" tIns="0" rIns="0" bIns="0" rtlCol="0" anchor="t"/>
          <a:lstStyle/>
          <a:p>
            <a:pPr indent="0" marL="0">
              <a:buNone/>
            </a:pPr>
            <a:r>
              <a:rPr lang="en-US" sz="1600" dirty="0">
                <a:solidFill>
                  <a:srgbClr val="1F1F2E"/>
                </a:solidFill>
                <a:latin typeface="Arial" pitchFamily="34" charset="0"/>
                <a:ea typeface="Arial" pitchFamily="34" charset="-122"/>
                <a:cs typeface="Arial" pitchFamily="34" charset="-120"/>
              </a:rPr>
              <a:t>Right time window for</a:t>
            </a:r>
            <a:endParaRPr lang="en-US" sz="1600" dirty="0"/>
          </a:p>
          <a:p>
            <a:pPr indent="0" marL="0">
              <a:buNone/>
            </a:pPr>
            <a:r>
              <a:rPr lang="en-US" sz="1600" dirty="0">
                <a:solidFill>
                  <a:srgbClr val="1F1F2E"/>
                </a:solidFill>
                <a:latin typeface="Arial" pitchFamily="34" charset="0"/>
                <a:ea typeface="Arial" pitchFamily="34" charset="-122"/>
                <a:cs typeface="Arial" pitchFamily="34" charset="-120"/>
              </a:rPr>
              <a:t>73–86 % of failing sites</a:t>
            </a:r>
            <a:endParaRPr lang="en-US" sz="1600" dirty="0"/>
          </a:p>
        </p:txBody>
      </p:sp>
      <p:sp>
        <p:nvSpPr>
          <p:cNvPr id="12" name="Shape 10"/>
          <p:cNvSpPr/>
          <p:nvPr/>
        </p:nvSpPr>
        <p:spPr>
          <a:xfrm>
            <a:off x="8119872" y="1828800"/>
            <a:ext cx="3520440" cy="3017520"/>
          </a:xfrm>
          <a:prstGeom prst="roundRect">
            <a:avLst>
              <a:gd name="adj" fmla="val 2424"/>
            </a:avLst>
          </a:prstGeom>
          <a:solidFill>
            <a:srgbClr val="EFEBF9"/>
          </a:solidFill>
          <a:ln w="9525">
            <a:solidFill>
              <a:srgbClr val="D9D0F0"/>
            </a:solidFill>
            <a:prstDash val="solid"/>
          </a:ln>
        </p:spPr>
      </p:sp>
      <p:sp>
        <p:nvSpPr>
          <p:cNvPr id="13" name="Text 11"/>
          <p:cNvSpPr txBox="1"/>
          <p:nvPr/>
        </p:nvSpPr>
        <p:spPr>
          <a:xfrm>
            <a:off x="8348472" y="2011680"/>
            <a:ext cx="306324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How many fail</a:t>
            </a:r>
            <a:endParaRPr lang="en-US" sz="1500" dirty="0"/>
          </a:p>
        </p:txBody>
      </p:sp>
      <p:sp>
        <p:nvSpPr>
          <p:cNvPr id="14" name="Text 12"/>
          <p:cNvSpPr txBox="1"/>
          <p:nvPr/>
        </p:nvSpPr>
        <p:spPr>
          <a:xfrm>
            <a:off x="8348472" y="2468880"/>
            <a:ext cx="3063240" cy="914400"/>
          </a:xfrm>
          <a:prstGeom prst="rect">
            <a:avLst/>
          </a:prstGeom>
          <a:noFill/>
          <a:ln/>
        </p:spPr>
        <p:txBody>
          <a:bodyPr wrap="square" lIns="0" tIns="0" rIns="0" bIns="0" rtlCol="0" anchor="ctr"/>
          <a:lstStyle/>
          <a:p>
            <a:pPr indent="0" marL="0">
              <a:buNone/>
            </a:pPr>
            <a:r>
              <a:rPr lang="en-US" sz="4000" b="1" dirty="0">
                <a:solidFill>
                  <a:srgbClr val="B5443C"/>
                </a:solidFill>
                <a:latin typeface="Arial" pitchFamily="34" charset="0"/>
                <a:ea typeface="Arial" pitchFamily="34" charset="-122"/>
                <a:cs typeface="Arial" pitchFamily="34" charset="-120"/>
              </a:rPr>
              <a:t>Poor</a:t>
            </a:r>
            <a:endParaRPr lang="en-US" sz="4000" dirty="0"/>
          </a:p>
        </p:txBody>
      </p:sp>
      <p:sp>
        <p:nvSpPr>
          <p:cNvPr id="15" name="Text 13"/>
          <p:cNvSpPr txBox="1"/>
          <p:nvPr/>
        </p:nvSpPr>
        <p:spPr>
          <a:xfrm>
            <a:off x="8348472" y="3429000"/>
            <a:ext cx="3063240" cy="1280160"/>
          </a:xfrm>
          <a:prstGeom prst="rect">
            <a:avLst/>
          </a:prstGeom>
          <a:noFill/>
          <a:ln/>
        </p:spPr>
        <p:txBody>
          <a:bodyPr wrap="square" lIns="0" tIns="0" rIns="0" bIns="0" rtlCol="0" anchor="t"/>
          <a:lstStyle/>
          <a:p>
            <a:pPr indent="0" marL="0">
              <a:buNone/>
            </a:pPr>
            <a:r>
              <a:rPr lang="en-US" sz="1600" dirty="0">
                <a:solidFill>
                  <a:srgbClr val="1F1F2E"/>
                </a:solidFill>
                <a:latin typeface="Arial" pitchFamily="34" charset="0"/>
                <a:ea typeface="Arial" pitchFamily="34" charset="-122"/>
                <a:cs typeface="Arial" pitchFamily="34" charset="-120"/>
              </a:rPr>
              <a:t>Count is off by 41–54 %.</a:t>
            </a:r>
            <a:endParaRPr lang="en-US" sz="1600" dirty="0"/>
          </a:p>
          <a:p>
            <a:pPr indent="0" marL="0">
              <a:buNone/>
            </a:pPr>
            <a:r>
              <a:rPr lang="en-US" sz="1600" dirty="0">
                <a:solidFill>
                  <a:srgbClr val="1F1F2E"/>
                </a:solidFill>
                <a:latin typeface="Arial" pitchFamily="34" charset="0"/>
                <a:ea typeface="Arial" pitchFamily="34" charset="-122"/>
                <a:cs typeface="Arial" pitchFamily="34" charset="-120"/>
              </a:rPr>
              <a:t>A simple lookup table: 19 %</a:t>
            </a:r>
            <a:endParaRPr lang="en-US" sz="1600" dirty="0"/>
          </a:p>
        </p:txBody>
      </p:sp>
      <p:sp>
        <p:nvSpPr>
          <p:cNvPr id="16" name="Text 14"/>
          <p:cNvSpPr txBox="1"/>
          <p:nvPr/>
        </p:nvSpPr>
        <p:spPr>
          <a:xfrm>
            <a:off x="548640" y="5120640"/>
            <a:ext cx="11064240" cy="457200"/>
          </a:xfrm>
          <a:prstGeom prst="rect">
            <a:avLst/>
          </a:prstGeom>
          <a:noFill/>
          <a:ln/>
        </p:spPr>
        <p:txBody>
          <a:bodyPr wrap="square" lIns="0" tIns="0" rIns="0" bIns="0" rtlCol="0" anchor="ctr"/>
          <a:lstStyle/>
          <a:p>
            <a:pPr indent="0" marL="0">
              <a:buNone/>
            </a:pPr>
            <a:r>
              <a:rPr lang="en-US" sz="1400" dirty="0">
                <a:solidFill>
                  <a:srgbClr val="5B5B70"/>
                </a:solidFill>
                <a:latin typeface="Arial" pitchFamily="34" charset="0"/>
                <a:ea typeface="Arial" pitchFamily="34" charset="-122"/>
                <a:cs typeface="Arial" pitchFamily="34" charset="-120"/>
              </a:rPr>
              <a:t>No retraining: the 8 models we already had, scored against the simulator and against simple baselines.</a:t>
            </a:r>
            <a:endParaRPr lang="en-US" sz="1400" dirty="0"/>
          </a:p>
        </p:txBody>
      </p:sp>
      <p:sp>
        <p:nvSpPr>
          <p:cNvPr id="17" name="Text 15"/>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Two things work. One does not: the size of the cascade.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3 · WHAT THE NUMBERS TOLD US</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It reads a small storm as a big one, and big storms as smaller</a:t>
            </a:r>
            <a:endParaRPr lang="en-US" sz="2600" dirty="0"/>
          </a:p>
        </p:txBody>
      </p:sp>
      <p:graphicFrame>
        <p:nvGraphicFramePr>
          <p:cNvPr id="4" name="Chart 0" descr=""/>
          <p:cNvGraphicFramePr/>
          <p:nvPr/>
        </p:nvGraphicFramePr>
        <p:xfrm>
          <a:off x="548640" y="1737360"/>
          <a:ext cx="676656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2103120"/>
            <a:ext cx="3931920" cy="3474720"/>
          </a:xfrm>
          <a:prstGeom prst="rect">
            <a:avLst/>
          </a:prstGeom>
          <a:noFill/>
          <a:ln/>
        </p:spPr>
        <p:txBody>
          <a:bodyPr wrap="square" lIns="0" tIns="0" rIns="0" bIns="0" rtlCol="0" anchor="t"/>
          <a:lstStyle/>
          <a:p>
            <a:pPr indent="0" marL="0">
              <a:spcAft>
                <a:spcPts val="2000"/>
              </a:spcAft>
              <a:buNone/>
            </a:pPr>
            <a:r>
              <a:rPr lang="en-US" sz="1900" b="1" dirty="0">
                <a:solidFill>
                  <a:srgbClr val="B5443C"/>
                </a:solidFill>
                <a:latin typeface="Arial" pitchFamily="34" charset="0"/>
                <a:ea typeface="Arial" pitchFamily="34" charset="-122"/>
                <a:cs typeface="Arial" pitchFamily="34" charset="-120"/>
              </a:rPr>
              <a:t>Small storm: </a:t>
            </a:r>
            <a:pPr indent="0" marL="0">
              <a:spcAft>
                <a:spcPts val="2000"/>
              </a:spcAft>
              <a:buNone/>
            </a:pPr>
            <a:r>
              <a:rPr lang="en-US" sz="1900" dirty="0">
                <a:solidFill>
                  <a:srgbClr val="1F1F2E"/>
                </a:solidFill>
                <a:latin typeface="Arial" pitchFamily="34" charset="0"/>
                <a:ea typeface="Arial" pitchFamily="34" charset="-122"/>
                <a:cs typeface="Arial" pitchFamily="34" charset="-120"/>
              </a:rPr>
              <a:t>almost 4 times the real number of failures.</a:t>
            </a:r>
            <a:endParaRPr lang="en-US" sz="1900" dirty="0"/>
          </a:p>
          <a:p>
            <a:pPr indent="0" marL="0">
              <a:spcAft>
                <a:spcPts val="2000"/>
              </a:spcAft>
              <a:buNone/>
            </a:pPr>
            <a:r>
              <a:rPr lang="en-US" sz="1900" b="1" dirty="0">
                <a:solidFill>
                  <a:srgbClr val="1F1F2E"/>
                </a:solidFill>
                <a:latin typeface="Arial" pitchFamily="34" charset="0"/>
                <a:ea typeface="Arial" pitchFamily="34" charset="-122"/>
                <a:cs typeface="Arial" pitchFamily="34" charset="-120"/>
              </a:rPr>
              <a:t>Big storms: </a:t>
            </a:r>
            <a:pPr indent="0" marL="0">
              <a:spcAft>
                <a:spcPts val="2000"/>
              </a:spcAft>
              <a:buNone/>
            </a:pPr>
            <a:r>
              <a:rPr lang="en-US" sz="1900" dirty="0">
                <a:solidFill>
                  <a:srgbClr val="1F1F2E"/>
                </a:solidFill>
                <a:latin typeface="Arial" pitchFamily="34" charset="0"/>
                <a:ea typeface="Arial" pitchFamily="34" charset="-122"/>
                <a:cs typeface="Arial" pitchFamily="34" charset="-120"/>
              </a:rPr>
              <a:t>about a third too few.</a:t>
            </a:r>
            <a:endParaRPr lang="en-US" sz="1900" dirty="0"/>
          </a:p>
          <a:p>
            <a:pPr indent="0" marL="0">
              <a:spcAft>
                <a:spcPts val="2000"/>
              </a:spcAft>
              <a:buNone/>
            </a:pPr>
            <a:r>
              <a:rPr lang="en-US" sz="1900" b="1" dirty="0">
                <a:solidFill>
                  <a:srgbClr val="1F1F2E"/>
                </a:solidFill>
                <a:latin typeface="Arial" pitchFamily="34" charset="0"/>
                <a:ea typeface="Arial" pitchFamily="34" charset="-122"/>
                <a:cs typeface="Arial" pitchFamily="34" charset="-120"/>
              </a:rPr>
              <a:t>So: </a:t>
            </a:r>
            <a:pPr indent="0" marL="0">
              <a:spcAft>
                <a:spcPts val="2000"/>
              </a:spcAft>
              <a:buNone/>
            </a:pPr>
            <a:r>
              <a:rPr lang="en-US" sz="1900" dirty="0">
                <a:solidFill>
                  <a:srgbClr val="1F1F2E"/>
                </a:solidFill>
                <a:latin typeface="Arial" pitchFamily="34" charset="0"/>
                <a:ea typeface="Arial" pitchFamily="34" charset="-122"/>
                <a:cs typeface="Arial" pitchFamily="34" charset="-120"/>
              </a:rPr>
              <a:t>the model gives something like an average answer, whatever the size of the storm.</a:t>
            </a:r>
            <a:endParaRPr lang="en-US" sz="1900" dirty="0"/>
          </a:p>
        </p:txBody>
      </p:sp>
      <p:sp>
        <p:nvSpPr>
          <p:cNvPr id="6" name="Text 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Too many for the small storm, too few for the big ones: it is answering with an average.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4 · WHY IT HAPPENS</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Each site only sees two links away, so most sites never see the flood</a:t>
            </a:r>
            <a:endParaRPr lang="en-US" sz="2600" dirty="0"/>
          </a:p>
        </p:txBody>
      </p:sp>
      <p:sp>
        <p:nvSpPr>
          <p:cNvPr id="4" name="Shape 2"/>
          <p:cNvSpPr/>
          <p:nvPr/>
        </p:nvSpPr>
        <p:spPr>
          <a:xfrm>
            <a:off x="1572768" y="2514600"/>
            <a:ext cx="969264" cy="0"/>
          </a:xfrm>
          <a:prstGeom prst="line">
            <a:avLst/>
          </a:prstGeom>
          <a:noFill/>
          <a:ln w="25400">
            <a:solidFill>
              <a:srgbClr val="8A8A99"/>
            </a:solidFill>
            <a:prstDash val="solid"/>
          </a:ln>
        </p:spPr>
      </p:sp>
      <p:sp>
        <p:nvSpPr>
          <p:cNvPr id="5" name="Shape 3"/>
          <p:cNvSpPr/>
          <p:nvPr/>
        </p:nvSpPr>
        <p:spPr>
          <a:xfrm>
            <a:off x="3310128" y="2514600"/>
            <a:ext cx="969264" cy="0"/>
          </a:xfrm>
          <a:prstGeom prst="line">
            <a:avLst/>
          </a:prstGeom>
          <a:noFill/>
          <a:ln w="25400">
            <a:solidFill>
              <a:srgbClr val="8A8A99"/>
            </a:solidFill>
            <a:prstDash val="solid"/>
          </a:ln>
        </p:spPr>
      </p:sp>
      <p:sp>
        <p:nvSpPr>
          <p:cNvPr id="6" name="Shape 4"/>
          <p:cNvSpPr/>
          <p:nvPr/>
        </p:nvSpPr>
        <p:spPr>
          <a:xfrm>
            <a:off x="5047488" y="2514600"/>
            <a:ext cx="969264" cy="0"/>
          </a:xfrm>
          <a:prstGeom prst="line">
            <a:avLst/>
          </a:prstGeom>
          <a:noFill/>
          <a:ln w="25400">
            <a:solidFill>
              <a:srgbClr val="8A8A99"/>
            </a:solidFill>
            <a:prstDash val="solid"/>
          </a:ln>
        </p:spPr>
      </p:sp>
      <p:sp>
        <p:nvSpPr>
          <p:cNvPr id="7" name="Shape 5"/>
          <p:cNvSpPr/>
          <p:nvPr/>
        </p:nvSpPr>
        <p:spPr>
          <a:xfrm>
            <a:off x="6784848" y="2514600"/>
            <a:ext cx="969264" cy="0"/>
          </a:xfrm>
          <a:prstGeom prst="line">
            <a:avLst/>
          </a:prstGeom>
          <a:noFill/>
          <a:ln w="25400">
            <a:solidFill>
              <a:srgbClr val="8A8A99"/>
            </a:solidFill>
            <a:prstDash val="solid"/>
          </a:ln>
        </p:spPr>
      </p:sp>
      <p:sp>
        <p:nvSpPr>
          <p:cNvPr id="8" name="Shape 6"/>
          <p:cNvSpPr/>
          <p:nvPr/>
        </p:nvSpPr>
        <p:spPr>
          <a:xfrm>
            <a:off x="8522208" y="2514600"/>
            <a:ext cx="969264" cy="0"/>
          </a:xfrm>
          <a:prstGeom prst="line">
            <a:avLst/>
          </a:prstGeom>
          <a:noFill/>
          <a:ln w="25400">
            <a:solidFill>
              <a:srgbClr val="8A8A99"/>
            </a:solidFill>
            <a:prstDash val="solid"/>
          </a:ln>
        </p:spPr>
      </p:sp>
      <p:sp>
        <p:nvSpPr>
          <p:cNvPr id="9" name="Shape 7"/>
          <p:cNvSpPr/>
          <p:nvPr/>
        </p:nvSpPr>
        <p:spPr>
          <a:xfrm>
            <a:off x="804672" y="2130552"/>
            <a:ext cx="768096" cy="768096"/>
          </a:xfrm>
          <a:prstGeom prst="ellipse">
            <a:avLst/>
          </a:prstGeom>
          <a:solidFill>
            <a:srgbClr val="B5443C"/>
          </a:solidFill>
          <a:ln w="12700">
            <a:solidFill>
              <a:srgbClr val="FFFFFF"/>
            </a:solidFill>
            <a:prstDash val="solid"/>
          </a:ln>
        </p:spPr>
      </p:sp>
      <p:sp>
        <p:nvSpPr>
          <p:cNvPr id="10" name="Shape 8"/>
          <p:cNvSpPr/>
          <p:nvPr/>
        </p:nvSpPr>
        <p:spPr>
          <a:xfrm>
            <a:off x="2542032" y="2130552"/>
            <a:ext cx="768096" cy="768096"/>
          </a:xfrm>
          <a:prstGeom prst="ellipse">
            <a:avLst/>
          </a:prstGeom>
          <a:solidFill>
            <a:srgbClr val="4A3D7A"/>
          </a:solidFill>
          <a:ln w="12700">
            <a:solidFill>
              <a:srgbClr val="FFFFFF"/>
            </a:solidFill>
            <a:prstDash val="solid"/>
          </a:ln>
        </p:spPr>
      </p:sp>
      <p:sp>
        <p:nvSpPr>
          <p:cNvPr id="11" name="Shape 9"/>
          <p:cNvSpPr/>
          <p:nvPr/>
        </p:nvSpPr>
        <p:spPr>
          <a:xfrm>
            <a:off x="4279392" y="2130552"/>
            <a:ext cx="768096" cy="768096"/>
          </a:xfrm>
          <a:prstGeom prst="ellipse">
            <a:avLst/>
          </a:prstGeom>
          <a:solidFill>
            <a:srgbClr val="4A3D7A"/>
          </a:solidFill>
          <a:ln w="12700">
            <a:solidFill>
              <a:srgbClr val="FFFFFF"/>
            </a:solidFill>
            <a:prstDash val="solid"/>
          </a:ln>
        </p:spPr>
      </p:sp>
      <p:sp>
        <p:nvSpPr>
          <p:cNvPr id="12" name="Shape 10"/>
          <p:cNvSpPr/>
          <p:nvPr/>
        </p:nvSpPr>
        <p:spPr>
          <a:xfrm>
            <a:off x="6016752" y="2130552"/>
            <a:ext cx="768096" cy="768096"/>
          </a:xfrm>
          <a:prstGeom prst="ellipse">
            <a:avLst/>
          </a:prstGeom>
          <a:solidFill>
            <a:srgbClr val="C4C4CF"/>
          </a:solidFill>
          <a:ln w="12700">
            <a:solidFill>
              <a:srgbClr val="FFFFFF"/>
            </a:solidFill>
            <a:prstDash val="solid"/>
          </a:ln>
        </p:spPr>
      </p:sp>
      <p:sp>
        <p:nvSpPr>
          <p:cNvPr id="13" name="Shape 11"/>
          <p:cNvSpPr/>
          <p:nvPr/>
        </p:nvSpPr>
        <p:spPr>
          <a:xfrm>
            <a:off x="7754112" y="2130552"/>
            <a:ext cx="768096" cy="768096"/>
          </a:xfrm>
          <a:prstGeom prst="ellipse">
            <a:avLst/>
          </a:prstGeom>
          <a:solidFill>
            <a:srgbClr val="C4C4CF"/>
          </a:solidFill>
          <a:ln w="12700">
            <a:solidFill>
              <a:srgbClr val="FFFFFF"/>
            </a:solidFill>
            <a:prstDash val="solid"/>
          </a:ln>
        </p:spPr>
      </p:sp>
      <p:sp>
        <p:nvSpPr>
          <p:cNvPr id="14" name="Shape 12"/>
          <p:cNvSpPr/>
          <p:nvPr/>
        </p:nvSpPr>
        <p:spPr>
          <a:xfrm>
            <a:off x="9491472" y="2130552"/>
            <a:ext cx="768096" cy="768096"/>
          </a:xfrm>
          <a:prstGeom prst="ellipse">
            <a:avLst/>
          </a:prstGeom>
          <a:solidFill>
            <a:srgbClr val="C4C4CF"/>
          </a:solidFill>
          <a:ln w="12700">
            <a:solidFill>
              <a:srgbClr val="FFFFFF"/>
            </a:solidFill>
            <a:prstDash val="solid"/>
          </a:ln>
        </p:spPr>
      </p:sp>
      <p:sp>
        <p:nvSpPr>
          <p:cNvPr id="15" name="Text 13"/>
          <p:cNvSpPr txBox="1"/>
          <p:nvPr/>
        </p:nvSpPr>
        <p:spPr>
          <a:xfrm>
            <a:off x="365760" y="3017520"/>
            <a:ext cx="1645920" cy="640080"/>
          </a:xfrm>
          <a:prstGeom prst="rect">
            <a:avLst/>
          </a:prstGeom>
          <a:noFill/>
          <a:ln/>
        </p:spPr>
        <p:txBody>
          <a:bodyPr wrap="square" lIns="0" tIns="0" rIns="0" bIns="0" rtlCol="0" anchor="t"/>
          <a:lstStyle/>
          <a:p>
            <a:pPr algn="ctr" indent="0" marL="0">
              <a:buNone/>
            </a:pPr>
            <a:r>
              <a:rPr lang="en-US" sz="1400" b="1" dirty="0">
                <a:solidFill>
                  <a:srgbClr val="B5443C"/>
                </a:solidFill>
                <a:latin typeface="Arial" pitchFamily="34" charset="0"/>
                <a:ea typeface="Arial" pitchFamily="34" charset="-122"/>
                <a:cs typeface="Arial" pitchFamily="34" charset="-120"/>
              </a:rPr>
              <a:t>Flooded site</a:t>
            </a:r>
            <a:endParaRPr lang="en-US" sz="1400" dirty="0"/>
          </a:p>
        </p:txBody>
      </p:sp>
      <p:sp>
        <p:nvSpPr>
          <p:cNvPr id="16" name="Text 14"/>
          <p:cNvSpPr txBox="1"/>
          <p:nvPr/>
        </p:nvSpPr>
        <p:spPr>
          <a:xfrm>
            <a:off x="2148840" y="3017520"/>
            <a:ext cx="3291840" cy="640080"/>
          </a:xfrm>
          <a:prstGeom prst="rect">
            <a:avLst/>
          </a:prstGeom>
          <a:noFill/>
          <a:ln/>
        </p:spPr>
        <p:txBody>
          <a:bodyPr wrap="square" lIns="0" tIns="0" rIns="0" bIns="0" rtlCol="0" anchor="t"/>
          <a:lstStyle/>
          <a:p>
            <a:pPr algn="ctr" indent="0" marL="0">
              <a:buNone/>
            </a:pPr>
            <a:r>
              <a:rPr lang="en-US" sz="1400" b="1" dirty="0">
                <a:solidFill>
                  <a:srgbClr val="4A3D7A"/>
                </a:solidFill>
                <a:latin typeface="Arial" pitchFamily="34" charset="0"/>
                <a:ea typeface="Arial" pitchFamily="34" charset="-122"/>
                <a:cs typeface="Arial" pitchFamily="34" charset="-120"/>
              </a:rPr>
              <a:t>1 or 2 links away:</a:t>
            </a:r>
            <a:endParaRPr lang="en-US" sz="1400" dirty="0"/>
          </a:p>
          <a:p>
            <a:pPr algn="ctr" indent="0" marL="0">
              <a:buNone/>
            </a:pPr>
            <a:r>
              <a:rPr lang="en-US" sz="1400" b="1" dirty="0">
                <a:solidFill>
                  <a:srgbClr val="4A3D7A"/>
                </a:solidFill>
                <a:latin typeface="Arial" pitchFamily="34" charset="0"/>
                <a:ea typeface="Arial" pitchFamily="34" charset="-122"/>
                <a:cs typeface="Arial" pitchFamily="34" charset="-120"/>
              </a:rPr>
              <a:t>these sites can see the flood</a:t>
            </a:r>
            <a:endParaRPr lang="en-US" sz="1400" dirty="0"/>
          </a:p>
        </p:txBody>
      </p:sp>
      <p:sp>
        <p:nvSpPr>
          <p:cNvPr id="17" name="Text 15"/>
          <p:cNvSpPr txBox="1"/>
          <p:nvPr/>
        </p:nvSpPr>
        <p:spPr>
          <a:xfrm>
            <a:off x="5669280" y="3017520"/>
            <a:ext cx="4937760" cy="640080"/>
          </a:xfrm>
          <a:prstGeom prst="rect">
            <a:avLst/>
          </a:prstGeom>
          <a:noFill/>
          <a:ln/>
        </p:spPr>
        <p:txBody>
          <a:bodyPr wrap="square" lIns="0" tIns="0" rIns="0" bIns="0" rtlCol="0" anchor="t"/>
          <a:lstStyle/>
          <a:p>
            <a:pPr algn="ctr" indent="0" marL="0">
              <a:buNone/>
            </a:pPr>
            <a:r>
              <a:rPr lang="en-US" sz="1400" b="1" dirty="0">
                <a:solidFill>
                  <a:srgbClr val="5B5B70"/>
                </a:solidFill>
                <a:latin typeface="Arial" pitchFamily="34" charset="0"/>
                <a:ea typeface="Arial" pitchFamily="34" charset="-122"/>
                <a:cs typeface="Arial" pitchFamily="34" charset="-120"/>
              </a:rPr>
              <a:t>Further away: they see nothing,</a:t>
            </a:r>
            <a:endParaRPr lang="en-US" sz="1400" dirty="0"/>
          </a:p>
          <a:p>
            <a:pPr algn="ctr" indent="0" marL="0">
              <a:buNone/>
            </a:pPr>
            <a:r>
              <a:rPr lang="en-US" sz="1400" b="1" dirty="0">
                <a:solidFill>
                  <a:srgbClr val="5B5B70"/>
                </a:solidFill>
                <a:latin typeface="Arial" pitchFamily="34" charset="0"/>
                <a:ea typeface="Arial" pitchFamily="34" charset="-122"/>
                <a:cs typeface="Arial" pitchFamily="34" charset="-120"/>
              </a:rPr>
              <a:t>in a small storm or a big one</a:t>
            </a:r>
            <a:endParaRPr lang="en-US" sz="1400" dirty="0"/>
          </a:p>
        </p:txBody>
      </p:sp>
      <p:sp>
        <p:nvSpPr>
          <p:cNvPr id="18" name="Shape 16"/>
          <p:cNvSpPr/>
          <p:nvPr/>
        </p:nvSpPr>
        <p:spPr>
          <a:xfrm>
            <a:off x="548640" y="3931920"/>
            <a:ext cx="3520440" cy="2011680"/>
          </a:xfrm>
          <a:prstGeom prst="roundRect">
            <a:avLst>
              <a:gd name="adj" fmla="val 3636"/>
            </a:avLst>
          </a:prstGeom>
          <a:solidFill>
            <a:srgbClr val="EFEBF9"/>
          </a:solidFill>
          <a:ln w="9525">
            <a:solidFill>
              <a:srgbClr val="D9D0F0"/>
            </a:solidFill>
            <a:prstDash val="solid"/>
          </a:ln>
        </p:spPr>
      </p:sp>
      <p:sp>
        <p:nvSpPr>
          <p:cNvPr id="19" name="Text 17"/>
          <p:cNvSpPr txBox="1"/>
          <p:nvPr/>
        </p:nvSpPr>
        <p:spPr>
          <a:xfrm>
            <a:off x="777240" y="4114800"/>
            <a:ext cx="306324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Sites too far to see any flooded site</a:t>
            </a:r>
            <a:endParaRPr lang="en-US" sz="1500" dirty="0"/>
          </a:p>
        </p:txBody>
      </p:sp>
      <p:sp>
        <p:nvSpPr>
          <p:cNvPr id="20" name="Text 18"/>
          <p:cNvSpPr txBox="1"/>
          <p:nvPr/>
        </p:nvSpPr>
        <p:spPr>
          <a:xfrm>
            <a:off x="777240" y="4572000"/>
            <a:ext cx="3063240" cy="914400"/>
          </a:xfrm>
          <a:prstGeom prst="rect">
            <a:avLst/>
          </a:prstGeom>
          <a:noFill/>
          <a:ln/>
        </p:spPr>
        <p:txBody>
          <a:bodyPr wrap="square" lIns="0" tIns="0" rIns="0" bIns="0" rtlCol="0" anchor="ctr"/>
          <a:lstStyle/>
          <a:p>
            <a:pPr indent="0" marL="0">
              <a:buNone/>
            </a:pPr>
            <a:r>
              <a:rPr lang="en-US" sz="4000" b="1" dirty="0">
                <a:solidFill>
                  <a:srgbClr val="1F1F2E"/>
                </a:solidFill>
                <a:latin typeface="Arial" pitchFamily="34" charset="0"/>
                <a:ea typeface="Arial" pitchFamily="34" charset="-122"/>
                <a:cs typeface="Arial" pitchFamily="34" charset="-120"/>
              </a:rPr>
              <a:t>59–88 %</a:t>
            </a:r>
            <a:endParaRPr lang="en-US" sz="4000" dirty="0"/>
          </a:p>
        </p:txBody>
      </p:sp>
      <p:sp>
        <p:nvSpPr>
          <p:cNvPr id="21" name="Text 19"/>
          <p:cNvSpPr txBox="1"/>
          <p:nvPr/>
        </p:nvSpPr>
        <p:spPr>
          <a:xfrm>
            <a:off x="777240" y="5532120"/>
            <a:ext cx="3063240" cy="274320"/>
          </a:xfrm>
          <a:prstGeom prst="rect">
            <a:avLst/>
          </a:prstGeom>
          <a:noFill/>
          <a:ln/>
        </p:spPr>
        <p:txBody>
          <a:bodyPr wrap="square" lIns="0" tIns="0" rIns="0" bIns="0" rtlCol="0" anchor="t"/>
          <a:lstStyle/>
          <a:p>
            <a:pPr indent="0" marL="0">
              <a:buNone/>
            </a:pPr>
            <a:r>
              <a:rPr lang="en-US" sz="1600" dirty="0">
                <a:solidFill>
                  <a:srgbClr val="1F1F2E"/>
                </a:solidFill>
                <a:latin typeface="Arial" pitchFamily="34" charset="0"/>
                <a:ea typeface="Arial" pitchFamily="34" charset="-122"/>
                <a:cs typeface="Arial" pitchFamily="34" charset="-120"/>
              </a:rPr>
              <a:t>of all 6,231 sites, in every storm</a:t>
            </a:r>
            <a:endParaRPr lang="en-US" sz="1600" dirty="0"/>
          </a:p>
        </p:txBody>
      </p:sp>
      <p:sp>
        <p:nvSpPr>
          <p:cNvPr id="22" name="Shape 20"/>
          <p:cNvSpPr/>
          <p:nvPr/>
        </p:nvSpPr>
        <p:spPr>
          <a:xfrm>
            <a:off x="4334256" y="3931920"/>
            <a:ext cx="7306056" cy="2011680"/>
          </a:xfrm>
          <a:prstGeom prst="roundRect">
            <a:avLst>
              <a:gd name="adj" fmla="val 3636"/>
            </a:avLst>
          </a:prstGeom>
          <a:solidFill>
            <a:srgbClr val="EFEBF9"/>
          </a:solidFill>
          <a:ln w="9525">
            <a:solidFill>
              <a:srgbClr val="D9D0F0"/>
            </a:solidFill>
            <a:prstDash val="solid"/>
          </a:ln>
        </p:spPr>
      </p:sp>
      <p:sp>
        <p:nvSpPr>
          <p:cNvPr id="23" name="Text 21"/>
          <p:cNvSpPr txBox="1"/>
          <p:nvPr/>
        </p:nvSpPr>
        <p:spPr>
          <a:xfrm>
            <a:off x="4572000" y="4114800"/>
            <a:ext cx="6858000" cy="1737360"/>
          </a:xfrm>
          <a:prstGeom prst="rect">
            <a:avLst/>
          </a:prstGeom>
          <a:noFill/>
          <a:ln/>
        </p:spPr>
        <p:txBody>
          <a:bodyPr wrap="square" lIns="0" tIns="0" rIns="0" bIns="0" rtlCol="0" anchor="t"/>
          <a:lstStyle/>
          <a:p>
            <a:pPr indent="0" marL="0">
              <a:spcAft>
                <a:spcPts val="1000"/>
              </a:spcAft>
              <a:buNone/>
            </a:pPr>
            <a:r>
              <a:rPr lang="en-US" sz="1500" b="1" dirty="0">
                <a:solidFill>
                  <a:srgbClr val="1F1F2E"/>
                </a:solidFill>
                <a:latin typeface="Arial" pitchFamily="34" charset="0"/>
                <a:ea typeface="Arial" pitchFamily="34" charset="-122"/>
                <a:cs typeface="Arial" pitchFamily="34" charset="-120"/>
              </a:rPr>
              <a:t>Same input → same answer. </a:t>
            </a:r>
            <a:pPr indent="0" marL="0">
              <a:spcAft>
                <a:spcPts val="1000"/>
              </a:spcAft>
              <a:buNone/>
            </a:pPr>
            <a:r>
              <a:rPr lang="en-US" sz="1500" dirty="0">
                <a:solidFill>
                  <a:srgbClr val="1F1F2E"/>
                </a:solidFill>
                <a:latin typeface="Arial" pitchFamily="34" charset="0"/>
                <a:ea typeface="Arial" pitchFamily="34" charset="-122"/>
                <a:cs typeface="Arial" pitchFamily="34" charset="-120"/>
              </a:rPr>
              <a:t>These sites get one average answer in every storm.</a:t>
            </a:r>
            <a:endParaRPr lang="en-US" sz="1500" dirty="0"/>
          </a:p>
          <a:p>
            <a:pPr indent="0" marL="0">
              <a:spcAft>
                <a:spcPts val="1000"/>
              </a:spcAft>
              <a:buNone/>
            </a:pPr>
            <a:r>
              <a:rPr lang="en-US" sz="1500" b="1" dirty="0">
                <a:solidFill>
                  <a:srgbClr val="1F1F2E"/>
                </a:solidFill>
                <a:latin typeface="Arial" pitchFamily="34" charset="0"/>
                <a:ea typeface="Arial" pitchFamily="34" charset="-122"/>
                <a:cs typeface="Arial" pitchFamily="34" charset="-120"/>
              </a:rPr>
              <a:t>Shown on the model itself: </a:t>
            </a:r>
            <a:pPr indent="0" marL="0">
              <a:spcAft>
                <a:spcPts val="1000"/>
              </a:spcAft>
              <a:buNone/>
            </a:pPr>
            <a:r>
              <a:rPr lang="en-US" sz="1500" dirty="0">
                <a:solidFill>
                  <a:srgbClr val="1F1F2E"/>
                </a:solidFill>
                <a:latin typeface="Arial" pitchFamily="34" charset="0"/>
                <a:ea typeface="Arial" pitchFamily="34" charset="-122"/>
                <a:cs typeface="Arial" pitchFamily="34" charset="-120"/>
              </a:rPr>
              <a:t>3,481 sites got identical outputs in a small and a large storm. 24 of them fail in the small storm, 610 in the large one.</a:t>
            </a:r>
            <a:endParaRPr lang="en-US" sz="1500" dirty="0"/>
          </a:p>
        </p:txBody>
      </p:sp>
      <p:sp>
        <p:nvSpPr>
          <p:cNvPr id="24" name="Text 22"/>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A cell tower in the Bronx is told nothing about whether Lower Manhattan is under water.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5 · THE NEW STRATEGY</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The fix: tell every site how big the storm is</a:t>
            </a:r>
            <a:endParaRPr lang="en-US" sz="2600" dirty="0"/>
          </a:p>
        </p:txBody>
      </p:sp>
      <p:sp>
        <p:nvSpPr>
          <p:cNvPr id="4" name="Shape 2"/>
          <p:cNvSpPr/>
          <p:nvPr/>
        </p:nvSpPr>
        <p:spPr>
          <a:xfrm>
            <a:off x="548640" y="1828800"/>
            <a:ext cx="4572000" cy="2377440"/>
          </a:xfrm>
          <a:prstGeom prst="roundRect">
            <a:avLst>
              <a:gd name="adj" fmla="val 3077"/>
            </a:avLst>
          </a:prstGeom>
          <a:solidFill>
            <a:srgbClr val="FFFFFF"/>
          </a:solidFill>
          <a:ln w="9525">
            <a:solidFill>
              <a:srgbClr val="D9D0F0"/>
            </a:solidFill>
            <a:prstDash val="solid"/>
          </a:ln>
        </p:spPr>
      </p:sp>
      <p:sp>
        <p:nvSpPr>
          <p:cNvPr id="5" name="Text 3"/>
          <p:cNvSpPr txBox="1"/>
          <p:nvPr/>
        </p:nvSpPr>
        <p:spPr>
          <a:xfrm>
            <a:off x="777240" y="1965960"/>
            <a:ext cx="4114800" cy="365760"/>
          </a:xfrm>
          <a:prstGeom prst="rect">
            <a:avLst/>
          </a:prstGeom>
          <a:noFill/>
          <a:ln/>
        </p:spPr>
        <p:txBody>
          <a:bodyPr wrap="square" lIns="0" tIns="0" rIns="0" bIns="0" rtlCol="0" anchor="ctr"/>
          <a:lstStyle/>
          <a:p>
            <a:pPr indent="0" marL="0">
              <a:buNone/>
            </a:pPr>
            <a:r>
              <a:rPr lang="en-US" sz="1500" b="1" dirty="0">
                <a:solidFill>
                  <a:srgbClr val="5B5B70"/>
                </a:solidFill>
                <a:latin typeface="Arial" pitchFamily="34" charset="0"/>
                <a:ea typeface="Arial" pitchFamily="34" charset="-122"/>
                <a:cs typeface="Arial" pitchFamily="34" charset="-120"/>
              </a:rPr>
              <a:t>Before</a:t>
            </a:r>
            <a:endParaRPr lang="en-US" sz="1500" dirty="0"/>
          </a:p>
        </p:txBody>
      </p:sp>
      <p:sp>
        <p:nvSpPr>
          <p:cNvPr id="6" name="Text 4"/>
          <p:cNvSpPr txBox="1"/>
          <p:nvPr/>
        </p:nvSpPr>
        <p:spPr>
          <a:xfrm>
            <a:off x="777240" y="2423160"/>
            <a:ext cx="4114800" cy="1554480"/>
          </a:xfrm>
          <a:prstGeom prst="rect">
            <a:avLst/>
          </a:prstGeom>
          <a:noFill/>
          <a:ln/>
        </p:spPr>
        <p:txBody>
          <a:bodyPr wrap="square" lIns="0" tIns="0" rIns="0" bIns="0" rtlCol="0" anchor="t"/>
          <a:lstStyle/>
          <a:p>
            <a:pPr indent="0" marL="0">
              <a:buNone/>
            </a:pPr>
            <a:r>
              <a:rPr lang="en-US" sz="2000" dirty="0">
                <a:solidFill>
                  <a:srgbClr val="1F1F2E"/>
                </a:solidFill>
                <a:latin typeface="Arial" pitchFamily="34" charset="0"/>
                <a:ea typeface="Arial" pitchFamily="34" charset="-122"/>
                <a:cs typeface="Arial" pitchFamily="34" charset="-120"/>
              </a:rPr>
              <a:t>Each site knows only what is within two links of it.</a:t>
            </a:r>
            <a:endParaRPr lang="en-US" sz="2000" dirty="0"/>
          </a:p>
        </p:txBody>
      </p:sp>
      <p:sp>
        <p:nvSpPr>
          <p:cNvPr id="7" name="Text 5"/>
          <p:cNvSpPr txBox="1"/>
          <p:nvPr/>
        </p:nvSpPr>
        <p:spPr>
          <a:xfrm>
            <a:off x="5212080" y="2560320"/>
            <a:ext cx="822960" cy="822960"/>
          </a:xfrm>
          <a:prstGeom prst="rect">
            <a:avLst/>
          </a:prstGeom>
          <a:noFill/>
          <a:ln/>
        </p:spPr>
        <p:txBody>
          <a:bodyPr wrap="square" lIns="0" tIns="0" rIns="0" bIns="0" rtlCol="0" anchor="ctr"/>
          <a:lstStyle/>
          <a:p>
            <a:pPr algn="ctr" indent="0" marL="0">
              <a:buNone/>
            </a:pPr>
            <a:r>
              <a:rPr lang="en-US" sz="4000" b="1" dirty="0">
                <a:solidFill>
                  <a:srgbClr val="4A3D7A"/>
                </a:solidFill>
                <a:latin typeface="Arial" pitchFamily="34" charset="0"/>
                <a:ea typeface="Arial" pitchFamily="34" charset="-122"/>
                <a:cs typeface="Arial" pitchFamily="34" charset="-120"/>
              </a:rPr>
              <a:t>→</a:t>
            </a:r>
            <a:endParaRPr lang="en-US" sz="4000" dirty="0"/>
          </a:p>
        </p:txBody>
      </p:sp>
      <p:sp>
        <p:nvSpPr>
          <p:cNvPr id="8" name="Shape 6"/>
          <p:cNvSpPr/>
          <p:nvPr/>
        </p:nvSpPr>
        <p:spPr>
          <a:xfrm>
            <a:off x="6126480" y="1828800"/>
            <a:ext cx="5513832" cy="2377440"/>
          </a:xfrm>
          <a:prstGeom prst="roundRect">
            <a:avLst>
              <a:gd name="adj" fmla="val 3077"/>
            </a:avLst>
          </a:prstGeom>
          <a:solidFill>
            <a:srgbClr val="EFEBF9"/>
          </a:solidFill>
          <a:ln w="9525">
            <a:solidFill>
              <a:srgbClr val="D9D0F0"/>
            </a:solidFill>
            <a:prstDash val="solid"/>
          </a:ln>
        </p:spPr>
      </p:sp>
      <p:sp>
        <p:nvSpPr>
          <p:cNvPr id="9" name="Text 7"/>
          <p:cNvSpPr txBox="1"/>
          <p:nvPr/>
        </p:nvSpPr>
        <p:spPr>
          <a:xfrm>
            <a:off x="6355080" y="1965960"/>
            <a:ext cx="502920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Now</a:t>
            </a:r>
            <a:endParaRPr lang="en-US" sz="1500" dirty="0"/>
          </a:p>
        </p:txBody>
      </p:sp>
      <p:sp>
        <p:nvSpPr>
          <p:cNvPr id="10" name="Text 8"/>
          <p:cNvSpPr txBox="1"/>
          <p:nvPr/>
        </p:nvSpPr>
        <p:spPr>
          <a:xfrm>
            <a:off x="6355080" y="2423160"/>
            <a:ext cx="5029200" cy="1554480"/>
          </a:xfrm>
          <a:prstGeom prst="rect">
            <a:avLst/>
          </a:prstGeom>
          <a:noFill/>
          <a:ln/>
        </p:spPr>
        <p:txBody>
          <a:bodyPr wrap="square" lIns="0" tIns="0" rIns="0" bIns="0" rtlCol="0" anchor="t"/>
          <a:lstStyle/>
          <a:p>
            <a:pPr indent="0" marL="0">
              <a:buNone/>
            </a:pPr>
            <a:r>
              <a:rPr lang="en-US" sz="2000" dirty="0">
                <a:solidFill>
                  <a:srgbClr val="1F1F2E"/>
                </a:solidFill>
                <a:latin typeface="Arial" pitchFamily="34" charset="0"/>
                <a:ea typeface="Arial" pitchFamily="34" charset="-122"/>
                <a:cs typeface="Arial" pitchFamily="34" charset="-120"/>
              </a:rPr>
              <a:t>Every site also gets </a:t>
            </a:r>
            <a:pPr indent="0" marL="0">
              <a:buNone/>
            </a:pPr>
            <a:r>
              <a:rPr lang="en-US" sz="2000" b="1" dirty="0">
                <a:solidFill>
                  <a:srgbClr val="1F1F2E"/>
                </a:solidFill>
                <a:latin typeface="Arial" pitchFamily="34" charset="0"/>
                <a:ea typeface="Arial" pitchFamily="34" charset="-122"/>
                <a:cs typeface="Arial" pitchFamily="34" charset="-120"/>
              </a:rPr>
              <a:t>7 numbers about the whole storm</a:t>
            </a:r>
            <a:pPr indent="0" marL="0">
              <a:buNone/>
            </a:pPr>
            <a:r>
              <a:rPr lang="en-US" sz="2000" dirty="0">
                <a:solidFill>
                  <a:srgbClr val="1F1F2E"/>
                </a:solidFill>
                <a:latin typeface="Arial" pitchFamily="34" charset="0"/>
                <a:ea typeface="Arial" pitchFamily="34" charset="-122"/>
                <a:cs typeface="Arial" pitchFamily="34" charset="-120"/>
              </a:rPr>
              <a:t>: how much of each of the six systems is flooded, and the total.</a:t>
            </a:r>
            <a:endParaRPr lang="en-US" sz="2000" dirty="0"/>
          </a:p>
        </p:txBody>
      </p:sp>
      <p:sp>
        <p:nvSpPr>
          <p:cNvPr id="11" name="Text 9"/>
          <p:cNvSpPr txBox="1"/>
          <p:nvPr/>
        </p:nvSpPr>
        <p:spPr>
          <a:xfrm>
            <a:off x="548640" y="4526280"/>
            <a:ext cx="11064240" cy="1463040"/>
          </a:xfrm>
          <a:prstGeom prst="rect">
            <a:avLst/>
          </a:prstGeom>
          <a:noFill/>
          <a:ln/>
        </p:spPr>
        <p:txBody>
          <a:bodyPr wrap="square" lIns="0" tIns="0" rIns="0" bIns="0" rtlCol="0" anchor="t"/>
          <a:lstStyle/>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Not giving it the answer: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the 7 numbers come only from the flood map. Nothing from the cascade outcome.</a:t>
            </a:r>
            <a:endParaRPr lang="en-US" sz="1700" dirty="0"/>
          </a:p>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Tested fairly: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5 predictions written down before training. Same 17 storms, same model, one switch on or off.</a:t>
            </a:r>
            <a:endParaRPr lang="en-US" sz="1700" dirty="0"/>
          </a:p>
        </p:txBody>
      </p:sp>
      <p:sp>
        <p:nvSpPr>
          <p:cNvPr id="12" name="Text 10"/>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Like telling every operator, before Sandy, how much of each system will be under water.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6 · WHAT THE NEW NUMBERS SAY</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It worked: predicted failures are now close to the simulator</a:t>
            </a:r>
            <a:endParaRPr lang="en-US" sz="2600" dirty="0"/>
          </a:p>
        </p:txBody>
      </p:sp>
      <p:graphicFrame>
        <p:nvGraphicFramePr>
          <p:cNvPr id="4" name="Chart 0" descr=""/>
          <p:cNvGraphicFramePr/>
          <p:nvPr/>
        </p:nvGraphicFramePr>
        <p:xfrm>
          <a:off x="548640" y="17373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737360"/>
            <a:ext cx="3959352" cy="1188720"/>
          </a:xfrm>
          <a:prstGeom prst="roundRect">
            <a:avLst>
              <a:gd name="adj" fmla="val 6154"/>
            </a:avLst>
          </a:prstGeom>
          <a:solidFill>
            <a:srgbClr val="EFEBF9"/>
          </a:solidFill>
          <a:ln w="9525">
            <a:solidFill>
              <a:srgbClr val="D9D0F0"/>
            </a:solidFill>
            <a:prstDash val="solid"/>
          </a:ln>
        </p:spPr>
      </p:sp>
      <p:sp>
        <p:nvSpPr>
          <p:cNvPr id="6" name="Text 3"/>
          <p:cNvSpPr txBox="1"/>
          <p:nvPr/>
        </p:nvSpPr>
        <p:spPr>
          <a:xfrm>
            <a:off x="7863840" y="1828800"/>
            <a:ext cx="3566160" cy="320040"/>
          </a:xfrm>
          <a:prstGeom prst="rect">
            <a:avLst/>
          </a:prstGeom>
          <a:noFill/>
          <a:ln/>
        </p:spPr>
        <p:txBody>
          <a:bodyPr wrap="square" lIns="0" tIns="0" rIns="0" bIns="0" rtlCol="0" anchor="ctr"/>
          <a:lstStyle/>
          <a:p>
            <a:pPr indent="0" marL="0">
              <a:buNone/>
            </a:pPr>
            <a:r>
              <a:rPr lang="en-US" sz="1300" b="1" dirty="0">
                <a:solidFill>
                  <a:srgbClr val="4A3D7A"/>
                </a:solidFill>
                <a:latin typeface="Arial" pitchFamily="34" charset="0"/>
                <a:ea typeface="Arial" pitchFamily="34" charset="-122"/>
                <a:cs typeface="Arial" pitchFamily="34" charset="-120"/>
              </a:rPr>
              <a:t>Count error</a:t>
            </a:r>
            <a:endParaRPr lang="en-US" sz="1300" dirty="0"/>
          </a:p>
        </p:txBody>
      </p:sp>
      <p:sp>
        <p:nvSpPr>
          <p:cNvPr id="7" name="Text 4"/>
          <p:cNvSpPr txBox="1"/>
          <p:nvPr/>
        </p:nvSpPr>
        <p:spPr>
          <a:xfrm>
            <a:off x="7863840" y="2176272"/>
            <a:ext cx="3566160" cy="640080"/>
          </a:xfrm>
          <a:prstGeom prst="rect">
            <a:avLst/>
          </a:prstGeom>
          <a:noFill/>
          <a:ln/>
        </p:spPr>
        <p:txBody>
          <a:bodyPr wrap="square" lIns="0" tIns="0" rIns="0" bIns="0" rtlCol="0" anchor="ctr"/>
          <a:lstStyle/>
          <a:p>
            <a:pPr indent="0" marL="0">
              <a:buNone/>
            </a:pPr>
            <a:r>
              <a:rPr lang="en-US" sz="2400" dirty="0">
                <a:solidFill>
                  <a:srgbClr val="5B5B70"/>
                </a:solidFill>
                <a:latin typeface="Arial" pitchFamily="34" charset="0"/>
                <a:ea typeface="Arial" pitchFamily="34" charset="-122"/>
                <a:cs typeface="Arial" pitchFamily="34" charset="-120"/>
              </a:rPr>
              <a:t>41–54 %  →  </a:t>
            </a:r>
            <a:pPr indent="0" marL="0">
              <a:buNone/>
            </a:pPr>
            <a:r>
              <a:rPr lang="en-US" sz="2400" b="1" dirty="0">
                <a:solidFill>
                  <a:srgbClr val="1F1F2E"/>
                </a:solidFill>
                <a:latin typeface="Arial" pitchFamily="34" charset="0"/>
                <a:ea typeface="Arial" pitchFamily="34" charset="-122"/>
                <a:cs typeface="Arial" pitchFamily="34" charset="-120"/>
              </a:rPr>
              <a:t>15–17 %</a:t>
            </a:r>
            <a:endParaRPr lang="en-US" sz="2400" dirty="0"/>
          </a:p>
        </p:txBody>
      </p:sp>
      <p:sp>
        <p:nvSpPr>
          <p:cNvPr id="8" name="Shape 5"/>
          <p:cNvSpPr/>
          <p:nvPr/>
        </p:nvSpPr>
        <p:spPr>
          <a:xfrm>
            <a:off x="7680960" y="3063240"/>
            <a:ext cx="3959352" cy="1188720"/>
          </a:xfrm>
          <a:prstGeom prst="roundRect">
            <a:avLst>
              <a:gd name="adj" fmla="val 6154"/>
            </a:avLst>
          </a:prstGeom>
          <a:solidFill>
            <a:srgbClr val="EFEBF9"/>
          </a:solidFill>
          <a:ln w="9525">
            <a:solidFill>
              <a:srgbClr val="D9D0F0"/>
            </a:solidFill>
            <a:prstDash val="solid"/>
          </a:ln>
        </p:spPr>
      </p:sp>
      <p:sp>
        <p:nvSpPr>
          <p:cNvPr id="9" name="Text 6"/>
          <p:cNvSpPr txBox="1"/>
          <p:nvPr/>
        </p:nvSpPr>
        <p:spPr>
          <a:xfrm>
            <a:off x="7863840" y="3154680"/>
            <a:ext cx="3566160" cy="320040"/>
          </a:xfrm>
          <a:prstGeom prst="rect">
            <a:avLst/>
          </a:prstGeom>
          <a:noFill/>
          <a:ln/>
        </p:spPr>
        <p:txBody>
          <a:bodyPr wrap="square" lIns="0" tIns="0" rIns="0" bIns="0" rtlCol="0" anchor="ctr"/>
          <a:lstStyle/>
          <a:p>
            <a:pPr indent="0" marL="0">
              <a:buNone/>
            </a:pPr>
            <a:r>
              <a:rPr lang="en-US" sz="1300" b="1" dirty="0">
                <a:solidFill>
                  <a:srgbClr val="4A3D7A"/>
                </a:solidFill>
                <a:latin typeface="Arial" pitchFamily="34" charset="0"/>
                <a:ea typeface="Arial" pitchFamily="34" charset="-122"/>
                <a:cs typeface="Arial" pitchFamily="34" charset="-120"/>
              </a:rPr>
              <a:t>Small storm</a:t>
            </a:r>
            <a:endParaRPr lang="en-US" sz="1300" dirty="0"/>
          </a:p>
        </p:txBody>
      </p:sp>
      <p:sp>
        <p:nvSpPr>
          <p:cNvPr id="10" name="Text 7"/>
          <p:cNvSpPr txBox="1"/>
          <p:nvPr/>
        </p:nvSpPr>
        <p:spPr>
          <a:xfrm>
            <a:off x="7863840" y="3502152"/>
            <a:ext cx="3566160" cy="640080"/>
          </a:xfrm>
          <a:prstGeom prst="rect">
            <a:avLst/>
          </a:prstGeom>
          <a:noFill/>
          <a:ln/>
        </p:spPr>
        <p:txBody>
          <a:bodyPr wrap="square" lIns="0" tIns="0" rIns="0" bIns="0" rtlCol="0" anchor="ctr"/>
          <a:lstStyle/>
          <a:p>
            <a:pPr indent="0" marL="0">
              <a:buNone/>
            </a:pPr>
            <a:r>
              <a:rPr lang="en-US" sz="2400" dirty="0">
                <a:solidFill>
                  <a:srgbClr val="5B5B70"/>
                </a:solidFill>
                <a:latin typeface="Arial" pitchFamily="34" charset="0"/>
                <a:ea typeface="Arial" pitchFamily="34" charset="-122"/>
                <a:cs typeface="Arial" pitchFamily="34" charset="-120"/>
              </a:rPr>
              <a:t>3–4 times  →  </a:t>
            </a:r>
            <a:pPr indent="0" marL="0">
              <a:buNone/>
            </a:pPr>
            <a:r>
              <a:rPr lang="en-US" sz="2400" b="1" dirty="0">
                <a:solidFill>
                  <a:srgbClr val="1F1F2E"/>
                </a:solidFill>
                <a:latin typeface="Arial" pitchFamily="34" charset="0"/>
                <a:ea typeface="Arial" pitchFamily="34" charset="-122"/>
                <a:cs typeface="Arial" pitchFamily="34" charset="-120"/>
              </a:rPr>
              <a:t>1.1 times</a:t>
            </a:r>
            <a:endParaRPr lang="en-US" sz="2400" dirty="0"/>
          </a:p>
        </p:txBody>
      </p:sp>
      <p:sp>
        <p:nvSpPr>
          <p:cNvPr id="11" name="Shape 8"/>
          <p:cNvSpPr/>
          <p:nvPr/>
        </p:nvSpPr>
        <p:spPr>
          <a:xfrm>
            <a:off x="7680960" y="4389120"/>
            <a:ext cx="3959352" cy="1188720"/>
          </a:xfrm>
          <a:prstGeom prst="roundRect">
            <a:avLst>
              <a:gd name="adj" fmla="val 6154"/>
            </a:avLst>
          </a:prstGeom>
          <a:solidFill>
            <a:srgbClr val="EFEBF9"/>
          </a:solidFill>
          <a:ln w="9525">
            <a:solidFill>
              <a:srgbClr val="D9D0F0"/>
            </a:solidFill>
            <a:prstDash val="solid"/>
          </a:ln>
        </p:spPr>
      </p:sp>
      <p:sp>
        <p:nvSpPr>
          <p:cNvPr id="12" name="Text 9"/>
          <p:cNvSpPr txBox="1"/>
          <p:nvPr/>
        </p:nvSpPr>
        <p:spPr>
          <a:xfrm>
            <a:off x="7863840" y="4480560"/>
            <a:ext cx="3566160" cy="320040"/>
          </a:xfrm>
          <a:prstGeom prst="rect">
            <a:avLst/>
          </a:prstGeom>
          <a:noFill/>
          <a:ln/>
        </p:spPr>
        <p:txBody>
          <a:bodyPr wrap="square" lIns="0" tIns="0" rIns="0" bIns="0" rtlCol="0" anchor="ctr"/>
          <a:lstStyle/>
          <a:p>
            <a:pPr indent="0" marL="0">
              <a:buNone/>
            </a:pPr>
            <a:r>
              <a:rPr lang="en-US" sz="1300" b="1" dirty="0">
                <a:solidFill>
                  <a:srgbClr val="4A3D7A"/>
                </a:solidFill>
                <a:latin typeface="Arial" pitchFamily="34" charset="0"/>
                <a:ea typeface="Arial" pitchFamily="34" charset="-122"/>
                <a:cs typeface="Arial" pitchFamily="34" charset="-120"/>
              </a:rPr>
              <a:t>Wins against the lookup table</a:t>
            </a:r>
            <a:endParaRPr lang="en-US" sz="1300" dirty="0"/>
          </a:p>
        </p:txBody>
      </p:sp>
      <p:sp>
        <p:nvSpPr>
          <p:cNvPr id="13" name="Text 10"/>
          <p:cNvSpPr txBox="1"/>
          <p:nvPr/>
        </p:nvSpPr>
        <p:spPr>
          <a:xfrm>
            <a:off x="7863840" y="4828032"/>
            <a:ext cx="3566160" cy="640080"/>
          </a:xfrm>
          <a:prstGeom prst="rect">
            <a:avLst/>
          </a:prstGeom>
          <a:noFill/>
          <a:ln/>
        </p:spPr>
        <p:txBody>
          <a:bodyPr wrap="square" lIns="0" tIns="0" rIns="0" bIns="0" rtlCol="0" anchor="ctr"/>
          <a:lstStyle/>
          <a:p>
            <a:pPr indent="0" marL="0">
              <a:buNone/>
            </a:pPr>
            <a:r>
              <a:rPr lang="en-US" sz="2400" dirty="0">
                <a:solidFill>
                  <a:srgbClr val="5B5B70"/>
                </a:solidFill>
                <a:latin typeface="Arial" pitchFamily="34" charset="0"/>
                <a:ea typeface="Arial" pitchFamily="34" charset="-122"/>
                <a:cs typeface="Arial" pitchFamily="34" charset="-120"/>
              </a:rPr>
              <a:t>7 of 24  →  </a:t>
            </a:r>
            <a:pPr indent="0" marL="0">
              <a:buNone/>
            </a:pPr>
            <a:r>
              <a:rPr lang="en-US" sz="2400" b="1" dirty="0">
                <a:solidFill>
                  <a:srgbClr val="1F1F2E"/>
                </a:solidFill>
                <a:latin typeface="Arial" pitchFamily="34" charset="0"/>
                <a:ea typeface="Arial" pitchFamily="34" charset="-122"/>
                <a:cs typeface="Arial" pitchFamily="34" charset="-120"/>
              </a:rPr>
              <a:t>23 of 24</a:t>
            </a:r>
            <a:endParaRPr lang="en-US" sz="2400" dirty="0"/>
          </a:p>
        </p:txBody>
      </p:sp>
      <p:sp>
        <p:nvSpPr>
          <p:cNvPr id="14" name="Text 11"/>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All five written predictions passed, and the model now beats the lookup table.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7 · ASK 2: MORE STORMS</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48 new storms from Gwyn's model, chosen by a rule written in advance</a:t>
            </a:r>
            <a:endParaRPr lang="en-US" sz="2600" dirty="0"/>
          </a:p>
        </p:txBody>
      </p:sp>
      <p:graphicFrame>
        <p:nvGraphicFramePr>
          <p:cNvPr id="4" name="Chart 0" descr=""/>
          <p:cNvGraphicFramePr/>
          <p:nvPr/>
        </p:nvGraphicFramePr>
        <p:xfrm>
          <a:off x="548640" y="17373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920240"/>
            <a:ext cx="3931920" cy="3931920"/>
          </a:xfrm>
          <a:prstGeom prst="rect">
            <a:avLst/>
          </a:prstGeom>
          <a:noFill/>
          <a:ln/>
        </p:spPr>
        <p:txBody>
          <a:bodyPr wrap="square" lIns="0" tIns="0" rIns="0" bIns="0" rtlCol="0" anchor="t"/>
          <a:lstStyle/>
          <a:p>
            <a:pPr indent="0" marL="0">
              <a:spcAft>
                <a:spcPts val="1600"/>
              </a:spcAft>
              <a:buNone/>
            </a:pPr>
            <a:r>
              <a:rPr lang="en-US" sz="1700" b="1" dirty="0">
                <a:solidFill>
                  <a:srgbClr val="1F1F2E"/>
                </a:solidFill>
                <a:latin typeface="Arial" pitchFamily="34" charset="0"/>
                <a:ea typeface="Arial" pitchFamily="34" charset="-122"/>
                <a:cs typeface="Arial" pitchFamily="34" charset="-120"/>
              </a:rPr>
              <a:t>48 = 40 + 8. </a:t>
            </a:r>
            <a:pPr indent="0" marL="0">
              <a:spcAft>
                <a:spcPts val="1600"/>
              </a:spcAft>
              <a:buNone/>
            </a:pPr>
            <a:r>
              <a:rPr lang="en-US" sz="1700" dirty="0">
                <a:solidFill>
                  <a:srgbClr val="1F1F2E"/>
                </a:solidFill>
                <a:latin typeface="Arial" pitchFamily="34" charset="0"/>
                <a:ea typeface="Arial" pitchFamily="34" charset="-122"/>
                <a:cs typeface="Arial" pitchFamily="34" charset="-120"/>
              </a:rPr>
              <a:t>40 to train on, 8 the model never sees.</a:t>
            </a:r>
            <a:endParaRPr lang="en-US" sz="1700" dirty="0"/>
          </a:p>
          <a:p>
            <a:pPr indent="0" marL="0">
              <a:spcAft>
                <a:spcPts val="1600"/>
              </a:spcAft>
              <a:buNone/>
            </a:pPr>
            <a:r>
              <a:rPr lang="en-US" sz="1700" b="1" dirty="0">
                <a:solidFill>
                  <a:srgbClr val="1F1F2E"/>
                </a:solidFill>
                <a:latin typeface="Arial" pitchFamily="34" charset="0"/>
                <a:ea typeface="Arial" pitchFamily="34" charset="-122"/>
                <a:cs typeface="Arial" pitchFamily="34" charset="-120"/>
              </a:rPr>
              <a:t>1,000 simulator runs </a:t>
            </a:r>
            <a:pPr indent="0" marL="0">
              <a:spcAft>
                <a:spcPts val="1600"/>
              </a:spcAft>
              <a:buNone/>
            </a:pPr>
            <a:r>
              <a:rPr lang="en-US" sz="1700" dirty="0">
                <a:solidFill>
                  <a:srgbClr val="1F1F2E"/>
                </a:solidFill>
                <a:latin typeface="Arial" pitchFamily="34" charset="0"/>
                <a:ea typeface="Arial" pitchFamily="34" charset="-122"/>
                <a:cs typeface="Arial" pitchFamily="34" charset="-120"/>
              </a:rPr>
              <a:t>on every storm. All finished, all checks passed.</a:t>
            </a:r>
            <a:endParaRPr lang="en-US" sz="1700" dirty="0"/>
          </a:p>
          <a:p>
            <a:pPr indent="0" marL="0">
              <a:spcAft>
                <a:spcPts val="1600"/>
              </a:spcAft>
              <a:buNone/>
            </a:pPr>
            <a:r>
              <a:rPr lang="en-US" sz="1700" b="1" dirty="0">
                <a:solidFill>
                  <a:srgbClr val="1F1F2E"/>
                </a:solidFill>
                <a:latin typeface="Arial" pitchFamily="34" charset="0"/>
                <a:ea typeface="Arial" pitchFamily="34" charset="-122"/>
                <a:cs typeface="Arial" pitchFamily="34" charset="-120"/>
              </a:rPr>
              <a:t>Bigger storms: </a:t>
            </a:r>
            <a:pPr indent="0" marL="0">
              <a:spcAft>
                <a:spcPts val="1600"/>
              </a:spcAft>
              <a:buNone/>
            </a:pPr>
            <a:r>
              <a:rPr lang="en-US" sz="1700" dirty="0">
                <a:solidFill>
                  <a:srgbClr val="1F1F2E"/>
                </a:solidFill>
                <a:latin typeface="Arial" pitchFamily="34" charset="0"/>
                <a:ea typeface="Arial" pitchFamily="34" charset="-122"/>
                <a:cs typeface="Arial" pitchFamily="34" charset="-120"/>
              </a:rPr>
              <a:t>up to 4.6 m. The old training storms stopped at 3.6 m.</a:t>
            </a:r>
            <a:endParaRPr lang="en-US" sz="1700" dirty="0"/>
          </a:p>
          <a:p>
            <a:pPr indent="0" marL="0">
              <a:spcAft>
                <a:spcPts val="1600"/>
              </a:spcAft>
              <a:buNone/>
            </a:pPr>
            <a:r>
              <a:rPr lang="en-US" sz="1700" b="1" dirty="0">
                <a:solidFill>
                  <a:srgbClr val="1F1F2E"/>
                </a:solidFill>
                <a:latin typeface="Arial" pitchFamily="34" charset="0"/>
                <a:ea typeface="Arial" pitchFamily="34" charset="-122"/>
                <a:cs typeface="Arial" pitchFamily="34" charset="-120"/>
              </a:rPr>
              <a:t>Size and speed separated: </a:t>
            </a:r>
            <a:pPr indent="0" marL="0">
              <a:spcAft>
                <a:spcPts val="1600"/>
              </a:spcAft>
              <a:buNone/>
            </a:pPr>
            <a:r>
              <a:rPr lang="en-US" sz="1700" dirty="0">
                <a:solidFill>
                  <a:srgbClr val="1F1F2E"/>
                </a:solidFill>
                <a:latin typeface="Arial" pitchFamily="34" charset="0"/>
                <a:ea typeface="Arial" pitchFamily="34" charset="-122"/>
                <a:cs typeface="Arial" pitchFamily="34" charset="-120"/>
              </a:rPr>
              <a:t>in the old storms the big ones were always the slow ones.</a:t>
            </a:r>
            <a:endParaRPr lang="en-US" sz="1700" dirty="0"/>
          </a:p>
        </p:txBody>
      </p:sp>
      <p:sp>
        <p:nvSpPr>
          <p:cNvPr id="6" name="Text 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Grey dots: big storms were always slow. Purple dots: fast and slow at every size.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8 · OLD STORMS AGAINST OLD + NEW</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Each step lowers the error. Together they cut it by half</a:t>
            </a:r>
            <a:endParaRPr lang="en-US" sz="2600" dirty="0"/>
          </a:p>
        </p:txBody>
      </p:sp>
      <p:graphicFrame>
        <p:nvGraphicFramePr>
          <p:cNvPr id="4" name="Chart 0" descr=""/>
          <p:cNvGraphicFramePr/>
          <p:nvPr/>
        </p:nvGraphicFramePr>
        <p:xfrm>
          <a:off x="548640" y="17373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828800"/>
            <a:ext cx="3931920" cy="3200400"/>
          </a:xfrm>
          <a:prstGeom prst="rect">
            <a:avLst/>
          </a:prstGeom>
          <a:noFill/>
          <a:ln/>
        </p:spPr>
        <p:txBody>
          <a:bodyPr wrap="square" lIns="0" tIns="0" rIns="0" bIns="0" rtlCol="0" anchor="t"/>
          <a:lstStyle/>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More storms help,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most for storms bigger than any in the old set (26–44 % lower there).</a:t>
            </a:r>
            <a:endParaRPr lang="en-US" sz="1700" dirty="0"/>
          </a:p>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But not enough alone: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the lookup table (red) is still better.</a:t>
            </a:r>
            <a:endParaRPr lang="en-US" sz="1700" dirty="0"/>
          </a:p>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With the storm-size input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the model gets under the lookup. With both, error is about half.</a:t>
            </a:r>
            <a:endParaRPr lang="en-US" sz="1700" dirty="0"/>
          </a:p>
        </p:txBody>
      </p:sp>
      <p:sp>
        <p:nvSpPr>
          <p:cNvPr id="6" name="Shape 3"/>
          <p:cNvSpPr/>
          <p:nvPr/>
        </p:nvSpPr>
        <p:spPr>
          <a:xfrm>
            <a:off x="7680960" y="5074920"/>
            <a:ext cx="3959352" cy="868680"/>
          </a:xfrm>
          <a:prstGeom prst="roundRect">
            <a:avLst>
              <a:gd name="adj" fmla="val 8421"/>
            </a:avLst>
          </a:prstGeom>
          <a:solidFill>
            <a:srgbClr val="FFFFFF"/>
          </a:solidFill>
          <a:ln w="9525">
            <a:solidFill>
              <a:srgbClr val="D9D0F0"/>
            </a:solidFill>
            <a:prstDash val="solid"/>
          </a:ln>
        </p:spPr>
      </p:sp>
      <p:sp>
        <p:nvSpPr>
          <p:cNvPr id="7" name="Text 4"/>
          <p:cNvSpPr txBox="1"/>
          <p:nvPr/>
        </p:nvSpPr>
        <p:spPr>
          <a:xfrm>
            <a:off x="7818120" y="5120640"/>
            <a:ext cx="3703320" cy="777240"/>
          </a:xfrm>
          <a:prstGeom prst="rect">
            <a:avLst/>
          </a:prstGeom>
          <a:noFill/>
          <a:ln/>
        </p:spPr>
        <p:txBody>
          <a:bodyPr wrap="square" lIns="0" tIns="0" rIns="0" bIns="0" rtlCol="0" anchor="ctr"/>
          <a:lstStyle/>
          <a:p>
            <a:pPr indent="0" marL="0">
              <a:buNone/>
            </a:pPr>
            <a:r>
              <a:rPr lang="en-US" sz="1250" b="1" dirty="0">
                <a:solidFill>
                  <a:srgbClr val="B5443C"/>
                </a:solidFill>
                <a:latin typeface="Arial" pitchFamily="34" charset="0"/>
                <a:ea typeface="Arial" pitchFamily="34" charset="-122"/>
                <a:cs typeface="Arial" pitchFamily="34" charset="-120"/>
              </a:rPr>
              <a:t>Interim. </a:t>
            </a:r>
            <a:pPr indent="0" marL="0">
              <a:buNone/>
            </a:pPr>
            <a:r>
              <a:rPr lang="en-US" sz="1250" dirty="0">
                <a:solidFill>
                  <a:srgbClr val="1F1F2E"/>
                </a:solidFill>
                <a:latin typeface="Arial" pitchFamily="34" charset="0"/>
                <a:ea typeface="Arial" pitchFamily="34" charset="-122"/>
                <a:cs typeface="Arial" pitchFamily="34" charset="-120"/>
              </a:rPr>
              <a:t>One training run each. The run using all new simulator runs was cancelled by the cluster.</a:t>
            </a:r>
            <a:endParaRPr lang="en-US" sz="1250" dirty="0"/>
          </a:p>
        </p:txBody>
      </p:sp>
      <p:sp>
        <p:nvSpPr>
          <p:cNvPr id="8" name="Text 5"/>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Read the bars left to right as a staircase. The red bar is the one to beat.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9 · WHERE WE ARE NOW</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The model now gets which, when and how many. Three things are still open</a:t>
            </a:r>
            <a:endParaRPr lang="en-US" sz="2600" dirty="0"/>
          </a:p>
        </p:txBody>
      </p:sp>
      <p:sp>
        <p:nvSpPr>
          <p:cNvPr id="4" name="Shape 2"/>
          <p:cNvSpPr/>
          <p:nvPr/>
        </p:nvSpPr>
        <p:spPr>
          <a:xfrm>
            <a:off x="548640" y="1828800"/>
            <a:ext cx="5394960" cy="4023360"/>
          </a:xfrm>
          <a:prstGeom prst="roundRect">
            <a:avLst>
              <a:gd name="adj" fmla="val 1818"/>
            </a:avLst>
          </a:prstGeom>
          <a:solidFill>
            <a:srgbClr val="EFEBF9"/>
          </a:solidFill>
          <a:ln w="9525">
            <a:solidFill>
              <a:srgbClr val="D9D0F0"/>
            </a:solidFill>
            <a:prstDash val="solid"/>
          </a:ln>
        </p:spPr>
      </p:sp>
      <p:sp>
        <p:nvSpPr>
          <p:cNvPr id="5" name="Text 3"/>
          <p:cNvSpPr txBox="1"/>
          <p:nvPr/>
        </p:nvSpPr>
        <p:spPr>
          <a:xfrm>
            <a:off x="777240" y="1965960"/>
            <a:ext cx="4937760" cy="411480"/>
          </a:xfrm>
          <a:prstGeom prst="rect">
            <a:avLst/>
          </a:prstGeom>
          <a:noFill/>
          <a:ln/>
        </p:spPr>
        <p:txBody>
          <a:bodyPr wrap="square" lIns="0" tIns="0" rIns="0" bIns="0" rtlCol="0" anchor="ctr"/>
          <a:lstStyle/>
          <a:p>
            <a:pPr indent="0" marL="0">
              <a:buNone/>
            </a:pPr>
            <a:r>
              <a:rPr lang="en-US" sz="1700" b="1" dirty="0">
                <a:solidFill>
                  <a:srgbClr val="4A3D7A"/>
                </a:solidFill>
                <a:latin typeface="Arial" pitchFamily="34" charset="0"/>
                <a:ea typeface="Arial" pitchFamily="34" charset="-122"/>
                <a:cs typeface="Arial" pitchFamily="34" charset="-120"/>
              </a:rPr>
              <a:t>What we know now</a:t>
            </a:r>
            <a:endParaRPr lang="en-US" sz="1700" dirty="0"/>
          </a:p>
        </p:txBody>
      </p:sp>
      <p:sp>
        <p:nvSpPr>
          <p:cNvPr id="6" name="Text 4"/>
          <p:cNvSpPr txBox="1"/>
          <p:nvPr/>
        </p:nvSpPr>
        <p:spPr>
          <a:xfrm>
            <a:off x="777240" y="2514600"/>
            <a:ext cx="4937760" cy="3200400"/>
          </a:xfrm>
          <a:prstGeom prst="rect">
            <a:avLst/>
          </a:prstGeom>
          <a:noFill/>
          <a:ln/>
        </p:spPr>
        <p:txBody>
          <a:bodyPr wrap="square" lIns="0" tIns="0" rIns="0" bIns="0" rtlCol="0" anchor="t"/>
          <a:lstStyle/>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The model was missing one fact: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the size of the storm. Giving it fixes the count.</a:t>
            </a:r>
            <a:endParaRPr lang="en-US" sz="1900" dirty="0"/>
          </a:p>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It now beats the lookup table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in 23 of 24 comparisons.</a:t>
            </a:r>
            <a:endParaRPr lang="en-US" sz="1900" dirty="0"/>
          </a:p>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More storms help most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for storms bigger than any it had seen.</a:t>
            </a:r>
            <a:endParaRPr lang="en-US" sz="1900" dirty="0"/>
          </a:p>
        </p:txBody>
      </p:sp>
      <p:sp>
        <p:nvSpPr>
          <p:cNvPr id="7" name="Shape 5"/>
          <p:cNvSpPr/>
          <p:nvPr/>
        </p:nvSpPr>
        <p:spPr>
          <a:xfrm>
            <a:off x="6245352" y="1828800"/>
            <a:ext cx="5394960" cy="4023360"/>
          </a:xfrm>
          <a:prstGeom prst="roundRect">
            <a:avLst>
              <a:gd name="adj" fmla="val 1818"/>
            </a:avLst>
          </a:prstGeom>
          <a:solidFill>
            <a:srgbClr val="FFFFFF"/>
          </a:solidFill>
          <a:ln w="9525">
            <a:solidFill>
              <a:srgbClr val="D9D0F0"/>
            </a:solidFill>
            <a:prstDash val="solid"/>
          </a:ln>
        </p:spPr>
      </p:sp>
      <p:sp>
        <p:nvSpPr>
          <p:cNvPr id="8" name="Text 6"/>
          <p:cNvSpPr txBox="1"/>
          <p:nvPr/>
        </p:nvSpPr>
        <p:spPr>
          <a:xfrm>
            <a:off x="6473952" y="1965960"/>
            <a:ext cx="4937760" cy="411480"/>
          </a:xfrm>
          <a:prstGeom prst="rect">
            <a:avLst/>
          </a:prstGeom>
          <a:noFill/>
          <a:ln/>
        </p:spPr>
        <p:txBody>
          <a:bodyPr wrap="square" lIns="0" tIns="0" rIns="0" bIns="0" rtlCol="0" anchor="ctr"/>
          <a:lstStyle/>
          <a:p>
            <a:pPr indent="0" marL="0">
              <a:buNone/>
            </a:pPr>
            <a:r>
              <a:rPr lang="en-US" sz="1700" b="1" dirty="0">
                <a:solidFill>
                  <a:srgbClr val="B5443C"/>
                </a:solidFill>
                <a:latin typeface="Arial" pitchFamily="34" charset="0"/>
                <a:ea typeface="Arial" pitchFamily="34" charset="-122"/>
                <a:cs typeface="Arial" pitchFamily="34" charset="-120"/>
              </a:rPr>
              <a:t>Still open</a:t>
            </a:r>
            <a:endParaRPr lang="en-US" sz="1700" dirty="0"/>
          </a:p>
        </p:txBody>
      </p:sp>
      <p:sp>
        <p:nvSpPr>
          <p:cNvPr id="9" name="Text 7"/>
          <p:cNvSpPr txBox="1"/>
          <p:nvPr/>
        </p:nvSpPr>
        <p:spPr>
          <a:xfrm>
            <a:off x="6473952" y="2514600"/>
            <a:ext cx="4937760" cy="3200400"/>
          </a:xfrm>
          <a:prstGeom prst="rect">
            <a:avLst/>
          </a:prstGeom>
          <a:noFill/>
          <a:ln/>
        </p:spPr>
        <p:txBody>
          <a:bodyPr wrap="square" lIns="0" tIns="0" rIns="0" bIns="0" rtlCol="0" anchor="t"/>
          <a:lstStyle/>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Old + new is interim: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one run each, and one training set was cancelled by the cluster.</a:t>
            </a:r>
            <a:endParaRPr lang="en-US" sz="1900" dirty="0"/>
          </a:p>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Smallest storms: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with 57 storms and the fix, the two smallest are over-counted by 26–57 %.</a:t>
            </a:r>
            <a:endParaRPr lang="en-US" sz="1900" dirty="0"/>
          </a:p>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Dynamic labels: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the GeoClaw map is still 13–17 % low.</a:t>
            </a:r>
            <a:endParaRPr lang="en-US" sz="1900" dirty="0"/>
          </a:p>
        </p:txBody>
      </p:sp>
      <p:sp>
        <p:nvSpPr>
          <p:cNvPr id="10" name="Text 8"/>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The main result is solid: two runs each, predictions written first. The old-against-new part is interim.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10 · NEXT</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600" b="1" dirty="0">
                <a:solidFill>
                  <a:srgbClr val="1F1F2E"/>
                </a:solidFill>
                <a:latin typeface="Arial" pitchFamily="34" charset="0"/>
                <a:ea typeface="Arial" pitchFamily="34" charset="-122"/>
                <a:cs typeface="Arial" pitchFamily="34" charset="-120"/>
              </a:rPr>
              <a:t>Next steps, and four decisions I need from you</a:t>
            </a:r>
            <a:endParaRPr lang="en-US" sz="2600" dirty="0"/>
          </a:p>
        </p:txBody>
      </p:sp>
      <p:sp>
        <p:nvSpPr>
          <p:cNvPr id="4" name="Shape 2"/>
          <p:cNvSpPr/>
          <p:nvPr/>
        </p:nvSpPr>
        <p:spPr>
          <a:xfrm>
            <a:off x="548640" y="1828800"/>
            <a:ext cx="5394960" cy="4023360"/>
          </a:xfrm>
          <a:prstGeom prst="roundRect">
            <a:avLst>
              <a:gd name="adj" fmla="val 1818"/>
            </a:avLst>
          </a:prstGeom>
          <a:solidFill>
            <a:srgbClr val="EFEBF9"/>
          </a:solidFill>
          <a:ln w="9525">
            <a:solidFill>
              <a:srgbClr val="D9D0F0"/>
            </a:solidFill>
            <a:prstDash val="solid"/>
          </a:ln>
        </p:spPr>
      </p:sp>
      <p:sp>
        <p:nvSpPr>
          <p:cNvPr id="5" name="Text 3"/>
          <p:cNvSpPr txBox="1"/>
          <p:nvPr/>
        </p:nvSpPr>
        <p:spPr>
          <a:xfrm>
            <a:off x="777240" y="1965960"/>
            <a:ext cx="4937760" cy="411480"/>
          </a:xfrm>
          <a:prstGeom prst="rect">
            <a:avLst/>
          </a:prstGeom>
          <a:noFill/>
          <a:ln/>
        </p:spPr>
        <p:txBody>
          <a:bodyPr wrap="square" lIns="0" tIns="0" rIns="0" bIns="0" rtlCol="0" anchor="ctr"/>
          <a:lstStyle/>
          <a:p>
            <a:pPr indent="0" marL="0">
              <a:buNone/>
            </a:pPr>
            <a:r>
              <a:rPr lang="en-US" sz="1700" b="1" dirty="0">
                <a:solidFill>
                  <a:srgbClr val="4A3D7A"/>
                </a:solidFill>
                <a:latin typeface="Arial" pitchFamily="34" charset="0"/>
                <a:ea typeface="Arial" pitchFamily="34" charset="-122"/>
                <a:cs typeface="Arial" pitchFamily="34" charset="-120"/>
              </a:rPr>
              <a:t>Next steps</a:t>
            </a:r>
            <a:endParaRPr lang="en-US" sz="1700" dirty="0"/>
          </a:p>
        </p:txBody>
      </p:sp>
      <p:sp>
        <p:nvSpPr>
          <p:cNvPr id="6" name="Text 4"/>
          <p:cNvSpPr txBox="1"/>
          <p:nvPr/>
        </p:nvSpPr>
        <p:spPr>
          <a:xfrm>
            <a:off x="777240" y="2514600"/>
            <a:ext cx="4937760" cy="3200400"/>
          </a:xfrm>
          <a:prstGeom prst="rect">
            <a:avLst/>
          </a:prstGeom>
          <a:noFill/>
          <a:ln/>
        </p:spPr>
        <p:txBody>
          <a:bodyPr wrap="square" lIns="0" tIns="0" rIns="0" bIns="0" rtlCol="0" anchor="t"/>
          <a:lstStyle/>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1.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Finish the old + new comparison: the cancelled runs and a second run of each.</a:t>
            </a:r>
            <a:endParaRPr lang="en-US" sz="1900" dirty="0"/>
          </a:p>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2.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Make the storm summary follow the clock, hour by hour.</a:t>
            </a:r>
            <a:endParaRPr lang="en-US" sz="1900" dirty="0"/>
          </a:p>
          <a:p>
            <a:pPr indent="0" marL="0">
              <a:spcAft>
                <a:spcPts val="2200"/>
              </a:spcAft>
              <a:buNone/>
            </a:pPr>
            <a:r>
              <a:rPr lang="en-US" sz="1900" b="1" dirty="0">
                <a:solidFill>
                  <a:srgbClr val="1F1F2E"/>
                </a:solidFill>
                <a:latin typeface="Arial" pitchFamily="34" charset="0"/>
                <a:ea typeface="Arial" pitchFamily="34" charset="-122"/>
                <a:cs typeface="Arial" pitchFamily="34" charset="-120"/>
              </a:rPr>
              <a:t>3. </a:t>
            </a:r>
            <a:pPr indent="0" marL="0">
              <a:spcAft>
                <a:spcPts val="2200"/>
              </a:spcAft>
              <a:buNone/>
            </a:pPr>
            <a:r>
              <a:rPr lang="en-US" sz="1900" dirty="0">
                <a:solidFill>
                  <a:srgbClr val="1F1F2E"/>
                </a:solidFill>
                <a:latin typeface="Arial" pitchFamily="34" charset="0"/>
                <a:ea typeface="Arial" pitchFamily="34" charset="-122"/>
                <a:cs typeface="Arial" pitchFamily="34" charset="-120"/>
              </a:rPr>
              <a:t>Test on flood maps with new patterns, not only bigger ones.</a:t>
            </a:r>
            <a:endParaRPr lang="en-US" sz="1900" dirty="0"/>
          </a:p>
        </p:txBody>
      </p:sp>
      <p:sp>
        <p:nvSpPr>
          <p:cNvPr id="7" name="Shape 5"/>
          <p:cNvSpPr/>
          <p:nvPr/>
        </p:nvSpPr>
        <p:spPr>
          <a:xfrm>
            <a:off x="6245352" y="1828800"/>
            <a:ext cx="5394960" cy="4023360"/>
          </a:xfrm>
          <a:prstGeom prst="roundRect">
            <a:avLst>
              <a:gd name="adj" fmla="val 1818"/>
            </a:avLst>
          </a:prstGeom>
          <a:solidFill>
            <a:srgbClr val="EFEBF9"/>
          </a:solidFill>
          <a:ln w="9525">
            <a:solidFill>
              <a:srgbClr val="D9D0F0"/>
            </a:solidFill>
            <a:prstDash val="solid"/>
          </a:ln>
        </p:spPr>
      </p:sp>
      <p:sp>
        <p:nvSpPr>
          <p:cNvPr id="8" name="Text 6"/>
          <p:cNvSpPr txBox="1"/>
          <p:nvPr/>
        </p:nvSpPr>
        <p:spPr>
          <a:xfrm>
            <a:off x="6473952" y="1965960"/>
            <a:ext cx="4937760" cy="411480"/>
          </a:xfrm>
          <a:prstGeom prst="rect">
            <a:avLst/>
          </a:prstGeom>
          <a:noFill/>
          <a:ln/>
        </p:spPr>
        <p:txBody>
          <a:bodyPr wrap="square" lIns="0" tIns="0" rIns="0" bIns="0" rtlCol="0" anchor="ctr"/>
          <a:lstStyle/>
          <a:p>
            <a:pPr indent="0" marL="0">
              <a:buNone/>
            </a:pPr>
            <a:r>
              <a:rPr lang="en-US" sz="1700" b="1" dirty="0">
                <a:solidFill>
                  <a:srgbClr val="4A3D7A"/>
                </a:solidFill>
                <a:latin typeface="Arial" pitchFamily="34" charset="0"/>
                <a:ea typeface="Arial" pitchFamily="34" charset="-122"/>
                <a:cs typeface="Arial" pitchFamily="34" charset="-120"/>
              </a:rPr>
              <a:t>Decisions</a:t>
            </a:r>
            <a:endParaRPr lang="en-US" sz="1700" dirty="0"/>
          </a:p>
        </p:txBody>
      </p:sp>
      <p:sp>
        <p:nvSpPr>
          <p:cNvPr id="9" name="Text 7"/>
          <p:cNvSpPr txBox="1"/>
          <p:nvPr/>
        </p:nvSpPr>
        <p:spPr>
          <a:xfrm>
            <a:off x="6473952" y="2514600"/>
            <a:ext cx="4937760" cy="3291840"/>
          </a:xfrm>
          <a:prstGeom prst="rect">
            <a:avLst/>
          </a:prstGeom>
          <a:noFill/>
          <a:ln/>
        </p:spPr>
        <p:txBody>
          <a:bodyPr wrap="square" lIns="0" tIns="0" rIns="0" bIns="0" rtlCol="0" anchor="t"/>
          <a:lstStyle/>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Surge clock: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keep it at the flood's peak, or start at first arrival of water?</a:t>
            </a:r>
            <a:endParaRPr lang="en-US" sz="1700" dirty="0"/>
          </a:p>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Week 23 numbers: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quote them "on a 6-hour grid", or rerun on a 3-hour grid?</a:t>
            </a:r>
            <a:endParaRPr lang="en-US" sz="1700" dirty="0"/>
          </a:p>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Reporting rule: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tipping share always quoted with its grid.</a:t>
            </a:r>
            <a:endParaRPr lang="en-US" sz="1700" dirty="0"/>
          </a:p>
          <a:p>
            <a:pPr indent="0" marL="0">
              <a:spcAft>
                <a:spcPts val="1400"/>
              </a:spcAft>
              <a:buNone/>
            </a:pPr>
            <a:r>
              <a:rPr lang="en-US" sz="1700" b="1" dirty="0">
                <a:solidFill>
                  <a:srgbClr val="1F1F2E"/>
                </a:solidFill>
                <a:latin typeface="Arial" pitchFamily="34" charset="0"/>
                <a:ea typeface="Arial" pitchFamily="34" charset="-122"/>
                <a:cs typeface="Arial" pitchFamily="34" charset="-120"/>
              </a:rPr>
              <a:t>New: </a:t>
            </a:r>
            <a:pPr indent="0" marL="0">
              <a:spcAft>
                <a:spcPts val="1400"/>
              </a:spcAft>
              <a:buNone/>
            </a:pPr>
            <a:r>
              <a:rPr lang="en-US" sz="1700" dirty="0">
                <a:solidFill>
                  <a:srgbClr val="1F1F2E"/>
                </a:solidFill>
                <a:latin typeface="Arial" pitchFamily="34" charset="0"/>
                <a:ea typeface="Arial" pitchFamily="34" charset="-122"/>
                <a:cs typeface="Arial" pitchFamily="34" charset="-120"/>
              </a:rPr>
              <a:t>Gwyn's depth tables are in the public repo. Is that acceptable?</a:t>
            </a:r>
            <a:endParaRPr lang="en-US" sz="1700" dirty="0"/>
          </a:p>
        </p:txBody>
      </p:sp>
      <p:sp>
        <p:nvSpPr>
          <p:cNvPr id="10" name="Text 8"/>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Three next steps. Then stop and wait for the four answers.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29: numbers, a fix, and new storms</dc:title>
  <dc:subject>PptxGenJS Presentation</dc:subject>
  <dc:creator>PptxGenJS</dc:creator>
  <cp:lastModifiedBy>PptxGenJS</cp:lastModifiedBy>
  <cp:revision>1</cp:revision>
  <dcterms:created xsi:type="dcterms:W3CDTF">2026-10-08T11:41:41Z</dcterms:created>
  <dcterms:modified xsi:type="dcterms:W3CDTF">2026-10-08T11:41:41Z</dcterms:modified>
</cp:coreProperties>
</file>