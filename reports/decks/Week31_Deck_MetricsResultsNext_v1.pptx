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1F2E"/>
                </a:solidFill>
                <a:latin typeface="Arial"/>
              </a:defRPr>
            </a:pPr>
            <a:r>
              <a:rPr sz="1300" b="0" i="0" u="none" strike="noStrike">
                <a:solidFill>
                  <a:srgbClr val="1F1F2E"/>
                </a:solidFill>
                <a:latin typeface="Arial"/>
              </a:rPr>
              <a:t>Log loss on the 5 unseen storms above the old range (static labels, mask inputs; lower is better)</a:t>
            </a:r>
          </a:p>
        </c:rich>
      </c:tx>
      <c:layout/>
      <c:overlay val="0"/>
    </c:title>
    <c:autoTitleDeleted val="0"/>
    <c:plotArea>
      <c:layout/>
      <c:barChart>
        <c:barDir val="col"/>
        <c:grouping val="clustered"/>
        <c:varyColors val="0"/>
        <c:ser>
          <c:idx val="0"/>
          <c:order val="0"/>
          <c:tx>
            <c:strRef>
              <c:f>Sheet1!$B$1</c:f>
              <c:strCache>
                <c:ptCount val="1"/>
                <c:pt idx="0">
                  <c:v>17 storms</c:v>
                </c:pt>
              </c:strCache>
            </c:strRef>
          </c:tx>
          <c:spPr>
            <a:solidFill>
              <a:srgbClr val="8A8A99"/>
            </a:solidFill>
            <a:effectLst/>
          </c:spPr>
          <c:invertIfNegative val="0"/>
          <c:dLbls>
            <c:numFmt formatCode="0.000" sourceLinked="0"/>
            <c:txPr>
              <a:bodyPr/>
              <a:lstStyle/>
              <a:p>
                <a:pPr>
                  <a:defRPr b="0" i="0" strike="noStrike" sz="1100" u="none">
                    <a:solidFill>
                      <a:srgbClr val="1F1F2E"/>
                    </a:solidFill>
                    <a:latin typeface="Arial"/>
                  </a:defRPr>
                </a:pPr>
              </a:p>
            </c:txPr>
            <c:showLegendKey val="0"/>
            <c:showVal val="1"/>
            <c:showCatName val="0"/>
            <c:showSerName val="0"/>
            <c:showPercent val="0"/>
            <c:showBubbleSize val="0"/>
            <c:showLeaderLines val="0"/>
          </c:dLbls>
          <c:cat>
            <c:multiLvlStrRef>
              <c:f>Sheet1!$A$2:$A$6</c:f>
              <c:multiLvlStrCache>
                <c:ptCount val="5"/>
                <c:lvl>
                  <c:pt idx="0">
                    <c:v>3.75 m</c:v>
                  </c:pt>
                  <c:pt idx="1">
                    <c:v>3.80 m</c:v>
                  </c:pt>
                  <c:pt idx="2">
                    <c:v>4.13 m</c:v>
                  </c:pt>
                  <c:pt idx="3">
                    <c:v>4.46 m</c:v>
                  </c:pt>
                  <c:pt idx="4">
                    <c:v>4.72 m</c:v>
                  </c:pt>
                </c:lvl>
              </c:multiLvlStrCache>
            </c:multiLvlStrRef>
          </c:cat>
          <c:val>
            <c:numRef>
              <c:f>Sheet1!$B$2:$B$6</c:f>
              <c:numCache>
                <c:formatCode>General</c:formatCode>
                <c:ptCount val="5"/>
                <c:pt idx="0">
                  <c:v>0.114</c:v>
                </c:pt>
                <c:pt idx="1">
                  <c:v>0.118</c:v>
                </c:pt>
                <c:pt idx="2">
                  <c:v>0.132</c:v>
                </c:pt>
                <c:pt idx="3">
                  <c:v>0.155</c:v>
                </c:pt>
                <c:pt idx="4">
                  <c:v>0.199</c:v>
                </c:pt>
              </c:numCache>
            </c:numRef>
          </c:val>
        </c:ser>
        <c:ser>
          <c:idx val="1"/>
          <c:order val="1"/>
          <c:tx>
            <c:strRef>
              <c:f>Sheet1!$C$1</c:f>
              <c:strCache>
                <c:ptCount val="1"/>
                <c:pt idx="0">
                  <c:v>57 storms</c:v>
                </c:pt>
              </c:strCache>
            </c:strRef>
          </c:tx>
          <c:spPr>
            <a:solidFill>
              <a:srgbClr val="4A3D7A"/>
            </a:solidFill>
            <a:effectLst/>
          </c:spPr>
          <c:invertIfNegative val="0"/>
          <c:dLbls>
            <c:numFmt formatCode="0.000" sourceLinked="0"/>
            <c:txPr>
              <a:bodyPr/>
              <a:lstStyle/>
              <a:p>
                <a:pPr>
                  <a:defRPr b="0" i="0" strike="noStrike" sz="1100" u="none">
                    <a:solidFill>
                      <a:srgbClr val="1F1F2E"/>
                    </a:solidFill>
                    <a:latin typeface="Arial"/>
                  </a:defRPr>
                </a:pPr>
              </a:p>
            </c:txPr>
            <c:showLegendKey val="0"/>
            <c:showVal val="1"/>
            <c:showCatName val="0"/>
            <c:showSerName val="0"/>
            <c:showPercent val="0"/>
            <c:showBubbleSize val="0"/>
            <c:showLeaderLines val="0"/>
          </c:dLbls>
          <c:cat>
            <c:multiLvlStrRef>
              <c:f>Sheet1!$A$2:$A$6</c:f>
              <c:multiLvlStrCache>
                <c:ptCount val="5"/>
                <c:lvl>
                  <c:pt idx="0">
                    <c:v>3.75 m</c:v>
                  </c:pt>
                  <c:pt idx="1">
                    <c:v>3.80 m</c:v>
                  </c:pt>
                  <c:pt idx="2">
                    <c:v>4.13 m</c:v>
                  </c:pt>
                  <c:pt idx="3">
                    <c:v>4.46 m</c:v>
                  </c:pt>
                  <c:pt idx="4">
                    <c:v>4.72 m</c:v>
                  </c:pt>
                </c:lvl>
              </c:multiLvlStrCache>
            </c:multiLvlStrRef>
          </c:cat>
          <c:val>
            <c:numRef>
              <c:f>Sheet1!$C$2:$C$6</c:f>
              <c:numCache>
                <c:formatCode>General</c:formatCode>
                <c:ptCount val="5"/>
                <c:pt idx="0">
                  <c:v>0.078</c:v>
                </c:pt>
                <c:pt idx="1">
                  <c:v>0.078</c:v>
                </c:pt>
                <c:pt idx="2">
                  <c:v>0.079</c:v>
                </c:pt>
                <c:pt idx="3">
                  <c:v>0.091</c:v>
                </c:pt>
                <c:pt idx="4">
                  <c:v>0.124</c:v>
                </c:pt>
              </c:numCache>
            </c:numRef>
          </c:val>
        </c:ser>
        <c:dLbls>
          <c:numFmt formatCode="0.000" sourceLinked="0"/>
          <c:txPr>
            <a:bodyPr/>
            <a:lstStyle/>
            <a:p>
              <a:pPr>
                <a:defRPr b="0" i="0" strike="noStrike" sz="1100" u="none">
                  <a:solidFill>
                    <a:srgbClr val="1F1F2E"/>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1F2E"/>
                </a:solidFill>
                <a:latin typeface="Arial"/>
              </a:defRPr>
            </a:pPr>
            <a:endParaRPr lang="en-US"/>
          </a:p>
        </c:txPr>
        <c:crossAx val="2094734552"/>
        <c:crosses val="autoZero"/>
        <c:auto val="1"/>
        <c:lblAlgn val="ctr"/>
        <c:noMultiLvlLbl val="1"/>
      </c:catAx>
      <c:valAx>
        <c:axId val="2094734552"/>
        <c:scaling>
          <c:orientation val="minMax"/>
          <c:max val="0.22"/>
          <c:min val="0"/>
        </c:scaling>
        <c:delete val="0"/>
        <c:axPos val="l"/>
        <c:majorGridlines>
          <c:spPr>
            <a:ln w="6350" cap="flat">
              <a:solidFill>
                <a:srgbClr val="E4E2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5B70"/>
                </a:solidFill>
                <a:latin typeface="Arial"/>
              </a:defRPr>
            </a:pPr>
            <a:endParaRPr lang="en-US"/>
          </a:p>
        </c:txPr>
        <c:crossAx val="2094734554"/>
        <c:crosses val="autoZero"/>
        <c:crossBetween val="between"/>
        <c:majorUnit val="0.05"/>
      </c:valAx>
      <c:spPr>
        <a:noFill/>
        <a:ln>
          <a:noFill/>
        </a:ln>
        <a:effectLst/>
      </c:spPr>
    </c:plotArea>
    <c:legend>
      <c:legendPos val="b"/>
      <c:overlay val="0"/>
      <c:txPr>
        <a:bodyPr/>
        <a:lstStyle/>
        <a:p>
          <a:pPr>
            <a:defRPr sz="1200">
              <a:solidFill>
                <a:srgbClr val="1F1F2E"/>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1F2E"/>
                </a:solidFill>
                <a:latin typeface="Arial"/>
              </a:defRPr>
            </a:pPr>
            <a:r>
              <a:rPr sz="1300" b="0" i="0" u="none" strike="noStrike">
                <a:solidFill>
                  <a:srgbClr val="1F1F2E"/>
                </a:solidFill>
                <a:latin typeface="Arial"/>
              </a:rPr>
              <a:t>Change in log loss, 57 storms vs 17, on the 7 unseen storms inside the old range (static, mask)</a:t>
            </a:r>
          </a:p>
        </c:rich>
      </c:tx>
      <c:layout/>
      <c:overlay val="0"/>
    </c:title>
    <c:autoTitleDeleted val="0"/>
    <c:plotArea>
      <c:layout/>
      <c:barChart>
        <c:barDir val="col"/>
        <c:grouping val="clustered"/>
        <c:varyColors val="0"/>
        <c:ser>
          <c:idx val="0"/>
          <c:order val="0"/>
          <c:tx>
            <c:strRef>
              <c:f>Sheet1!$B$1</c:f>
              <c:strCache>
                <c:ptCount val="1"/>
                <c:pt idx="0">
                  <c:v>change</c:v>
                </c:pt>
              </c:strCache>
            </c:strRef>
          </c:tx>
          <c:spPr>
            <a:solidFill>
              <a:srgbClr val="B5443C"/>
            </a:solidFill>
            <a:effectLst/>
          </c:spPr>
          <c:invertIfNegative val="0"/>
          <c:dLbls>
            <c:numFmt formatCode="+0;-0" sourceLinked="0"/>
            <c:txPr>
              <a:bodyPr/>
              <a:lstStyle/>
              <a:p>
                <a:pPr>
                  <a:defRPr b="0" i="0" strike="noStrike" sz="1100" u="none">
                    <a:solidFill>
                      <a:srgbClr val="1F1F2E"/>
                    </a:solidFill>
                    <a:latin typeface="Arial"/>
                  </a:defRPr>
                </a:pPr>
              </a:p>
            </c:txPr>
            <c:showLegendKey val="0"/>
            <c:showVal val="1"/>
            <c:showCatName val="0"/>
            <c:showSerName val="0"/>
            <c:showPercent val="0"/>
            <c:showBubbleSize val="0"/>
            <c:showLeaderLines val="0"/>
          </c:dLbls>
          <c:dPt>
            <c:idx val="0"/>
            <c:invertIfNegative val="0"/>
            <c:bubble3D val="0"/>
            <c:spPr>
              <a:solidFill>
                <a:srgbClr val="B5443C"/>
              </a:solidFill>
              <a:effectLst/>
            </c:spPr>
          </c:dPt>
          <c:dPt>
            <c:idx val="1"/>
            <c:invertIfNegative val="0"/>
            <c:bubble3D val="0"/>
            <c:spPr>
              <a:solidFill>
                <a:srgbClr val="B5443C"/>
              </a:solidFill>
              <a:effectLst/>
            </c:spPr>
          </c:dPt>
          <c:dPt>
            <c:idx val="2"/>
            <c:invertIfNegative val="0"/>
            <c:bubble3D val="0"/>
            <c:spPr>
              <a:solidFill>
                <a:srgbClr val="B5443C"/>
              </a:solidFill>
              <a:effectLst/>
            </c:spPr>
          </c:dPt>
          <c:dPt>
            <c:idx val="3"/>
            <c:invertIfNegative val="0"/>
            <c:bubble3D val="0"/>
            <c:spPr>
              <a:solidFill>
                <a:srgbClr val="4A3D7A"/>
              </a:solidFill>
              <a:effectLst/>
            </c:spPr>
          </c:dPt>
          <c:dPt>
            <c:idx val="4"/>
            <c:invertIfNegative val="0"/>
            <c:bubble3D val="0"/>
            <c:spPr>
              <a:solidFill>
                <a:srgbClr val="4A3D7A"/>
              </a:solidFill>
              <a:effectLst/>
            </c:spPr>
          </c:dPt>
          <c:dPt>
            <c:idx val="5"/>
            <c:invertIfNegative val="0"/>
            <c:bubble3D val="0"/>
            <c:spPr>
              <a:solidFill>
                <a:srgbClr val="4A3D7A"/>
              </a:solidFill>
              <a:effectLst/>
            </c:spPr>
          </c:dPt>
          <c:dPt>
            <c:idx val="6"/>
            <c:invertIfNegative val="0"/>
            <c:bubble3D val="0"/>
            <c:spPr>
              <a:solidFill>
                <a:srgbClr val="4A3D7A"/>
              </a:solidFill>
              <a:effectLst/>
            </c:spPr>
          </c:dPt>
          <c:cat>
            <c:multiLvlStrRef>
              <c:f>Sheet1!$A$2:$A$8</c:f>
              <c:multiLvlStrCache>
                <c:ptCount val="7"/>
                <c:lvl>
                  <c:pt idx="0">
                    <c:v>2.10 m</c:v>
                  </c:pt>
                  <c:pt idx="1">
                    <c:v>2.17 m</c:v>
                  </c:pt>
                  <c:pt idx="2">
                    <c:v>2.44 m</c:v>
                  </c:pt>
                  <c:pt idx="3">
                    <c:v>2.78 m</c:v>
                  </c:pt>
                  <c:pt idx="4">
                    <c:v>3.12 m</c:v>
                  </c:pt>
                  <c:pt idx="5">
                    <c:v>3.37 m</c:v>
                  </c:pt>
                  <c:pt idx="6">
                    <c:v>3.46 m</c:v>
                  </c:pt>
                </c:lvl>
              </c:multiLvlStrCache>
            </c:multiLvlStrRef>
          </c:cat>
          <c:val>
            <c:numRef>
              <c:f>Sheet1!$B$2:$B$8</c:f>
              <c:numCache>
                <c:formatCode>General</c:formatCode>
                <c:ptCount val="7"/>
                <c:pt idx="0">
                  <c:v>60.3</c:v>
                </c:pt>
                <c:pt idx="1">
                  <c:v>59.6</c:v>
                </c:pt>
                <c:pt idx="2">
                  <c:v>4.3</c:v>
                </c:pt>
                <c:pt idx="3">
                  <c:v>-13.7</c:v>
                </c:pt>
                <c:pt idx="4">
                  <c:v>-18.2</c:v>
                </c:pt>
                <c:pt idx="5">
                  <c:v>-19.9</c:v>
                </c:pt>
                <c:pt idx="6">
                  <c:v>-21.3</c:v>
                </c:pt>
              </c:numCache>
            </c:numRef>
          </c:val>
        </c:ser>
        <c:dLbls>
          <c:numFmt formatCode="+0;-0" sourceLinked="0"/>
          <c:txPr>
            <a:bodyPr/>
            <a:lstStyle/>
            <a:p>
              <a:pPr>
                <a:defRPr b="0" i="0" strike="noStrike" sz="1100" u="none">
                  <a:solidFill>
                    <a:srgbClr val="1F1F2E"/>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1F2E"/>
                </a:solidFill>
                <a:latin typeface="Arial"/>
              </a:defRPr>
            </a:pPr>
            <a:endParaRPr lang="en-US"/>
          </a:p>
        </c:txPr>
        <c:crossAx val="2094734552"/>
        <c:crosses val="autoZero"/>
        <c:auto val="1"/>
        <c:lblAlgn val="ctr"/>
        <c:noMultiLvlLbl val="1"/>
      </c:catAx>
      <c:valAx>
        <c:axId val="2094734552"/>
        <c:scaling>
          <c:orientation val="minMax"/>
          <c:max val="70"/>
          <c:min val="-30"/>
        </c:scaling>
        <c:delete val="0"/>
        <c:axPos val="l"/>
        <c:majorGridlines>
          <c:spPr>
            <a:ln w="6350" cap="flat">
              <a:solidFill>
                <a:srgbClr val="E4E2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5B70"/>
                </a:solidFill>
                <a:latin typeface="Arial"/>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today. First, how we score the fast model, because the numbers only make sense once the four metrics are clear; I will keep each one to a small worked example. Second, the result of the more-storms experiment that finished last week: thirteen storms the model never saw, forty-eight trained models, nine predictions written down before training. Third, the next model we discussed with Dr. Lin: one pass from the flood map to failure probabilities, with no sampling.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setting. Three training sets: the seventeen old storms we always had; fifty-seven storms, which is the seventeen plus forty new ones from Gwyn's model, but using only the same thirteen thousand six hundred runs, so the amount of training is equal and only the variety changes; and fifty-seven storms with all forty-five thousand runs. The test is thirteen storms the model never saw: five old, eight new, and five of them larger than anything in the old training set. Every combination was trained twice from different random starts, with and without the storm-size input, so forty-eight models. And nine predictions were written on the sixth of October before any of this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metric, log loss. For every site and every horizon the model gives a probability; the simulator says what happened. The penalty is small when the model was confident and right, large when confident and wrong, medium when it hedged at fifty percent. The only way to score well is to give the true probability, so this rewards honesty about uncertainty, not just being right. We average it over four horizons, a thousand runs and all non-seed sites; seeds are given to the model, so they are excluded. Lower is better. Typical values: three to six hundredths on an easy static storm, one to three tenths under arrival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metric, count error. A probability per site becomes a count by adding the probabilities: point nine plus point seven plus point three plus point one is two expected failures out of these four. Not exactly two, and not which two; over a hundred repeats you would see about two hundred site failures, two per repeat. Count error then compares the expected count with the simulator's actual count, run by run, and divides by the total: five hundredths means five percent off, point five means off by half, three means wildly wrong. The predicted-over-simulated ratio is the signed version: three point two eight means three times too many; one point zero nine means nine percent too 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two metrics that look at different things. Average precision sorts the sites from most to least likely to fail and asks whether the ones that really failed are at the top: one is perfect, point nine good, point nine seven very good. It ignores the values and only looks at the order. Calibration error asks the opposite: when the model says thirty percent, do about thirty percent really fail? Put the predictions into ten bins; in the thirty-to-forty bin here the model said thirty-five on average and twenty percent failed, a gap of fifteen points. ECE is that gap averaged over the bins. Below two hundredths the probabilities can be read literally. One caution: it is an average, so one badly-off bin can hide.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Fourth, something new this week: the floor. Here are three of the thousand simulator runs of one medium storm. Same storm, same map; in run one the cascade tipped to fifteen hundred failures, in runs two and three it stopped near three hundred fifty. The random backup draws decide. Now, any predictor that knows the storm but not that run's dice has to give the same count for every run, and the best single number is the median run. Even that best possible answer is off by half here, because the runs themselves are split. That is the floor, zero point five for this storm. For big storms it is one to four percent, for the smallest fourteen to twenty-seven. So each model should be judged against the floor of its storm, not against zero. One nuance: our model does see each run's seeds, so it can go slightly under the floor; it never sees the buffers.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yardsticks before the numbers. The lookup table is a baseline with no learning: for a new storm, reuse the failure frequencies of the training storm with the closest water level. It is very strong on GISSR maps because those maps are nested, and weak on a map with a different shape. Second, every setting was trained twice from different random starts, and a win only counts as clear if both starts agree. Third, nine predictions were written into the scoring script before training; the script prints pass or miss, and we report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result. These are the five unseen storms larger than anything in the old training set. Grey is the model trained on seventeen storms, purple on fifty-seven. Every bar drops, by a third on average, and the same is true in all four variants. The fifty-seven-storm set with the same number of runs does exactly the same, so the gain comes from the variety of storms; using all forty-five thousand runs adds only one percent on top. Predictions M1, M2 and M7 all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result, and the one to understand. Inside the old range the average change was small, which is what prediction M3 asked for — but look at the storms one by one. The two smallest got sixty percent worse; everything from two point eight metres up got thirteen to twenty-one percent better. The reason: without a storm-size input, a site with no flooded site within two links receives the same input in every storm, so it answers with its average failure rate over training. Forty new, mostly larger, storms raised that average, so small storms are now over-counted three to five times. Not overfitting; a data-mix effect on a model that cannot see the storm's size. That is also why M4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scorecard. Six passed, three missed. M4 we just saw. M6 missed in the good direction: I predicted the GeoClaw map, which comes from a different flood model, would not benefit from GISSR storms; it improved in all four variants. The model learns cascade physics, not footprints. L1 missed on its wording — one variant had eight of twelve instead of nine — but its substance held: without a storm-size input, the lookup table is still the better predictor on most GISSR storms.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Fourth result, the headline. Add the storm-size input — seven numbers computed from the seeds that tell every site how big the storm is — and keep the fifty-seven storms. The loss drops by a third to a half compared with no size input, on all thirteen storms in every variant, and the model is now ahead of the lookup table on twelve of thirteen storms in every variant, where before it won two to five. More storms still help with the size input, above the old range. One honest note: no prediction was registered for this variant, so these are descriptive numbers, not a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Fifth result, the new one. For each unseen storm: the floor, then the lookup, the model without the size input, and the model with it. Read down the last column against the first: with the size input the model is within four hundredths of the floor on twelve of thirteen storms under static labels. The one exception is the smallest old storm, over-counted by about a quarter. The tipping storm in row three is at its floor of one half for everybody — that is the storm's behaviour, not a model failure. Without the size input, the model sits well above the floor on every big storm and three to four above it on the smallest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Sixth: the two metrics that look at the probabilities differently. Ranking quality is point nine seven to point nine eight with the size input, and even the worst storm is at point eight nine — the failing sites are at the top of the list. Calibration error is below one hundredth under static labels, so a thirty percent can be read as thirty percent. Under arrival labels it is two to three hundredths on average and up to seven on the worst storm, so there the probabilities should be read with more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still open. One: the smallest old storm is over-counted by about a quarter even with the size input; not fixed, not understood. Two: the GeoClaw map under arrival labels is hard for every method, and it is the only map with a different spatial pattern — which is the strongest argument for more such maps. Three: thirteen test storms on nested maps means we cannot yet claim generalisation across flood maps. Four: nothing was pre-registered for the size-input variant. Five: a small bookkeeping item in the inference wrapper.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comes next. Today's model answers a conditional question — given these flooded sites, who else fails — and needs a hundred sampled seed sets to give a storm-level answer. The direct model answers the storm-level question in one pass. Three things change. One training example is one storm instead of one run. The inputs are the flood map itself: depth, the fragility probability from the Hazus curve, the expected number of flooded sites, timing; no seed bit, nothing sampled. The target is the storm's thousand-run probability per site, which we already have for all seventy storms. The output is composed so the flood part is exact and the network learns only the cascade part: if a site has a fifty percent chance of being flooded out and the network says sixty percent for the cascade, the total is eighty. Nothing else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will test it. Same thirteen unseen storms, scored against the simulator's own probabilities, against three baselines — fragility only, the lookup, and today's two-stage model — and against the simulator's disagreement with itself, which is the floor at storm level. The important curve is training size: seventeen, thirty-seven, fifty-seven storms. If the error keeps falling, more maps are worth generating; if it flattens, the limit is diversity of maps, not their number, and that is Dr. Lin's few-hundred-maps question answered with data. Predictions are frozen before training; twenty-four runs, under an hour each; verdicts Monday. Four things I need from you: the split, the predictions, flood-map sources, and whether to drop the no-size-input 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463040"/>
            <a:ext cx="11064240" cy="1463040"/>
          </a:xfrm>
          <a:prstGeom prst="rect">
            <a:avLst/>
          </a:prstGeom>
          <a:noFill/>
          <a:ln/>
        </p:spPr>
        <p:txBody>
          <a:bodyPr wrap="square" lIns="0" tIns="0" rIns="0" bIns="0" rtlCol="0" anchor="t"/>
          <a:lstStyle/>
          <a:p>
            <a:pPr indent="0" marL="0">
              <a:buNone/>
            </a:pPr>
            <a:r>
              <a:rPr lang="en-US" sz="3400" b="1" dirty="0">
                <a:solidFill>
                  <a:srgbClr val="1F1F2E"/>
                </a:solidFill>
                <a:latin typeface="Arial" pitchFamily="34" charset="0"/>
                <a:ea typeface="Arial" pitchFamily="34" charset="-122"/>
                <a:cs typeface="Arial" pitchFamily="34" charset="-120"/>
              </a:rPr>
              <a:t>The more-storms run: what the numbers mean, and what comes next</a:t>
            </a:r>
            <a:endParaRPr lang="en-US" sz="3400" dirty="0"/>
          </a:p>
        </p:txBody>
      </p:sp>
      <p:sp>
        <p:nvSpPr>
          <p:cNvPr id="3" name="Text 1"/>
          <p:cNvSpPr txBox="1"/>
          <p:nvPr/>
        </p:nvSpPr>
        <p:spPr>
          <a:xfrm>
            <a:off x="548640" y="2926080"/>
            <a:ext cx="11064240" cy="457200"/>
          </a:xfrm>
          <a:prstGeom prst="rect">
            <a:avLst/>
          </a:prstGeom>
          <a:noFill/>
          <a:ln/>
        </p:spPr>
        <p:txBody>
          <a:bodyPr wrap="square" lIns="0" tIns="0" rIns="0" bIns="0" rtlCol="0" anchor="ctr"/>
          <a:lstStyle/>
          <a:p>
            <a:pPr indent="0" marL="0">
              <a:buNone/>
            </a:pPr>
            <a:r>
              <a:rPr lang="en-US" sz="1600" dirty="0">
                <a:solidFill>
                  <a:srgbClr val="5B5B70"/>
                </a:solidFill>
                <a:latin typeface="Arial" pitchFamily="34" charset="0"/>
                <a:ea typeface="Arial" pitchFamily="34" charset="-122"/>
                <a:cs typeface="Arial" pitchFamily="34" charset="-120"/>
              </a:rPr>
              <a:t>Lab meeting · Thursday 23 October 2026 · Tanmay Jain</a:t>
            </a:r>
            <a:endParaRPr lang="en-US" sz="1600" dirty="0"/>
          </a:p>
        </p:txBody>
      </p:sp>
      <p:sp>
        <p:nvSpPr>
          <p:cNvPr id="4" name="Shape 2"/>
          <p:cNvSpPr/>
          <p:nvPr/>
        </p:nvSpPr>
        <p:spPr>
          <a:xfrm>
            <a:off x="548640" y="3749040"/>
            <a:ext cx="3520440" cy="1737360"/>
          </a:xfrm>
          <a:prstGeom prst="roundRect">
            <a:avLst>
              <a:gd name="adj" fmla="val 4211"/>
            </a:avLst>
          </a:prstGeom>
          <a:solidFill>
            <a:srgbClr val="EFEBF9"/>
          </a:solidFill>
          <a:ln w="9525">
            <a:solidFill>
              <a:srgbClr val="D9D0F0"/>
            </a:solidFill>
            <a:prstDash val="solid"/>
          </a:ln>
        </p:spPr>
      </p:sp>
      <p:sp>
        <p:nvSpPr>
          <p:cNvPr id="5" name="Text 3"/>
          <p:cNvSpPr txBox="1"/>
          <p:nvPr/>
        </p:nvSpPr>
        <p:spPr>
          <a:xfrm>
            <a:off x="777240" y="3886200"/>
            <a:ext cx="731520" cy="731520"/>
          </a:xfrm>
          <a:prstGeom prst="rect">
            <a:avLst/>
          </a:prstGeom>
          <a:noFill/>
          <a:ln/>
        </p:spPr>
        <p:txBody>
          <a:bodyPr wrap="square" lIns="0" tIns="0" rIns="0" bIns="0" rtlCol="0" anchor="ctr"/>
          <a:lstStyle/>
          <a:p>
            <a:pPr indent="0" marL="0">
              <a:buNone/>
            </a:pPr>
            <a:r>
              <a:rPr lang="en-US" sz="3600" b="1" dirty="0">
                <a:solidFill>
                  <a:srgbClr val="4A3D7A"/>
                </a:solidFill>
                <a:latin typeface="Arial" pitchFamily="34" charset="0"/>
                <a:ea typeface="Arial" pitchFamily="34" charset="-122"/>
                <a:cs typeface="Arial" pitchFamily="34" charset="-120"/>
              </a:rPr>
              <a:t>1</a:t>
            </a:r>
            <a:endParaRPr lang="en-US" sz="3600" dirty="0"/>
          </a:p>
        </p:txBody>
      </p:sp>
      <p:sp>
        <p:nvSpPr>
          <p:cNvPr id="6" name="Text 4"/>
          <p:cNvSpPr txBox="1"/>
          <p:nvPr/>
        </p:nvSpPr>
        <p:spPr>
          <a:xfrm>
            <a:off x="1463040" y="3977640"/>
            <a:ext cx="2468880" cy="457200"/>
          </a:xfrm>
          <a:prstGeom prst="rect">
            <a:avLst/>
          </a:prstGeom>
          <a:noFill/>
          <a:ln/>
        </p:spPr>
        <p:txBody>
          <a:bodyPr wrap="square" lIns="0" tIns="0" rIns="0" bIns="0" rtlCol="0" anchor="ctr"/>
          <a:lstStyle/>
          <a:p>
            <a:pPr indent="0" marL="0">
              <a:buNone/>
            </a:pPr>
            <a:r>
              <a:rPr lang="en-US" sz="2000" b="1" dirty="0">
                <a:solidFill>
                  <a:srgbClr val="1F1F2E"/>
                </a:solidFill>
                <a:latin typeface="Arial" pitchFamily="34" charset="0"/>
                <a:ea typeface="Arial" pitchFamily="34" charset="-122"/>
                <a:cs typeface="Arial" pitchFamily="34" charset="-120"/>
              </a:rPr>
              <a:t>How we score</a:t>
            </a:r>
            <a:endParaRPr lang="en-US" sz="2000" dirty="0"/>
          </a:p>
        </p:txBody>
      </p:sp>
      <p:sp>
        <p:nvSpPr>
          <p:cNvPr id="7" name="Text 5"/>
          <p:cNvSpPr txBox="1"/>
          <p:nvPr/>
        </p:nvSpPr>
        <p:spPr>
          <a:xfrm>
            <a:off x="777240" y="4663440"/>
            <a:ext cx="3108960" cy="731520"/>
          </a:xfrm>
          <a:prstGeom prst="rect">
            <a:avLst/>
          </a:prstGeom>
          <a:noFill/>
          <a:ln/>
        </p:spPr>
        <p:txBody>
          <a:bodyPr wrap="square" lIns="0" tIns="0" rIns="0" bIns="0" rtlCol="0" anchor="t"/>
          <a:lstStyle/>
          <a:p>
            <a:pPr indent="0" marL="0">
              <a:buNone/>
            </a:pPr>
            <a:r>
              <a:rPr lang="en-US" sz="1400" dirty="0">
                <a:solidFill>
                  <a:srgbClr val="1F1F2E"/>
                </a:solidFill>
                <a:latin typeface="Arial" pitchFamily="34" charset="0"/>
                <a:ea typeface="Arial" pitchFamily="34" charset="-122"/>
                <a:cs typeface="Arial" pitchFamily="34" charset="-120"/>
              </a:rPr>
              <a:t>four numbers, each with a worked example</a:t>
            </a:r>
            <a:endParaRPr lang="en-US" sz="1400" dirty="0"/>
          </a:p>
        </p:txBody>
      </p:sp>
      <p:sp>
        <p:nvSpPr>
          <p:cNvPr id="8" name="Shape 6"/>
          <p:cNvSpPr/>
          <p:nvPr/>
        </p:nvSpPr>
        <p:spPr>
          <a:xfrm>
            <a:off x="4334256" y="3749040"/>
            <a:ext cx="3520440" cy="1737360"/>
          </a:xfrm>
          <a:prstGeom prst="roundRect">
            <a:avLst>
              <a:gd name="adj" fmla="val 4211"/>
            </a:avLst>
          </a:prstGeom>
          <a:solidFill>
            <a:srgbClr val="EFEBF9"/>
          </a:solidFill>
          <a:ln w="9525">
            <a:solidFill>
              <a:srgbClr val="D9D0F0"/>
            </a:solidFill>
            <a:prstDash val="solid"/>
          </a:ln>
        </p:spPr>
      </p:sp>
      <p:sp>
        <p:nvSpPr>
          <p:cNvPr id="9" name="Text 7"/>
          <p:cNvSpPr txBox="1"/>
          <p:nvPr/>
        </p:nvSpPr>
        <p:spPr>
          <a:xfrm>
            <a:off x="4562856" y="3886200"/>
            <a:ext cx="731520" cy="731520"/>
          </a:xfrm>
          <a:prstGeom prst="rect">
            <a:avLst/>
          </a:prstGeom>
          <a:noFill/>
          <a:ln/>
        </p:spPr>
        <p:txBody>
          <a:bodyPr wrap="square" lIns="0" tIns="0" rIns="0" bIns="0" rtlCol="0" anchor="ctr"/>
          <a:lstStyle/>
          <a:p>
            <a:pPr indent="0" marL="0">
              <a:buNone/>
            </a:pPr>
            <a:r>
              <a:rPr lang="en-US" sz="3600" b="1" dirty="0">
                <a:solidFill>
                  <a:srgbClr val="4A3D7A"/>
                </a:solidFill>
                <a:latin typeface="Arial" pitchFamily="34" charset="0"/>
                <a:ea typeface="Arial" pitchFamily="34" charset="-122"/>
                <a:cs typeface="Arial" pitchFamily="34" charset="-120"/>
              </a:rPr>
              <a:t>2</a:t>
            </a:r>
            <a:endParaRPr lang="en-US" sz="3600" dirty="0"/>
          </a:p>
        </p:txBody>
      </p:sp>
      <p:sp>
        <p:nvSpPr>
          <p:cNvPr id="10" name="Text 8"/>
          <p:cNvSpPr txBox="1"/>
          <p:nvPr/>
        </p:nvSpPr>
        <p:spPr>
          <a:xfrm>
            <a:off x="5248656" y="3977640"/>
            <a:ext cx="2468880" cy="457200"/>
          </a:xfrm>
          <a:prstGeom prst="rect">
            <a:avLst/>
          </a:prstGeom>
          <a:noFill/>
          <a:ln/>
        </p:spPr>
        <p:txBody>
          <a:bodyPr wrap="square" lIns="0" tIns="0" rIns="0" bIns="0" rtlCol="0" anchor="ctr"/>
          <a:lstStyle/>
          <a:p>
            <a:pPr indent="0" marL="0">
              <a:buNone/>
            </a:pPr>
            <a:r>
              <a:rPr lang="en-US" sz="2000" b="1" dirty="0">
                <a:solidFill>
                  <a:srgbClr val="1F1F2E"/>
                </a:solidFill>
                <a:latin typeface="Arial" pitchFamily="34" charset="0"/>
                <a:ea typeface="Arial" pitchFamily="34" charset="-122"/>
                <a:cs typeface="Arial" pitchFamily="34" charset="-120"/>
              </a:rPr>
              <a:t>The results</a:t>
            </a:r>
            <a:endParaRPr lang="en-US" sz="2000" dirty="0"/>
          </a:p>
        </p:txBody>
      </p:sp>
      <p:sp>
        <p:nvSpPr>
          <p:cNvPr id="11" name="Text 9"/>
          <p:cNvSpPr txBox="1"/>
          <p:nvPr/>
        </p:nvSpPr>
        <p:spPr>
          <a:xfrm>
            <a:off x="4562856" y="4663440"/>
            <a:ext cx="3108960" cy="731520"/>
          </a:xfrm>
          <a:prstGeom prst="rect">
            <a:avLst/>
          </a:prstGeom>
          <a:noFill/>
          <a:ln/>
        </p:spPr>
        <p:txBody>
          <a:bodyPr wrap="square" lIns="0" tIns="0" rIns="0" bIns="0" rtlCol="0" anchor="t"/>
          <a:lstStyle/>
          <a:p>
            <a:pPr indent="0" marL="0">
              <a:buNone/>
            </a:pPr>
            <a:r>
              <a:rPr lang="en-US" sz="1400" dirty="0">
                <a:solidFill>
                  <a:srgbClr val="1F1F2E"/>
                </a:solidFill>
                <a:latin typeface="Arial" pitchFamily="34" charset="0"/>
                <a:ea typeface="Arial" pitchFamily="34" charset="-122"/>
                <a:cs typeface="Arial" pitchFamily="34" charset="-120"/>
              </a:rPr>
              <a:t>13 unseen storms, 48 models, 9 predictions</a:t>
            </a:r>
            <a:endParaRPr lang="en-US" sz="1400" dirty="0"/>
          </a:p>
        </p:txBody>
      </p:sp>
      <p:sp>
        <p:nvSpPr>
          <p:cNvPr id="12" name="Shape 10"/>
          <p:cNvSpPr/>
          <p:nvPr/>
        </p:nvSpPr>
        <p:spPr>
          <a:xfrm>
            <a:off x="8119872" y="3749040"/>
            <a:ext cx="3520440" cy="1737360"/>
          </a:xfrm>
          <a:prstGeom prst="roundRect">
            <a:avLst>
              <a:gd name="adj" fmla="val 4211"/>
            </a:avLst>
          </a:prstGeom>
          <a:solidFill>
            <a:srgbClr val="EFEBF9"/>
          </a:solidFill>
          <a:ln w="9525">
            <a:solidFill>
              <a:srgbClr val="D9D0F0"/>
            </a:solidFill>
            <a:prstDash val="solid"/>
          </a:ln>
        </p:spPr>
      </p:sp>
      <p:sp>
        <p:nvSpPr>
          <p:cNvPr id="13" name="Text 11"/>
          <p:cNvSpPr txBox="1"/>
          <p:nvPr/>
        </p:nvSpPr>
        <p:spPr>
          <a:xfrm>
            <a:off x="8348472" y="3886200"/>
            <a:ext cx="731520" cy="731520"/>
          </a:xfrm>
          <a:prstGeom prst="rect">
            <a:avLst/>
          </a:prstGeom>
          <a:noFill/>
          <a:ln/>
        </p:spPr>
        <p:txBody>
          <a:bodyPr wrap="square" lIns="0" tIns="0" rIns="0" bIns="0" rtlCol="0" anchor="ctr"/>
          <a:lstStyle/>
          <a:p>
            <a:pPr indent="0" marL="0">
              <a:buNone/>
            </a:pPr>
            <a:r>
              <a:rPr lang="en-US" sz="3600" b="1" dirty="0">
                <a:solidFill>
                  <a:srgbClr val="4A3D7A"/>
                </a:solidFill>
                <a:latin typeface="Arial" pitchFamily="34" charset="0"/>
                <a:ea typeface="Arial" pitchFamily="34" charset="-122"/>
                <a:cs typeface="Arial" pitchFamily="34" charset="-120"/>
              </a:rPr>
              <a:t>3</a:t>
            </a:r>
            <a:endParaRPr lang="en-US" sz="3600" dirty="0"/>
          </a:p>
        </p:txBody>
      </p:sp>
      <p:sp>
        <p:nvSpPr>
          <p:cNvPr id="14" name="Text 12"/>
          <p:cNvSpPr txBox="1"/>
          <p:nvPr/>
        </p:nvSpPr>
        <p:spPr>
          <a:xfrm>
            <a:off x="9034272" y="3977640"/>
            <a:ext cx="2468880" cy="457200"/>
          </a:xfrm>
          <a:prstGeom prst="rect">
            <a:avLst/>
          </a:prstGeom>
          <a:noFill/>
          <a:ln/>
        </p:spPr>
        <p:txBody>
          <a:bodyPr wrap="square" lIns="0" tIns="0" rIns="0" bIns="0" rtlCol="0" anchor="ctr"/>
          <a:lstStyle/>
          <a:p>
            <a:pPr indent="0" marL="0">
              <a:buNone/>
            </a:pPr>
            <a:r>
              <a:rPr lang="en-US" sz="2000" b="1" dirty="0">
                <a:solidFill>
                  <a:srgbClr val="1F1F2E"/>
                </a:solidFill>
                <a:latin typeface="Arial" pitchFamily="34" charset="0"/>
                <a:ea typeface="Arial" pitchFamily="34" charset="-122"/>
                <a:cs typeface="Arial" pitchFamily="34" charset="-120"/>
              </a:rPr>
              <a:t>What comes next</a:t>
            </a:r>
            <a:endParaRPr lang="en-US" sz="2000" dirty="0"/>
          </a:p>
        </p:txBody>
      </p:sp>
      <p:sp>
        <p:nvSpPr>
          <p:cNvPr id="15" name="Text 13"/>
          <p:cNvSpPr txBox="1"/>
          <p:nvPr/>
        </p:nvSpPr>
        <p:spPr>
          <a:xfrm>
            <a:off x="8348472" y="4663440"/>
            <a:ext cx="3108960" cy="731520"/>
          </a:xfrm>
          <a:prstGeom prst="rect">
            <a:avLst/>
          </a:prstGeom>
          <a:noFill/>
          <a:ln/>
        </p:spPr>
        <p:txBody>
          <a:bodyPr wrap="square" lIns="0" tIns="0" rIns="0" bIns="0" rtlCol="0" anchor="t"/>
          <a:lstStyle/>
          <a:p>
            <a:pPr indent="0" marL="0">
              <a:buNone/>
            </a:pPr>
            <a:r>
              <a:rPr lang="en-US" sz="1400" dirty="0">
                <a:solidFill>
                  <a:srgbClr val="1F1F2E"/>
                </a:solidFill>
                <a:latin typeface="Arial" pitchFamily="34" charset="0"/>
                <a:ea typeface="Arial" pitchFamily="34" charset="-122"/>
                <a:cs typeface="Arial" pitchFamily="34" charset="-120"/>
              </a:rPr>
              <a:t>one pass from the flood map to risk</a:t>
            </a:r>
            <a:endParaRPr lang="en-US" sz="1400" dirty="0"/>
          </a:p>
        </p:txBody>
      </p:sp>
      <p:sp>
        <p:nvSpPr>
          <p:cNvPr id="16" name="Text 14"/>
          <p:cNvSpPr txBox="1"/>
          <p:nvPr/>
        </p:nvSpPr>
        <p:spPr>
          <a:xfrm>
            <a:off x="548640" y="6144768"/>
            <a:ext cx="11064240" cy="411480"/>
          </a:xfrm>
          <a:prstGeom prst="rect">
            <a:avLst/>
          </a:prstGeom>
          <a:noFill/>
          <a:ln/>
        </p:spPr>
        <p:txBody>
          <a:bodyPr wrap="square" lIns="0" tIns="0" rIns="0" bIns="0" rtlCol="0" anchor="ctr"/>
          <a:lstStyle/>
          <a:p>
            <a:pPr indent="0" marL="0">
              <a:buNone/>
            </a:pPr>
            <a:r>
              <a:rPr lang="en-US" sz="1200" b="1" i="1" dirty="0">
                <a:solidFill>
                  <a:srgbClr val="4A3D7A"/>
                </a:solidFill>
                <a:latin typeface="Arial" pitchFamily="34" charset="0"/>
                <a:ea typeface="Arial" pitchFamily="34" charset="-122"/>
                <a:cs typeface="Arial" pitchFamily="34" charset="-120"/>
              </a:rPr>
              <a:t>Say:  </a:t>
            </a:r>
            <a:pPr indent="0" marL="0">
              <a:buNone/>
            </a:pPr>
            <a:r>
              <a:rPr lang="en-US" sz="1200" i="1" dirty="0">
                <a:solidFill>
                  <a:srgbClr val="4A3D7A"/>
                </a:solidFill>
                <a:latin typeface="Arial" pitchFamily="34" charset="0"/>
                <a:ea typeface="Arial" pitchFamily="34" charset="-122"/>
                <a:cs typeface="Arial" pitchFamily="34" charset="-120"/>
              </a:rPr>
              <a:t>Three parts: the yardsticks, the numbers, the next model.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indent="0" marL="0">
              <a:buNone/>
            </a:pPr>
            <a:r>
              <a:rPr lang="en-US" sz="1100" b="1" spc="200" kern="0" dirty="0">
                <a:solidFill>
                  <a:srgbClr val="4A3D7A"/>
                </a:solidFill>
                <a:latin typeface="Arial" pitchFamily="34" charset="0"/>
                <a:ea typeface="Arial" pitchFamily="34" charset="-122"/>
                <a:cs typeface="Arial" pitchFamily="34" charset="-120"/>
              </a:rPr>
              <a:t>THE EXPERIMENT</a:t>
            </a:r>
            <a:endParaRPr lang="en-US" sz="11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indent="0" marL="0">
              <a:buNone/>
            </a:pPr>
            <a:r>
              <a:rPr lang="en-US" sz="2400" b="1" dirty="0">
                <a:solidFill>
                  <a:srgbClr val="1F1F2E"/>
                </a:solidFill>
                <a:latin typeface="Arial" pitchFamily="34" charset="0"/>
                <a:ea typeface="Arial" pitchFamily="34" charset="-122"/>
                <a:cs typeface="Arial" pitchFamily="34" charset="-120"/>
              </a:rPr>
              <a:t>Train on 17 or 57 storms, test on 13 the model never saw</a:t>
            </a:r>
            <a:endParaRPr lang="en-US" sz="2400" dirty="0"/>
          </a:p>
        </p:txBody>
      </p:sp>
      <p:sp>
        <p:nvSpPr>
          <p:cNvPr id="4" name="Shape 2"/>
          <p:cNvSpPr/>
          <p:nvPr/>
        </p:nvSpPr>
        <p:spPr>
          <a:xfrm>
            <a:off x="548640" y="1737360"/>
            <a:ext cx="5394960" cy="2743200"/>
          </a:xfrm>
          <a:prstGeom prst="roundRect">
            <a:avLst>
              <a:gd name="adj" fmla="val 2667"/>
            </a:avLst>
          </a:prstGeom>
          <a:solidFill>
            <a:srgbClr val="EFEBF9"/>
          </a:solidFill>
          <a:ln w="9525">
            <a:solidFill>
              <a:srgbClr val="D9D0F0"/>
            </a:solidFill>
            <a:prstDash val="solid"/>
          </a:ln>
        </p:spPr>
      </p:sp>
      <p:sp>
        <p:nvSpPr>
          <p:cNvPr id="5" name="Text 3"/>
          <p:cNvSpPr txBox="1"/>
          <p:nvPr/>
        </p:nvSpPr>
        <p:spPr>
          <a:xfrm>
            <a:off x="777240" y="1874520"/>
            <a:ext cx="4937760" cy="365760"/>
          </a:xfrm>
          <a:prstGeom prst="rect">
            <a:avLst/>
          </a:prstGeom>
          <a:noFill/>
          <a:ln/>
        </p:spPr>
        <p:txBody>
          <a:bodyPr wrap="square" lIns="0" tIns="0" rIns="0" bIns="0" rtlCol="0" anchor="ctr"/>
          <a:lstStyle/>
          <a:p>
            <a:pPr indent="0" marL="0">
              <a:buNone/>
            </a:pPr>
            <a:r>
              <a:rPr lang="en-US" sz="1500" b="1" dirty="0">
                <a:solidFill>
                  <a:srgbClr val="4A3D7A"/>
                </a:solidFill>
                <a:latin typeface="Arial" pitchFamily="34" charset="0"/>
                <a:ea typeface="Arial" pitchFamily="34" charset="-122"/>
                <a:cs typeface="Arial" pitchFamily="34" charset="-120"/>
              </a:rPr>
              <a:t>Train on</a:t>
            </a:r>
            <a:endParaRPr lang="en-US" sz="1500" dirty="0"/>
          </a:p>
        </p:txBody>
      </p:sp>
      <p:sp>
        <p:nvSpPr>
          <p:cNvPr id="6" name="Text 4"/>
          <p:cNvSpPr txBox="1"/>
          <p:nvPr/>
        </p:nvSpPr>
        <p:spPr>
          <a:xfrm>
            <a:off x="777240" y="2286000"/>
            <a:ext cx="4937760" cy="2194560"/>
          </a:xfrm>
          <a:prstGeom prst="rect">
            <a:avLst/>
          </a:prstGeom>
          <a:noFill/>
          <a:ln/>
        </p:spPr>
        <p:txBody>
          <a:bodyPr wrap="square" lIns="0" tIns="0" rIns="0" bIns="0" rtlCol="0" anchor="t"/>
          <a:lstStyle/>
          <a:p>
            <a:pPr indent="0" marL="0">
              <a:spcAft>
                <a:spcPts val="1000"/>
              </a:spcAft>
              <a:buNone/>
            </a:pPr>
            <a:r>
              <a:rPr lang="en-US" sz="1500" b="1" dirty="0">
                <a:solidFill>
                  <a:srgbClr val="1F1F2E"/>
                </a:solidFill>
                <a:latin typeface="Arial" pitchFamily="34" charset="0"/>
                <a:ea typeface="Arial" pitchFamily="34" charset="-122"/>
                <a:cs typeface="Arial" pitchFamily="34" charset="-120"/>
              </a:rPr>
              <a:t>17 old storms </a:t>
            </a:r>
            <a:pPr indent="0" marL="0">
              <a:spcAft>
                <a:spcPts val="1000"/>
              </a:spcAft>
              <a:buNone/>
            </a:pPr>
            <a:r>
              <a:rPr lang="en-US" sz="1500" dirty="0">
                <a:solidFill>
                  <a:srgbClr val="1F1F2E"/>
                </a:solidFill>
                <a:latin typeface="Arial" pitchFamily="34" charset="0"/>
                <a:ea typeface="Arial" pitchFamily="34" charset="-122"/>
                <a:cs typeface="Arial" pitchFamily="34" charset="-120"/>
              </a:rPr>
              <a:t>— 13,600 simulator runs (the model we had).</a:t>
            </a:r>
            <a:endParaRPr lang="en-US" sz="1500" dirty="0"/>
          </a:p>
          <a:p>
            <a:pPr indent="0" marL="0">
              <a:spcAft>
                <a:spcPts val="1000"/>
              </a:spcAft>
              <a:buNone/>
            </a:pPr>
            <a:r>
              <a:rPr lang="en-US" sz="1500" b="1" dirty="0">
                <a:solidFill>
                  <a:srgbClr val="1F1F2E"/>
                </a:solidFill>
                <a:latin typeface="Arial" pitchFamily="34" charset="0"/>
                <a:ea typeface="Arial" pitchFamily="34" charset="-122"/>
                <a:cs typeface="Arial" pitchFamily="34" charset="-120"/>
              </a:rPr>
              <a:t>57 storms, same 13,600 runs </a:t>
            </a:r>
            <a:pPr indent="0" marL="0">
              <a:spcAft>
                <a:spcPts val="1000"/>
              </a:spcAft>
              <a:buNone/>
            </a:pPr>
            <a:r>
              <a:rPr lang="en-US" sz="1500" dirty="0">
                <a:solidFill>
                  <a:srgbClr val="1F1F2E"/>
                </a:solidFill>
                <a:latin typeface="Arial" pitchFamily="34" charset="0"/>
                <a:ea typeface="Arial" pitchFamily="34" charset="-122"/>
                <a:cs typeface="Arial" pitchFamily="34" charset="-120"/>
              </a:rPr>
              <a:t>— 17 old + 40 new; same amount of training, more variety.</a:t>
            </a:r>
            <a:endParaRPr lang="en-US" sz="1500" dirty="0"/>
          </a:p>
          <a:p>
            <a:pPr indent="0" marL="0">
              <a:spcAft>
                <a:spcPts val="1000"/>
              </a:spcAft>
              <a:buNone/>
            </a:pPr>
            <a:r>
              <a:rPr lang="en-US" sz="1500" b="1" dirty="0">
                <a:solidFill>
                  <a:srgbClr val="1F1F2E"/>
                </a:solidFill>
                <a:latin typeface="Arial" pitchFamily="34" charset="0"/>
                <a:ea typeface="Arial" pitchFamily="34" charset="-122"/>
                <a:cs typeface="Arial" pitchFamily="34" charset="-120"/>
              </a:rPr>
              <a:t>57 storms, all 45,600 runs </a:t>
            </a:r>
            <a:pPr indent="0" marL="0">
              <a:spcAft>
                <a:spcPts val="1000"/>
              </a:spcAft>
              <a:buNone/>
            </a:pPr>
            <a:r>
              <a:rPr lang="en-US" sz="1500" dirty="0">
                <a:solidFill>
                  <a:srgbClr val="1F1F2E"/>
                </a:solidFill>
                <a:latin typeface="Arial" pitchFamily="34" charset="0"/>
                <a:ea typeface="Arial" pitchFamily="34" charset="-122"/>
                <a:cs typeface="Arial" pitchFamily="34" charset="-120"/>
              </a:rPr>
              <a:t>— everything.</a:t>
            </a:r>
            <a:endParaRPr lang="en-US" sz="1500" dirty="0"/>
          </a:p>
        </p:txBody>
      </p:sp>
      <p:sp>
        <p:nvSpPr>
          <p:cNvPr id="7" name="Shape 5"/>
          <p:cNvSpPr/>
          <p:nvPr/>
        </p:nvSpPr>
        <p:spPr>
          <a:xfrm>
            <a:off x="6245352" y="1737360"/>
            <a:ext cx="5394960" cy="2743200"/>
          </a:xfrm>
          <a:prstGeom prst="roundRect">
            <a:avLst>
              <a:gd name="adj" fmla="val 2667"/>
            </a:avLst>
          </a:prstGeom>
          <a:solidFill>
            <a:srgbClr val="EFEBF9"/>
          </a:solidFill>
          <a:ln w="9525">
            <a:solidFill>
              <a:srgbClr val="D9D0F0"/>
            </a:solidFill>
            <a:prstDash val="solid"/>
          </a:ln>
        </p:spPr>
      </p:sp>
      <p:sp>
        <p:nvSpPr>
          <p:cNvPr id="8" name="Text 6"/>
          <p:cNvSpPr txBox="1"/>
          <p:nvPr/>
        </p:nvSpPr>
        <p:spPr>
          <a:xfrm>
            <a:off x="6473952" y="1874520"/>
            <a:ext cx="4937760" cy="365760"/>
          </a:xfrm>
          <a:prstGeom prst="rect">
            <a:avLst/>
          </a:prstGeom>
          <a:noFill/>
          <a:ln/>
        </p:spPr>
        <p:txBody>
          <a:bodyPr wrap="square" lIns="0" tIns="0" rIns="0" bIns="0" rtlCol="0" anchor="ctr"/>
          <a:lstStyle/>
          <a:p>
            <a:pPr indent="0" marL="0">
              <a:buNone/>
            </a:pPr>
            <a:r>
              <a:rPr lang="en-US" sz="1500" b="1" dirty="0">
                <a:solidFill>
                  <a:srgbClr val="4A3D7A"/>
                </a:solidFill>
                <a:latin typeface="Arial" pitchFamily="34" charset="0"/>
                <a:ea typeface="Arial" pitchFamily="34" charset="-122"/>
                <a:cs typeface="Arial" pitchFamily="34" charset="-120"/>
              </a:rPr>
              <a:t>Test on</a:t>
            </a:r>
            <a:endParaRPr lang="en-US" sz="1500" dirty="0"/>
          </a:p>
        </p:txBody>
      </p:sp>
      <p:sp>
        <p:nvSpPr>
          <p:cNvPr id="9" name="Text 7"/>
          <p:cNvSpPr txBox="1"/>
          <p:nvPr/>
        </p:nvSpPr>
        <p:spPr>
          <a:xfrm>
            <a:off x="6473952" y="2286000"/>
            <a:ext cx="4937760" cy="2194560"/>
          </a:xfrm>
          <a:prstGeom prst="rect">
            <a:avLst/>
          </a:prstGeom>
          <a:noFill/>
          <a:ln/>
        </p:spPr>
        <p:txBody>
          <a:bodyPr wrap="square" lIns="0" tIns="0" rIns="0" bIns="0" rtlCol="0" anchor="t"/>
          <a:lstStyle/>
          <a:p>
            <a:pPr indent="0" marL="0">
              <a:spcAft>
                <a:spcPts val="1000"/>
              </a:spcAft>
              <a:buNone/>
            </a:pPr>
            <a:r>
              <a:rPr lang="en-US" sz="1500" b="1" dirty="0">
                <a:solidFill>
                  <a:srgbClr val="1F1F2E"/>
                </a:solidFill>
                <a:latin typeface="Arial" pitchFamily="34" charset="0"/>
                <a:ea typeface="Arial" pitchFamily="34" charset="-122"/>
                <a:cs typeface="Arial" pitchFamily="34" charset="-120"/>
              </a:rPr>
              <a:t>13 storms never used in training: </a:t>
            </a:r>
            <a:pPr indent="0" marL="0">
              <a:spcAft>
                <a:spcPts val="1000"/>
              </a:spcAft>
              <a:buNone/>
            </a:pPr>
            <a:r>
              <a:rPr lang="en-US" sz="1500" dirty="0">
                <a:solidFill>
                  <a:srgbClr val="1F1F2E"/>
                </a:solidFill>
                <a:latin typeface="Arial" pitchFamily="34" charset="0"/>
                <a:ea typeface="Arial" pitchFamily="34" charset="-122"/>
                <a:cs typeface="Arial" pitchFamily="34" charset="-120"/>
              </a:rPr>
              <a:t>5 old (2.2 to 4.5 m) and 8 new (2.1 to 4.7 m).</a:t>
            </a:r>
            <a:endParaRPr lang="en-US" sz="1500" dirty="0"/>
          </a:p>
          <a:p>
            <a:pPr indent="0" marL="0">
              <a:spcAft>
                <a:spcPts val="1000"/>
              </a:spcAft>
              <a:buNone/>
            </a:pPr>
            <a:r>
              <a:rPr lang="en-US" sz="1500" b="1" dirty="0">
                <a:solidFill>
                  <a:srgbClr val="1F1F2E"/>
                </a:solidFill>
                <a:latin typeface="Arial" pitchFamily="34" charset="0"/>
                <a:ea typeface="Arial" pitchFamily="34" charset="-122"/>
                <a:cs typeface="Arial" pitchFamily="34" charset="-120"/>
              </a:rPr>
              <a:t>5 of the 13 are bigger </a:t>
            </a:r>
            <a:pPr indent="0" marL="0">
              <a:spcAft>
                <a:spcPts val="1000"/>
              </a:spcAft>
              <a:buNone/>
            </a:pPr>
            <a:r>
              <a:rPr lang="en-US" sz="1500" dirty="0">
                <a:solidFill>
                  <a:srgbClr val="1F1F2E"/>
                </a:solidFill>
                <a:latin typeface="Arial" pitchFamily="34" charset="0"/>
                <a:ea typeface="Arial" pitchFamily="34" charset="-122"/>
                <a:cs typeface="Arial" pitchFamily="34" charset="-120"/>
              </a:rPr>
              <a:t>than any old training storm (above 3.64 m).</a:t>
            </a:r>
            <a:endParaRPr lang="en-US" sz="1500" dirty="0"/>
          </a:p>
          <a:p>
            <a:pPr indent="0" marL="0">
              <a:spcAft>
                <a:spcPts val="1000"/>
              </a:spcAft>
              <a:buNone/>
            </a:pPr>
            <a:r>
              <a:rPr lang="en-US" sz="1500" b="1" dirty="0">
                <a:solidFill>
                  <a:srgbClr val="1F1F2E"/>
                </a:solidFill>
                <a:latin typeface="Arial" pitchFamily="34" charset="0"/>
                <a:ea typeface="Arial" pitchFamily="34" charset="-122"/>
                <a:cs typeface="Arial" pitchFamily="34" charset="-120"/>
              </a:rPr>
              <a:t>1,000 simulator runs </a:t>
            </a:r>
            <a:pPr indent="0" marL="0">
              <a:spcAft>
                <a:spcPts val="1000"/>
              </a:spcAft>
              <a:buNone/>
            </a:pPr>
            <a:r>
              <a:rPr lang="en-US" sz="1500" dirty="0">
                <a:solidFill>
                  <a:srgbClr val="1F1F2E"/>
                </a:solidFill>
                <a:latin typeface="Arial" pitchFamily="34" charset="0"/>
                <a:ea typeface="Arial" pitchFamily="34" charset="-122"/>
                <a:cs typeface="Arial" pitchFamily="34" charset="-120"/>
              </a:rPr>
              <a:t>on each; the model is scored run by run.</a:t>
            </a:r>
            <a:endParaRPr lang="en-US" sz="1500" dirty="0"/>
          </a:p>
        </p:txBody>
      </p:sp>
      <p:sp>
        <p:nvSpPr>
          <p:cNvPr id="10" name="Shape 8"/>
          <p:cNvSpPr/>
          <p:nvPr/>
        </p:nvSpPr>
        <p:spPr>
          <a:xfrm>
            <a:off x="548640" y="4663440"/>
            <a:ext cx="11091672" cy="960120"/>
          </a:xfrm>
          <a:prstGeom prst="roundRect">
            <a:avLst>
              <a:gd name="adj" fmla="val 7619"/>
            </a:avLst>
          </a:prstGeom>
          <a:solidFill>
            <a:srgbClr val="EFEBF9"/>
          </a:solidFill>
          <a:ln w="9525">
            <a:solidFill>
              <a:srgbClr val="D9D0F0"/>
            </a:solidFill>
            <a:prstDash val="solid"/>
          </a:ln>
        </p:spPr>
      </p:sp>
      <p:sp>
        <p:nvSpPr>
          <p:cNvPr id="11" name="Text 9"/>
          <p:cNvSpPr txBox="1"/>
          <p:nvPr/>
        </p:nvSpPr>
        <p:spPr>
          <a:xfrm>
            <a:off x="777240" y="4754880"/>
            <a:ext cx="10698480" cy="822960"/>
          </a:xfrm>
          <a:prstGeom prst="rect">
            <a:avLst/>
          </a:prstGeom>
          <a:noFill/>
          <a:ln/>
        </p:spPr>
        <p:txBody>
          <a:bodyPr wrap="square" lIns="0" tIns="0" rIns="0" bIns="0" rtlCol="0" anchor="t"/>
          <a:lstStyle/>
          <a:p>
            <a:pPr indent="0" marL="0">
              <a:buNone/>
            </a:pPr>
            <a:r>
              <a:rPr lang="en-US" sz="1400" dirty="0">
                <a:solidFill>
                  <a:srgbClr val="1F1F2E"/>
                </a:solidFill>
                <a:latin typeface="Arial" pitchFamily="34" charset="0"/>
                <a:ea typeface="Arial" pitchFamily="34" charset="-122"/>
                <a:cs typeface="Arial" pitchFamily="34" charset="-120"/>
              </a:rPr>
              <a:t>4 variants (static or arrival labels × with or without timing inputs) × 2 random starts × with or without the storm-size input = 48 trained models. 9 pass/fail predictions were written into the scoring script on 6 October, before any new storm was simulated.</a:t>
            </a:r>
            <a:endParaRPr lang="en-US" sz="1400" dirty="0"/>
          </a:p>
        </p:txBody>
      </p:sp>
      <p:sp>
        <p:nvSpPr>
          <p:cNvPr id="12" name="Text 10"/>
          <p:cNvSpPr txBox="1"/>
          <p:nvPr/>
        </p:nvSpPr>
        <p:spPr>
          <a:xfrm>
            <a:off x="548640" y="6144768"/>
            <a:ext cx="11064240" cy="411480"/>
          </a:xfrm>
          <a:prstGeom prst="rect">
            <a:avLst/>
          </a:prstGeom>
          <a:noFill/>
          <a:ln/>
        </p:spPr>
        <p:txBody>
          <a:bodyPr wrap="square" lIns="0" tIns="0" rIns="0" bIns="0" rtlCol="0" anchor="ctr"/>
          <a:lstStyle/>
          <a:p>
            <a:pPr indent="0" marL="0">
              <a:buNone/>
            </a:pPr>
            <a:r>
              <a:rPr lang="en-US" sz="1200" b="1" i="1" dirty="0">
                <a:solidFill>
                  <a:srgbClr val="4A3D7A"/>
                </a:solidFill>
                <a:latin typeface="Arial" pitchFamily="34" charset="0"/>
                <a:ea typeface="Arial" pitchFamily="34" charset="-122"/>
                <a:cs typeface="Arial" pitchFamily="34" charset="-120"/>
              </a:rPr>
              <a:t>Say:  </a:t>
            </a:r>
            <a:pPr indent="0" marL="0">
              <a:buNone/>
            </a:pPr>
            <a:r>
              <a:rPr lang="en-US" sz="1200" i="1" dirty="0">
                <a:solidFill>
                  <a:srgbClr val="4A3D7A"/>
                </a:solidFill>
                <a:latin typeface="Arial" pitchFamily="34" charset="0"/>
                <a:ea typeface="Arial" pitchFamily="34" charset="-122"/>
                <a:cs typeface="Arial" pitchFamily="34" charset="-120"/>
              </a:rPr>
              <a:t>Three training sets, thirteen unseen storms, forty-eight models, predictions written first.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indent="0" marL="0">
              <a:buNone/>
            </a:pPr>
            <a:r>
              <a:rPr lang="en-US" sz="1100" b="1" spc="200" kern="0" dirty="0">
                <a:solidFill>
                  <a:srgbClr val="4A3D7A"/>
                </a:solidFill>
                <a:latin typeface="Arial" pitchFamily="34" charset="0"/>
                <a:ea typeface="Arial" pitchFamily="34" charset="-122"/>
                <a:cs typeface="Arial" pitchFamily="34" charset="-120"/>
              </a:rPr>
              <a:t>HOW WE SCORE · 1 OF 4</a:t>
            </a:r>
            <a:endParaRPr lang="en-US" sz="11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indent="0" marL="0">
              <a:buNone/>
            </a:pPr>
            <a:r>
              <a:rPr lang="en-US" sz="2400" b="1" dirty="0">
                <a:solidFill>
                  <a:srgbClr val="1F1F2E"/>
                </a:solidFill>
                <a:latin typeface="Arial" pitchFamily="34" charset="0"/>
                <a:ea typeface="Arial" pitchFamily="34" charset="-122"/>
                <a:cs typeface="Arial" pitchFamily="34" charset="-120"/>
              </a:rPr>
              <a:t>Log loss: how far was each probability from what actually happened?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852160" cy="914400"/>
        </p:xfrm>
        <a:graphic>
          <a:graphicData uri="http://schemas.openxmlformats.org/drawingml/2006/table">
            <a:tbl>
              <a:tblPr/>
              <a:tblGrid>
                <a:gridCol w="2103120"/>
                <a:gridCol w="2103120"/>
                <a:gridCol w="1645920"/>
              </a:tblGrid>
              <a:tr h="457200">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the model said</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what the simulator did</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penalty</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r>
              <a:tr h="457200">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90 % will fail</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it failed</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1F1F2E"/>
                          </a:solidFill>
                          <a:latin typeface="Arial" pitchFamily="34" charset="0"/>
                          <a:ea typeface="Arial" pitchFamily="34" charset="-122"/>
                          <a:cs typeface="Arial" pitchFamily="34" charset="-120"/>
                        </a:rPr>
                        <a:t>0.11</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457200">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50 % will fail</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it failed</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1F1F2E"/>
                          </a:solidFill>
                          <a:latin typeface="Arial" pitchFamily="34" charset="0"/>
                          <a:ea typeface="Arial" pitchFamily="34" charset="-122"/>
                          <a:cs typeface="Arial" pitchFamily="34" charset="-120"/>
                        </a:rPr>
                        <a:t>0.69</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457200">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10 % will fail</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it failed</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B5443C"/>
                          </a:solidFill>
                          <a:latin typeface="Arial" pitchFamily="34" charset="0"/>
                          <a:ea typeface="Arial" pitchFamily="34" charset="-122"/>
                          <a:cs typeface="Arial" pitchFamily="34" charset="-120"/>
                        </a:rPr>
                        <a:t>2.30</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457200">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10 % will fail</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it survived</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1F1F2E"/>
                          </a:solidFill>
                          <a:latin typeface="Arial" pitchFamily="34" charset="0"/>
                          <a:ea typeface="Arial" pitchFamily="34" charset="-122"/>
                          <a:cs typeface="Arial" pitchFamily="34" charset="-120"/>
                        </a:rPr>
                        <a:t>0.11</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bl>
          </a:graphicData>
        </a:graphic>
      </p:graphicFrame>
      <p:sp>
        <p:nvSpPr>
          <p:cNvPr id="5" name="Text 2"/>
          <p:cNvSpPr txBox="1"/>
          <p:nvPr/>
        </p:nvSpPr>
        <p:spPr>
          <a:xfrm>
            <a:off x="548640" y="4206240"/>
            <a:ext cx="5852160" cy="1371600"/>
          </a:xfrm>
          <a:prstGeom prst="rect">
            <a:avLst/>
          </a:prstGeom>
          <a:noFill/>
          <a:ln/>
        </p:spPr>
        <p:txBody>
          <a:bodyPr wrap="square" lIns="0" tIns="0" rIns="0" bIns="0" rtlCol="0" anchor="t"/>
          <a:lstStyle/>
          <a:p>
            <a:pPr indent="0" marL="0">
              <a:buNone/>
            </a:pPr>
            <a:r>
              <a:rPr lang="en-US" sz="1400" dirty="0">
                <a:solidFill>
                  <a:srgbClr val="1F1F2E"/>
                </a:solidFill>
                <a:latin typeface="Arial" pitchFamily="34" charset="0"/>
                <a:ea typeface="Arial" pitchFamily="34" charset="-122"/>
                <a:cs typeface="Arial" pitchFamily="34" charset="-120"/>
              </a:rPr>
              <a:t>Confident and right: small penalty. Confident and wrong: big penalty. Hedging at 50 %: medium either way. The only way to score well is to give the true probability — so it rewards being right and being honest about uncertainty.</a:t>
            </a:r>
            <a:endParaRPr lang="en-US" sz="1400" dirty="0"/>
          </a:p>
        </p:txBody>
      </p:sp>
      <p:sp>
        <p:nvSpPr>
          <p:cNvPr id="6" name="Shape 3"/>
          <p:cNvSpPr/>
          <p:nvPr/>
        </p:nvSpPr>
        <p:spPr>
          <a:xfrm>
            <a:off x="6675120" y="1783080"/>
            <a:ext cx="4965192" cy="3749040"/>
          </a:xfrm>
          <a:prstGeom prst="roundRect">
            <a:avLst>
              <a:gd name="adj" fmla="val 1951"/>
            </a:avLst>
          </a:prstGeom>
          <a:solidFill>
            <a:srgbClr val="EFEBF9"/>
          </a:solidFill>
          <a:ln w="9525">
            <a:solidFill>
              <a:srgbClr val="D9D0F0"/>
            </a:solidFill>
            <a:prstDash val="solid"/>
          </a:ln>
        </p:spPr>
      </p:sp>
      <p:sp>
        <p:nvSpPr>
          <p:cNvPr id="7" name="Text 4"/>
          <p:cNvSpPr txBox="1"/>
          <p:nvPr/>
        </p:nvSpPr>
        <p:spPr>
          <a:xfrm>
            <a:off x="6903720" y="1920240"/>
            <a:ext cx="4572000" cy="3566160"/>
          </a:xfrm>
          <a:prstGeom prst="rect">
            <a:avLst/>
          </a:prstGeom>
          <a:noFill/>
          <a:ln/>
        </p:spPr>
        <p:txBody>
          <a:bodyPr wrap="square" lIns="0" tIns="0" rIns="0" bIns="0" rtlCol="0" anchor="t"/>
          <a:lstStyle/>
          <a:p>
            <a:pPr indent="0" marL="0">
              <a:spcAft>
                <a:spcPts val="1000"/>
              </a:spcAft>
              <a:buNone/>
            </a:pPr>
            <a:r>
              <a:rPr lang="en-US" sz="1400" b="1" dirty="0">
                <a:solidFill>
                  <a:srgbClr val="1F1F2E"/>
                </a:solidFill>
                <a:latin typeface="Arial" pitchFamily="34" charset="0"/>
                <a:ea typeface="Arial" pitchFamily="34" charset="-122"/>
                <a:cs typeface="Arial" pitchFamily="34" charset="-120"/>
              </a:rPr>
              <a:t>One number per site, per horizon, per run, </a:t>
            </a:r>
            <a:pPr indent="0" marL="0">
              <a:spcAft>
                <a:spcPts val="1000"/>
              </a:spcAft>
              <a:buNone/>
            </a:pPr>
            <a:r>
              <a:rPr lang="en-US" sz="1400" dirty="0">
                <a:solidFill>
                  <a:srgbClr val="1F1F2E"/>
                </a:solidFill>
                <a:latin typeface="Arial" pitchFamily="34" charset="0"/>
                <a:ea typeface="Arial" pitchFamily="34" charset="-122"/>
                <a:cs typeface="Arial" pitchFamily="34" charset="-120"/>
              </a:rPr>
              <a:t>averaged over everything: 4 horizons (6/24/48/96 h), 1,000 runs, all non-seed sites.</a:t>
            </a:r>
            <a:endParaRPr lang="en-US" sz="1400" dirty="0"/>
          </a:p>
          <a:p>
            <a:pPr indent="0" marL="0">
              <a:spcAft>
                <a:spcPts val="1000"/>
              </a:spcAft>
              <a:buNone/>
            </a:pPr>
            <a:r>
              <a:rPr lang="en-US" sz="1400" b="1" dirty="0">
                <a:solidFill>
                  <a:srgbClr val="1F1F2E"/>
                </a:solidFill>
                <a:latin typeface="Arial" pitchFamily="34" charset="0"/>
                <a:ea typeface="Arial" pitchFamily="34" charset="-122"/>
                <a:cs typeface="Arial" pitchFamily="34" charset="-120"/>
              </a:rPr>
              <a:t>Non-seed sites only. </a:t>
            </a:r>
            <a:pPr indent="0" marL="0">
              <a:spcAft>
                <a:spcPts val="1000"/>
              </a:spcAft>
              <a:buNone/>
            </a:pPr>
            <a:r>
              <a:rPr lang="en-US" sz="1400" dirty="0">
                <a:solidFill>
                  <a:srgbClr val="1F1F2E"/>
                </a:solidFill>
                <a:latin typeface="Arial" pitchFamily="34" charset="0"/>
                <a:ea typeface="Arial" pitchFamily="34" charset="-122"/>
                <a:cs typeface="Arial" pitchFamily="34" charset="-120"/>
              </a:rPr>
              <a:t>Seeds are the sites the flood knocked out directly; the model is told which they are, so scoring them would be free marks.</a:t>
            </a:r>
            <a:endParaRPr lang="en-US" sz="1400" dirty="0"/>
          </a:p>
          <a:p>
            <a:pPr indent="0" marL="0">
              <a:spcAft>
                <a:spcPts val="1000"/>
              </a:spcAft>
              <a:buNone/>
            </a:pPr>
            <a:r>
              <a:rPr lang="en-US" sz="1400" b="1" dirty="0">
                <a:solidFill>
                  <a:srgbClr val="1F1F2E"/>
                </a:solidFill>
                <a:latin typeface="Arial" pitchFamily="34" charset="0"/>
                <a:ea typeface="Arial" pitchFamily="34" charset="-122"/>
                <a:cs typeface="Arial" pitchFamily="34" charset="-120"/>
              </a:rPr>
              <a:t>Lower is better. </a:t>
            </a:r>
            <a:pPr indent="0" marL="0">
              <a:spcAft>
                <a:spcPts val="1000"/>
              </a:spcAft>
              <a:buNone/>
            </a:pPr>
            <a:r>
              <a:rPr lang="en-US" sz="1400" dirty="0">
                <a:solidFill>
                  <a:srgbClr val="1F1F2E"/>
                </a:solidFill>
                <a:latin typeface="Arial" pitchFamily="34" charset="0"/>
                <a:ea typeface="Arial" pitchFamily="34" charset="-122"/>
                <a:cs typeface="Arial" pitchFamily="34" charset="-120"/>
              </a:rPr>
              <a:t>Easy static storm: 0.03–0.06. Arrival labels: 0.1–0.3 (more randomness in the labels).</a:t>
            </a:r>
            <a:endParaRPr lang="en-US" sz="1400" dirty="0"/>
          </a:p>
        </p:txBody>
      </p:sp>
      <p:sp>
        <p:nvSpPr>
          <p:cNvPr id="8" name="Text 5"/>
          <p:cNvSpPr txBox="1"/>
          <p:nvPr/>
        </p:nvSpPr>
        <p:spPr>
          <a:xfrm>
            <a:off x="548640" y="6144768"/>
            <a:ext cx="11064240" cy="411480"/>
          </a:xfrm>
          <a:prstGeom prst="rect">
            <a:avLst/>
          </a:prstGeom>
          <a:noFill/>
          <a:ln/>
        </p:spPr>
        <p:txBody>
          <a:bodyPr wrap="square" lIns="0" tIns="0" rIns="0" bIns="0" rtlCol="0" anchor="ctr"/>
          <a:lstStyle/>
          <a:p>
            <a:pPr indent="0" marL="0">
              <a:buNone/>
            </a:pPr>
            <a:r>
              <a:rPr lang="en-US" sz="1200" b="1" i="1" dirty="0">
                <a:solidFill>
                  <a:srgbClr val="4A3D7A"/>
                </a:solidFill>
                <a:latin typeface="Arial" pitchFamily="34" charset="0"/>
                <a:ea typeface="Arial" pitchFamily="34" charset="-122"/>
                <a:cs typeface="Arial" pitchFamily="34" charset="-120"/>
              </a:rPr>
              <a:t>Say:  </a:t>
            </a:r>
            <a:pPr indent="0" marL="0">
              <a:buNone/>
            </a:pPr>
            <a:r>
              <a:rPr lang="en-US" sz="1200" i="1" dirty="0">
                <a:solidFill>
                  <a:srgbClr val="4A3D7A"/>
                </a:solidFill>
                <a:latin typeface="Arial" pitchFamily="34" charset="0"/>
                <a:ea typeface="Arial" pitchFamily="34" charset="-122"/>
                <a:cs typeface="Arial" pitchFamily="34" charset="-120"/>
              </a:rPr>
              <a:t>Small if confident and right, big if confident and wrong. Averaged over sites, horizons and runs.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indent="0" marL="0">
              <a:buNone/>
            </a:pPr>
            <a:r>
              <a:rPr lang="en-US" sz="1100" b="1" spc="200" kern="0" dirty="0">
                <a:solidFill>
                  <a:srgbClr val="4A3D7A"/>
                </a:solidFill>
                <a:latin typeface="Arial" pitchFamily="34" charset="0"/>
                <a:ea typeface="Arial" pitchFamily="34" charset="-122"/>
                <a:cs typeface="Arial" pitchFamily="34" charset="-120"/>
              </a:rPr>
              <a:t>HOW WE SCORE · 2 OF 4</a:t>
            </a:r>
            <a:endParaRPr lang="en-US" sz="11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indent="0" marL="0">
              <a:buNone/>
            </a:pPr>
            <a:r>
              <a:rPr lang="en-US" sz="2400" b="1" dirty="0">
                <a:solidFill>
                  <a:srgbClr val="1F1F2E"/>
                </a:solidFill>
                <a:latin typeface="Arial" pitchFamily="34" charset="0"/>
                <a:ea typeface="Arial" pitchFamily="34" charset="-122"/>
                <a:cs typeface="Arial" pitchFamily="34" charset="-120"/>
              </a:rPr>
              <a:t>Count error: how many sites did the model expect to fail, against how many did?</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4754880" cy="914400"/>
        </p:xfrm>
        <a:graphic>
          <a:graphicData uri="http://schemas.openxmlformats.org/drawingml/2006/table">
            <a:tbl>
              <a:tblPr/>
              <a:tblGrid>
                <a:gridCol w="2011680"/>
                <a:gridCol w="2743200"/>
              </a:tblGrid>
              <a:tr h="384048">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non-seed site</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probability of failing</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r>
              <a:tr h="384048">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0.9</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84048">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0.7</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84048">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0.3</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84048">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D</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0.1</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84048">
                <a:tc>
                  <a:txBody>
                    <a:bodyPr/>
                    <a:lstStyle/>
                    <a:p>
                      <a:pPr algn="ctr" indent="0" marL="0">
                        <a:buNone/>
                      </a:pPr>
                      <a:r>
                        <a:rPr lang="en-US" sz="1200" b="1" dirty="0">
                          <a:solidFill>
                            <a:srgbClr val="1F1F2E"/>
                          </a:solidFill>
                          <a:latin typeface="Arial" pitchFamily="34" charset="0"/>
                          <a:ea typeface="Arial" pitchFamily="34" charset="-122"/>
                          <a:cs typeface="Arial" pitchFamily="34" charset="-120"/>
                        </a:rPr>
                        <a:t>expected failures</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1F1F2E"/>
                          </a:solidFill>
                          <a:latin typeface="Arial" pitchFamily="34" charset="0"/>
                          <a:ea typeface="Arial" pitchFamily="34" charset="-122"/>
                          <a:cs typeface="Arial" pitchFamily="34" charset="-120"/>
                        </a:rPr>
                        <a:t>0.9 + 0.7 + 0.3 + 0.1 = 2.0</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bl>
          </a:graphicData>
        </a:graphic>
      </p:graphicFrame>
      <p:sp>
        <p:nvSpPr>
          <p:cNvPr id="5" name="Text 2"/>
          <p:cNvSpPr txBox="1"/>
          <p:nvPr/>
        </p:nvSpPr>
        <p:spPr>
          <a:xfrm>
            <a:off x="548640" y="4206240"/>
            <a:ext cx="4754880" cy="1463040"/>
          </a:xfrm>
          <a:prstGeom prst="rect">
            <a:avLst/>
          </a:prstGeom>
          <a:noFill/>
          <a:ln/>
        </p:spPr>
        <p:txBody>
          <a:bodyPr wrap="square" lIns="0" tIns="0" rIns="0" bIns="0" rtlCol="0" anchor="t"/>
          <a:lstStyle/>
          <a:p>
            <a:pPr indent="0" marL="0">
              <a:buNone/>
            </a:pPr>
            <a:r>
              <a:rPr lang="en-US" sz="1350" dirty="0">
                <a:solidFill>
                  <a:srgbClr val="1F1F2E"/>
                </a:solidFill>
                <a:latin typeface="Arial" pitchFamily="34" charset="0"/>
                <a:ea typeface="Arial" pitchFamily="34" charset="-122"/>
                <a:cs typeface="Arial" pitchFamily="34" charset="-120"/>
              </a:rPr>
              <a:t>"About 2 of these 4" — not exactly 2, and not which 2. Picture 100 repeats: A fails ~90 times, B ~70, C ~30, D ~10: about 200 site-failures, 2 per repeat. Adding probabilities gives the expected count.</a:t>
            </a:r>
            <a:endParaRPr lang="en-US" sz="1350" dirty="0"/>
          </a:p>
        </p:txBody>
      </p:sp>
      <p:sp>
        <p:nvSpPr>
          <p:cNvPr id="6" name="Shape 3"/>
          <p:cNvSpPr/>
          <p:nvPr/>
        </p:nvSpPr>
        <p:spPr>
          <a:xfrm>
            <a:off x="5577840" y="1783080"/>
            <a:ext cx="6062472" cy="3794760"/>
          </a:xfrm>
          <a:prstGeom prst="roundRect">
            <a:avLst>
              <a:gd name="adj" fmla="val 1928"/>
            </a:avLst>
          </a:prstGeom>
          <a:solidFill>
            <a:srgbClr val="EFEBF9"/>
          </a:solidFill>
          <a:ln w="9525">
            <a:solidFill>
              <a:srgbClr val="D9D0F0"/>
            </a:solidFill>
            <a:prstDash val="solid"/>
          </a:ln>
        </p:spPr>
      </p:sp>
      <p:sp>
        <p:nvSpPr>
          <p:cNvPr id="7" name="Text 4"/>
          <p:cNvSpPr txBox="1"/>
          <p:nvPr/>
        </p:nvSpPr>
        <p:spPr>
          <a:xfrm>
            <a:off x="5806440" y="1920240"/>
            <a:ext cx="5669280" cy="3657600"/>
          </a:xfrm>
          <a:prstGeom prst="rect">
            <a:avLst/>
          </a:prstGeom>
          <a:noFill/>
          <a:ln/>
        </p:spPr>
        <p:txBody>
          <a:bodyPr wrap="square" lIns="0" tIns="0" rIns="0" bIns="0" rtlCol="0" anchor="t"/>
          <a:lstStyle/>
          <a:p>
            <a:pPr indent="0" marL="0">
              <a:spcAft>
                <a:spcPts val="900"/>
              </a:spcAft>
              <a:buNone/>
            </a:pPr>
            <a:r>
              <a:rPr lang="en-US" sz="1350" b="1" dirty="0">
                <a:solidFill>
                  <a:srgbClr val="1F1F2E"/>
                </a:solidFill>
                <a:latin typeface="Arial" pitchFamily="34" charset="0"/>
                <a:ea typeface="Arial" pitchFamily="34" charset="-122"/>
                <a:cs typeface="Arial" pitchFamily="34" charset="-120"/>
              </a:rPr>
              <a:t>Count error </a:t>
            </a:r>
            <a:pPr indent="0" marL="0">
              <a:spcAft>
                <a:spcPts val="900"/>
              </a:spcAft>
              <a:buNone/>
            </a:pPr>
            <a:r>
              <a:rPr lang="en-US" sz="1350" dirty="0">
                <a:solidFill>
                  <a:srgbClr val="1F1F2E"/>
                </a:solidFill>
                <a:latin typeface="Arial" pitchFamily="34" charset="0"/>
                <a:ea typeface="Arial" pitchFamily="34" charset="-122"/>
                <a:cs typeface="Arial" pitchFamily="34" charset="-120"/>
              </a:rPr>
              <a:t>= sum over the 1,000 runs of |expected − actual|, divided by the sum of actual. In words: on average, by what fraction of the true count were we off.</a:t>
            </a:r>
            <a:endParaRPr lang="en-US" sz="1350" dirty="0"/>
          </a:p>
          <a:p>
            <a:pPr indent="0" marL="0">
              <a:spcAft>
                <a:spcPts val="900"/>
              </a:spcAft>
              <a:buNone/>
            </a:pPr>
            <a:r>
              <a:rPr lang="en-US" sz="1350" b="1" dirty="0">
                <a:solidFill>
                  <a:srgbClr val="1F1F2E"/>
                </a:solidFill>
                <a:latin typeface="Arial" pitchFamily="34" charset="0"/>
                <a:ea typeface="Arial" pitchFamily="34" charset="-122"/>
                <a:cs typeface="Arial" pitchFamily="34" charset="-120"/>
              </a:rPr>
              <a:t>0.05 </a:t>
            </a:r>
            <a:pPr indent="0" marL="0">
              <a:spcAft>
                <a:spcPts val="900"/>
              </a:spcAft>
              <a:buNone/>
            </a:pPr>
            <a:r>
              <a:rPr lang="en-US" sz="1350" dirty="0">
                <a:solidFill>
                  <a:srgbClr val="1F1F2E"/>
                </a:solidFill>
                <a:latin typeface="Arial" pitchFamily="34" charset="0"/>
                <a:ea typeface="Arial" pitchFamily="34" charset="-122"/>
                <a:cs typeface="Arial" pitchFamily="34" charset="-120"/>
              </a:rPr>
              <a:t>→ 5 % off.   0.50 → off by half.   3.0 → wildly wrong (the misses add up to three times the true total).</a:t>
            </a:r>
            <a:endParaRPr lang="en-US" sz="1350" dirty="0"/>
          </a:p>
          <a:p>
            <a:pPr indent="0" marL="0">
              <a:spcAft>
                <a:spcPts val="900"/>
              </a:spcAft>
              <a:buNone/>
            </a:pPr>
            <a:r>
              <a:rPr lang="en-US" sz="1350" b="1" dirty="0">
                <a:solidFill>
                  <a:srgbClr val="1F1F2E"/>
                </a:solidFill>
                <a:latin typeface="Arial" pitchFamily="34" charset="0"/>
                <a:ea typeface="Arial" pitchFamily="34" charset="-122"/>
                <a:cs typeface="Arial" pitchFamily="34" charset="-120"/>
              </a:rPr>
              <a:t>Predicted ÷ simulated </a:t>
            </a:r>
            <a:pPr indent="0" marL="0">
              <a:spcAft>
                <a:spcPts val="900"/>
              </a:spcAft>
              <a:buNone/>
            </a:pPr>
            <a:r>
              <a:rPr lang="en-US" sz="1350" dirty="0">
                <a:solidFill>
                  <a:srgbClr val="1F1F2E"/>
                </a:solidFill>
                <a:latin typeface="Arial" pitchFamily="34" charset="0"/>
                <a:ea typeface="Arial" pitchFamily="34" charset="-122"/>
                <a:cs typeface="Arial" pitchFamily="34" charset="-120"/>
              </a:rPr>
              <a:t>is the signed version: 3.28 means 3.28 × the true count (228 % too many); 1.09 means 9 % too many; 0.80 means 20 % too few.</a:t>
            </a:r>
            <a:endParaRPr lang="en-US" sz="1350" dirty="0"/>
          </a:p>
          <a:p>
            <a:pPr indent="0" marL="0">
              <a:spcAft>
                <a:spcPts val="900"/>
              </a:spcAft>
              <a:buNone/>
            </a:pPr>
            <a:r>
              <a:rPr lang="en-US" sz="1350" b="1" dirty="0">
                <a:solidFill>
                  <a:srgbClr val="1F1F2E"/>
                </a:solidFill>
                <a:latin typeface="Arial" pitchFamily="34" charset="0"/>
                <a:ea typeface="Arial" pitchFamily="34" charset="-122"/>
                <a:cs typeface="Arial" pitchFamily="34" charset="-120"/>
              </a:rPr>
              <a:t>Note: </a:t>
            </a:r>
            <a:pPr indent="0" marL="0">
              <a:spcAft>
                <a:spcPts val="900"/>
              </a:spcAft>
              <a:buNone/>
            </a:pPr>
            <a:r>
              <a:rPr lang="en-US" sz="1350" dirty="0">
                <a:solidFill>
                  <a:srgbClr val="1F1F2E"/>
                </a:solidFill>
                <a:latin typeface="Arial" pitchFamily="34" charset="0"/>
                <a:ea typeface="Arial" pitchFamily="34" charset="-122"/>
                <a:cs typeface="Arial" pitchFamily="34" charset="-120"/>
              </a:rPr>
              <a:t>a good count does not prove the right sites were named — that is what ranking checks.</a:t>
            </a:r>
            <a:endParaRPr lang="en-US" sz="1350" dirty="0"/>
          </a:p>
        </p:txBody>
      </p:sp>
      <p:sp>
        <p:nvSpPr>
          <p:cNvPr id="8" name="Text 5"/>
          <p:cNvSpPr txBox="1"/>
          <p:nvPr/>
        </p:nvSpPr>
        <p:spPr>
          <a:xfrm>
            <a:off x="548640" y="6144768"/>
            <a:ext cx="11064240" cy="411480"/>
          </a:xfrm>
          <a:prstGeom prst="rect">
            <a:avLst/>
          </a:prstGeom>
          <a:noFill/>
          <a:ln/>
        </p:spPr>
        <p:txBody>
          <a:bodyPr wrap="square" lIns="0" tIns="0" rIns="0" bIns="0" rtlCol="0" anchor="ctr"/>
          <a:lstStyle/>
          <a:p>
            <a:pPr indent="0" marL="0">
              <a:buNone/>
            </a:pPr>
            <a:r>
              <a:rPr lang="en-US" sz="1200" b="1" i="1" dirty="0">
                <a:solidFill>
                  <a:srgbClr val="4A3D7A"/>
                </a:solidFill>
                <a:latin typeface="Arial" pitchFamily="34" charset="0"/>
                <a:ea typeface="Arial" pitchFamily="34" charset="-122"/>
                <a:cs typeface="Arial" pitchFamily="34" charset="-120"/>
              </a:rPr>
              <a:t>Say:  </a:t>
            </a:r>
            <a:pPr indent="0" marL="0">
              <a:buNone/>
            </a:pPr>
            <a:r>
              <a:rPr lang="en-US" sz="1200" i="1" dirty="0">
                <a:solidFill>
                  <a:srgbClr val="4A3D7A"/>
                </a:solidFill>
                <a:latin typeface="Arial" pitchFamily="34" charset="0"/>
                <a:ea typeface="Arial" pitchFamily="34" charset="-122"/>
                <a:cs typeface="Arial" pitchFamily="34" charset="-120"/>
              </a:rPr>
              <a:t>Add up the probabilities: that is how many failures the model expects. Compare with what the simulator counted.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indent="0" marL="0">
              <a:buNone/>
            </a:pPr>
            <a:r>
              <a:rPr lang="en-US" sz="1100" b="1" spc="200" kern="0" dirty="0">
                <a:solidFill>
                  <a:srgbClr val="4A3D7A"/>
                </a:solidFill>
                <a:latin typeface="Arial" pitchFamily="34" charset="0"/>
                <a:ea typeface="Arial" pitchFamily="34" charset="-122"/>
                <a:cs typeface="Arial" pitchFamily="34" charset="-120"/>
              </a:rPr>
              <a:t>HOW WE SCORE · 3 OF 4</a:t>
            </a:r>
            <a:endParaRPr lang="en-US" sz="11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indent="0" marL="0">
              <a:buNone/>
            </a:pPr>
            <a:r>
              <a:rPr lang="en-US" sz="2400" b="1" dirty="0">
                <a:solidFill>
                  <a:srgbClr val="1F1F2E"/>
                </a:solidFill>
                <a:latin typeface="Arial" pitchFamily="34" charset="0"/>
                <a:ea typeface="Arial" pitchFamily="34" charset="-122"/>
                <a:cs typeface="Arial" pitchFamily="34" charset="-120"/>
              </a:rPr>
              <a:t>Ranking (AP): is the order right?  Calibration (ECE): are the percentages honest?</a:t>
            </a:r>
            <a:endParaRPr lang="en-US" sz="2400" dirty="0"/>
          </a:p>
        </p:txBody>
      </p:sp>
      <p:sp>
        <p:nvSpPr>
          <p:cNvPr id="4" name="Shape 2"/>
          <p:cNvSpPr/>
          <p:nvPr/>
        </p:nvSpPr>
        <p:spPr>
          <a:xfrm>
            <a:off x="548640" y="1783080"/>
            <a:ext cx="5394960" cy="3794760"/>
          </a:xfrm>
          <a:prstGeom prst="roundRect">
            <a:avLst>
              <a:gd name="adj" fmla="val 1928"/>
            </a:avLst>
          </a:prstGeom>
          <a:solidFill>
            <a:srgbClr val="EFEBF9"/>
          </a:solidFill>
          <a:ln w="9525">
            <a:solidFill>
              <a:srgbClr val="D9D0F0"/>
            </a:solidFill>
            <a:prstDash val="solid"/>
          </a:ln>
        </p:spPr>
      </p:sp>
      <p:sp>
        <p:nvSpPr>
          <p:cNvPr id="5" name="Text 3"/>
          <p:cNvSpPr txBox="1"/>
          <p:nvPr/>
        </p:nvSpPr>
        <p:spPr>
          <a:xfrm>
            <a:off x="777240" y="1920240"/>
            <a:ext cx="4937760" cy="365760"/>
          </a:xfrm>
          <a:prstGeom prst="rect">
            <a:avLst/>
          </a:prstGeom>
          <a:noFill/>
          <a:ln/>
        </p:spPr>
        <p:txBody>
          <a:bodyPr wrap="square" lIns="0" tIns="0" rIns="0" bIns="0" rtlCol="0" anchor="ctr"/>
          <a:lstStyle/>
          <a:p>
            <a:pPr indent="0" marL="0">
              <a:buNone/>
            </a:pPr>
            <a:r>
              <a:rPr lang="en-US" sz="1500" b="1" dirty="0">
                <a:solidFill>
                  <a:srgbClr val="4A3D7A"/>
                </a:solidFill>
                <a:latin typeface="Arial" pitchFamily="34" charset="0"/>
                <a:ea typeface="Arial" pitchFamily="34" charset="-122"/>
                <a:cs typeface="Arial" pitchFamily="34" charset="-120"/>
              </a:rPr>
              <a:t>Ranking — average precision (AP)</a:t>
            </a:r>
            <a:endParaRPr lang="en-US" sz="1500" dirty="0"/>
          </a:p>
        </p:txBody>
      </p:sp>
      <p:sp>
        <p:nvSpPr>
          <p:cNvPr id="6" name="Text 4"/>
          <p:cNvSpPr txBox="1"/>
          <p:nvPr/>
        </p:nvSpPr>
        <p:spPr>
          <a:xfrm>
            <a:off x="777240" y="2377440"/>
            <a:ext cx="4937760" cy="3108960"/>
          </a:xfrm>
          <a:prstGeom prst="rect">
            <a:avLst/>
          </a:prstGeom>
          <a:noFill/>
          <a:ln/>
        </p:spPr>
        <p:txBody>
          <a:bodyPr wrap="square" lIns="0" tIns="0" rIns="0" bIns="0" rtlCol="0" anchor="t"/>
          <a:lstStyle/>
          <a:p>
            <a:pPr indent="0" marL="0">
              <a:spcAft>
                <a:spcPts val="1000"/>
              </a:spcAft>
              <a:buNone/>
            </a:pPr>
            <a:r>
              <a:rPr lang="en-US" sz="1400" b="1" dirty="0">
                <a:solidFill>
                  <a:srgbClr val="1F1F2E"/>
                </a:solidFill>
                <a:latin typeface="Arial" pitchFamily="34" charset="0"/>
                <a:ea typeface="Arial" pitchFamily="34" charset="-122"/>
                <a:cs typeface="Arial" pitchFamily="34" charset="-120"/>
              </a:rPr>
              <a:t>Sort the sites </a:t>
            </a:r>
            <a:pPr indent="0" marL="0">
              <a:spcAft>
                <a:spcPts val="1000"/>
              </a:spcAft>
              <a:buNone/>
            </a:pPr>
            <a:r>
              <a:rPr lang="en-US" sz="1400" dirty="0">
                <a:solidFill>
                  <a:srgbClr val="1F1F2E"/>
                </a:solidFill>
                <a:latin typeface="Arial" pitchFamily="34" charset="0"/>
                <a:ea typeface="Arial" pitchFamily="34" charset="-122"/>
                <a:cs typeface="Arial" pitchFamily="34" charset="-120"/>
              </a:rPr>
              <a:t>from most to least likely to fail. Walk down the list. Are the sites that really failed at the top?</a:t>
            </a:r>
            <a:endParaRPr lang="en-US" sz="1400" dirty="0"/>
          </a:p>
          <a:p>
            <a:pPr indent="0" marL="0">
              <a:spcAft>
                <a:spcPts val="1000"/>
              </a:spcAft>
              <a:buNone/>
            </a:pPr>
            <a:r>
              <a:rPr lang="en-US" sz="1400" b="1" dirty="0">
                <a:solidFill>
                  <a:srgbClr val="1F1F2E"/>
                </a:solidFill>
                <a:latin typeface="Arial" pitchFamily="34" charset="0"/>
                <a:ea typeface="Arial" pitchFamily="34" charset="-122"/>
                <a:cs typeface="Arial" pitchFamily="34" charset="-120"/>
              </a:rPr>
              <a:t>1.0 </a:t>
            </a:r>
            <a:pPr indent="0" marL="0">
              <a:spcAft>
                <a:spcPts val="1000"/>
              </a:spcAft>
              <a:buNone/>
            </a:pPr>
            <a:r>
              <a:rPr lang="en-US" sz="1400" dirty="0">
                <a:solidFill>
                  <a:srgbClr val="1F1F2E"/>
                </a:solidFill>
                <a:latin typeface="Arial" pitchFamily="34" charset="0"/>
                <a:ea typeface="Arial" pitchFamily="34" charset="-122"/>
                <a:cs typeface="Arial" pitchFamily="34" charset="-120"/>
              </a:rPr>
              <a:t>= every failing site ranked above every surviving one. 0.9 is good, 0.97 very good.</a:t>
            </a:r>
            <a:endParaRPr lang="en-US" sz="1400" dirty="0"/>
          </a:p>
          <a:p>
            <a:pPr indent="0" marL="0">
              <a:spcAft>
                <a:spcPts val="1000"/>
              </a:spcAft>
              <a:buNone/>
            </a:pPr>
            <a:r>
              <a:rPr lang="en-US" sz="1400" b="1" dirty="0">
                <a:solidFill>
                  <a:srgbClr val="1F1F2E"/>
                </a:solidFill>
                <a:latin typeface="Arial" pitchFamily="34" charset="0"/>
                <a:ea typeface="Arial" pitchFamily="34" charset="-122"/>
                <a:cs typeface="Arial" pitchFamily="34" charset="-120"/>
              </a:rPr>
              <a:t>Ignores the values, </a:t>
            </a:r>
            <a:pPr indent="0" marL="0">
              <a:spcAft>
                <a:spcPts val="1000"/>
              </a:spcAft>
              <a:buNone/>
            </a:pPr>
            <a:r>
              <a:rPr lang="en-US" sz="1400" dirty="0">
                <a:solidFill>
                  <a:srgbClr val="1F1F2E"/>
                </a:solidFill>
                <a:latin typeface="Arial" pitchFamily="34" charset="0"/>
                <a:ea typeface="Arial" pitchFamily="34" charset="-122"/>
                <a:cs typeface="Arial" pitchFamily="34" charset="-120"/>
              </a:rPr>
              <a:t>only the order. A model can rank perfectly and still exaggerate every probability.</a:t>
            </a:r>
            <a:endParaRPr lang="en-US" sz="1400" dirty="0"/>
          </a:p>
        </p:txBody>
      </p:sp>
      <p:sp>
        <p:nvSpPr>
          <p:cNvPr id="7" name="Shape 5"/>
          <p:cNvSpPr/>
          <p:nvPr/>
        </p:nvSpPr>
        <p:spPr>
          <a:xfrm>
            <a:off x="6245352" y="1783080"/>
            <a:ext cx="5394960" cy="3794760"/>
          </a:xfrm>
          <a:prstGeom prst="roundRect">
            <a:avLst>
              <a:gd name="adj" fmla="val 1928"/>
            </a:avLst>
          </a:prstGeom>
          <a:solidFill>
            <a:srgbClr val="EFEBF9"/>
          </a:solidFill>
          <a:ln w="9525">
            <a:solidFill>
              <a:srgbClr val="D9D0F0"/>
            </a:solidFill>
            <a:prstDash val="solid"/>
          </a:ln>
        </p:spPr>
      </p:sp>
      <p:sp>
        <p:nvSpPr>
          <p:cNvPr id="8" name="Text 6"/>
          <p:cNvSpPr txBox="1"/>
          <p:nvPr/>
        </p:nvSpPr>
        <p:spPr>
          <a:xfrm>
            <a:off x="6473952" y="1920240"/>
            <a:ext cx="4937760" cy="365760"/>
          </a:xfrm>
          <a:prstGeom prst="rect">
            <a:avLst/>
          </a:prstGeom>
          <a:noFill/>
          <a:ln/>
        </p:spPr>
        <p:txBody>
          <a:bodyPr wrap="square" lIns="0" tIns="0" rIns="0" bIns="0" rtlCol="0" anchor="ctr"/>
          <a:lstStyle/>
          <a:p>
            <a:pPr indent="0" marL="0">
              <a:buNone/>
            </a:pPr>
            <a:r>
              <a:rPr lang="en-US" sz="1500" b="1" dirty="0">
                <a:solidFill>
                  <a:srgbClr val="4A3D7A"/>
                </a:solidFill>
                <a:latin typeface="Arial" pitchFamily="34" charset="0"/>
                <a:ea typeface="Arial" pitchFamily="34" charset="-122"/>
                <a:cs typeface="Arial" pitchFamily="34" charset="-120"/>
              </a:rPr>
              <a:t>Calibration — expected calibration error (ECE)</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73952" y="2377440"/>
          <a:ext cx="4937760" cy="914400"/>
        </p:xfrm>
        <a:graphic>
          <a:graphicData uri="http://schemas.openxmlformats.org/drawingml/2006/table">
            <a:tbl>
              <a:tblPr/>
              <a:tblGrid>
                <a:gridCol w="2926080"/>
                <a:gridCol w="2011680"/>
              </a:tblGrid>
              <a:tr h="292608">
                <a:tc>
                  <a:txBody>
                    <a:bodyPr/>
                    <a:lstStyle/>
                    <a:p>
                      <a:pPr algn="ctr" indent="0" marL="0">
                        <a:buNone/>
                      </a:pPr>
                      <a:r>
                        <a:rPr lang="en-US" sz="1100" b="1" dirty="0">
                          <a:solidFill>
                            <a:srgbClr val="4A3D7A"/>
                          </a:solidFill>
                          <a:latin typeface="Arial" pitchFamily="34" charset="0"/>
                          <a:ea typeface="Arial" pitchFamily="34" charset="-122"/>
                          <a:cs typeface="Arial" pitchFamily="34" charset="-120"/>
                        </a:rPr>
                        <a:t>bin 30–40 %</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c>
                  <a:txBody>
                    <a:bodyPr/>
                    <a:lstStyle/>
                    <a:p>
                      <a:pPr algn="ctr" indent="0" marL="0">
                        <a:buNone/>
                      </a:pPr>
                      <a:r>
                        <a:rPr lang="en-US" sz="1100" b="1" dirty="0">
                          <a:solidFill>
                            <a:srgbClr val="4A3D7A"/>
                          </a:solidFill>
                          <a:latin typeface="Arial" pitchFamily="34" charset="0"/>
                          <a:ea typeface="Arial" pitchFamily="34" charset="-122"/>
                          <a:cs typeface="Arial" pitchFamily="34" charset="-120"/>
                        </a:rPr>
                        <a:t>value</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r>
              <a:tr h="292608">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predictions in the bin</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Arial" pitchFamily="34" charset="0"/>
                          <a:ea typeface="Arial" pitchFamily="34" charset="-122"/>
                          <a:cs typeface="Arial" pitchFamily="34" charset="-120"/>
                        </a:rPr>
                        <a:t>100</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292608">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average stated probability</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Arial" pitchFamily="34" charset="0"/>
                          <a:ea typeface="Arial" pitchFamily="34" charset="-122"/>
                          <a:cs typeface="Arial" pitchFamily="34" charset="-120"/>
                        </a:rPr>
                        <a:t>35 %</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292608">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really failed</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Arial" pitchFamily="34" charset="0"/>
                          <a:ea typeface="Arial" pitchFamily="34" charset="-122"/>
                          <a:cs typeface="Arial" pitchFamily="34" charset="-120"/>
                        </a:rPr>
                        <a:t>20 of 100 = 20 %</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292608">
                <a:tc>
                  <a:txBody>
                    <a:bodyPr/>
                    <a:lstStyle/>
                    <a:p>
                      <a:pPr algn="l" indent="0" marL="0">
                        <a:buNone/>
                      </a:pPr>
                      <a:r>
                        <a:rPr lang="en-US" sz="1100" b="1" dirty="0">
                          <a:solidFill>
                            <a:srgbClr val="1F1F2E"/>
                          </a:solidFill>
                          <a:latin typeface="Arial" pitchFamily="34" charset="0"/>
                          <a:ea typeface="Arial" pitchFamily="34" charset="-122"/>
                          <a:cs typeface="Arial" pitchFamily="34" charset="-120"/>
                        </a:rPr>
                        <a:t>gap</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Arial" pitchFamily="34" charset="0"/>
                          <a:ea typeface="Arial" pitchFamily="34" charset="-122"/>
                          <a:cs typeface="Arial" pitchFamily="34" charset="-120"/>
                        </a:rPr>
                        <a:t>15 points</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bl>
          </a:graphicData>
        </a:graphic>
      </p:graphicFrame>
      <p:sp>
        <p:nvSpPr>
          <p:cNvPr id="10" name="Text 7"/>
          <p:cNvSpPr txBox="1"/>
          <p:nvPr/>
        </p:nvSpPr>
        <p:spPr>
          <a:xfrm>
            <a:off x="6473952" y="3931920"/>
            <a:ext cx="4937760" cy="1554480"/>
          </a:xfrm>
          <a:prstGeom prst="rect">
            <a:avLst/>
          </a:prstGeom>
          <a:noFill/>
          <a:ln/>
        </p:spPr>
        <p:txBody>
          <a:bodyPr wrap="square" lIns="0" tIns="0" rIns="0" bIns="0" rtlCol="0" anchor="t"/>
          <a:lstStyle/>
          <a:p>
            <a:pPr indent="0" marL="0">
              <a:buNone/>
            </a:pPr>
            <a:r>
              <a:rPr lang="en-US" sz="1300" dirty="0">
                <a:solidFill>
                  <a:srgbClr val="1F1F2E"/>
                </a:solidFill>
                <a:latin typeface="Arial" pitchFamily="34" charset="0"/>
                <a:ea typeface="Arial" pitchFamily="34" charset="-122"/>
                <a:cs typeface="Arial" pitchFamily="34" charset="-120"/>
              </a:rPr>
              <a:t>ECE = the gap averaged over ten such bins, weighted by how many predictions each holds. Rule of thumb: below 0.02 the probabilities can be read literally; 0.05–0.10 they should not. An average can hide one badly-off bin.</a:t>
            </a:r>
            <a:endParaRPr lang="en-US" sz="1300" dirty="0"/>
          </a:p>
        </p:txBody>
      </p:sp>
      <p:sp>
        <p:nvSpPr>
          <p:cNvPr id="11" name="Text 8"/>
          <p:cNvSpPr txBox="1"/>
          <p:nvPr/>
        </p:nvSpPr>
        <p:spPr>
          <a:xfrm>
            <a:off x="548640" y="6144768"/>
            <a:ext cx="11064240" cy="411480"/>
          </a:xfrm>
          <a:prstGeom prst="rect">
            <a:avLst/>
          </a:prstGeom>
          <a:noFill/>
          <a:ln/>
        </p:spPr>
        <p:txBody>
          <a:bodyPr wrap="square" lIns="0" tIns="0" rIns="0" bIns="0" rtlCol="0" anchor="ctr"/>
          <a:lstStyle/>
          <a:p>
            <a:pPr indent="0" marL="0">
              <a:buNone/>
            </a:pPr>
            <a:r>
              <a:rPr lang="en-US" sz="1200" b="1" i="1" dirty="0">
                <a:solidFill>
                  <a:srgbClr val="4A3D7A"/>
                </a:solidFill>
                <a:latin typeface="Arial" pitchFamily="34" charset="0"/>
                <a:ea typeface="Arial" pitchFamily="34" charset="-122"/>
                <a:cs typeface="Arial" pitchFamily="34" charset="-120"/>
              </a:rPr>
              <a:t>Say:  </a:t>
            </a:r>
            <a:pPr indent="0" marL="0">
              <a:buNone/>
            </a:pPr>
            <a:r>
              <a:rPr lang="en-US" sz="1200" i="1" dirty="0">
                <a:solidFill>
                  <a:srgbClr val="4A3D7A"/>
                </a:solidFill>
                <a:latin typeface="Arial" pitchFamily="34" charset="0"/>
                <a:ea typeface="Arial" pitchFamily="34" charset="-122"/>
                <a:cs typeface="Arial" pitchFamily="34" charset="-120"/>
              </a:rPr>
              <a:t>AP asks whether the order is right; ECE asks whether "30 %" really means thirty percent.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indent="0" marL="0">
              <a:buNone/>
            </a:pPr>
            <a:r>
              <a:rPr lang="en-US" sz="1100" b="1" spc="200" kern="0" dirty="0">
                <a:solidFill>
                  <a:srgbClr val="4A3D7A"/>
                </a:solidFill>
                <a:latin typeface="Arial" pitchFamily="34" charset="0"/>
                <a:ea typeface="Arial" pitchFamily="34" charset="-122"/>
                <a:cs typeface="Arial" pitchFamily="34" charset="-120"/>
              </a:rPr>
              <a:t>HOW WE SCORE · 4 OF 4</a:t>
            </a:r>
            <a:endParaRPr lang="en-US" sz="11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indent="0" marL="0">
              <a:buNone/>
            </a:pPr>
            <a:r>
              <a:rPr lang="en-US" sz="2400" b="1" dirty="0">
                <a:solidFill>
                  <a:srgbClr val="1F1F2E"/>
                </a:solidFill>
                <a:latin typeface="Arial" pitchFamily="34" charset="0"/>
                <a:ea typeface="Arial" pitchFamily="34" charset="-122"/>
                <a:cs typeface="Arial" pitchFamily="34" charset="-120"/>
              </a:rPr>
              <a:t>The floor: how low can any count error go on a given storm?</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852160" cy="914400"/>
        </p:xfrm>
        <a:graphic>
          <a:graphicData uri="http://schemas.openxmlformats.org/drawingml/2006/table">
            <a:tbl>
              <a:tblPr/>
              <a:tblGrid>
                <a:gridCol w="2194560"/>
                <a:gridCol w="914400"/>
                <a:gridCol w="914400"/>
                <a:gridCol w="914400"/>
                <a:gridCol w="914400"/>
              </a:tblGrid>
              <a:tr h="384048">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storm t580w24 (2.44 m)</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by 6 h</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by 24 h</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by 48 h</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by 96 h</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r>
              <a:tr h="384048">
                <a:tc>
                  <a:txBody>
                    <a:bodyPr/>
                    <a:lstStyle/>
                    <a:p>
                      <a:pPr algn="l" indent="0" marL="0">
                        <a:buNone/>
                      </a:pPr>
                      <a:r>
                        <a:rPr lang="en-US" sz="1200" dirty="0">
                          <a:solidFill>
                            <a:srgbClr val="1F1F2E"/>
                          </a:solidFill>
                          <a:latin typeface="Arial" pitchFamily="34" charset="0"/>
                          <a:ea typeface="Arial" pitchFamily="34" charset="-122"/>
                          <a:cs typeface="Arial" pitchFamily="34" charset="-120"/>
                        </a:rPr>
                        <a:t>simulator run 1</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116</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561</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679</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B5443C"/>
                          </a:solidFill>
                          <a:latin typeface="Arial" pitchFamily="34" charset="0"/>
                          <a:ea typeface="Arial" pitchFamily="34" charset="-122"/>
                          <a:cs typeface="Arial" pitchFamily="34" charset="-120"/>
                        </a:rPr>
                        <a:t>1,514</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84048">
                <a:tc>
                  <a:txBody>
                    <a:bodyPr/>
                    <a:lstStyle/>
                    <a:p>
                      <a:pPr algn="l" indent="0" marL="0">
                        <a:buNone/>
                      </a:pPr>
                      <a:r>
                        <a:rPr lang="en-US" sz="1200" dirty="0">
                          <a:solidFill>
                            <a:srgbClr val="1F1F2E"/>
                          </a:solidFill>
                          <a:latin typeface="Arial" pitchFamily="34" charset="0"/>
                          <a:ea typeface="Arial" pitchFamily="34" charset="-122"/>
                          <a:cs typeface="Arial" pitchFamily="34" charset="-120"/>
                        </a:rPr>
                        <a:t>simulator run 2</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184</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237</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273</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1F1F2E"/>
                          </a:solidFill>
                          <a:latin typeface="Arial" pitchFamily="34" charset="0"/>
                          <a:ea typeface="Arial" pitchFamily="34" charset="-122"/>
                          <a:cs typeface="Arial" pitchFamily="34" charset="-120"/>
                        </a:rPr>
                        <a:t>341</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84048">
                <a:tc>
                  <a:txBody>
                    <a:bodyPr/>
                    <a:lstStyle/>
                    <a:p>
                      <a:pPr algn="l" indent="0" marL="0">
                        <a:buNone/>
                      </a:pPr>
                      <a:r>
                        <a:rPr lang="en-US" sz="1200" dirty="0">
                          <a:solidFill>
                            <a:srgbClr val="1F1F2E"/>
                          </a:solidFill>
                          <a:latin typeface="Arial" pitchFamily="34" charset="0"/>
                          <a:ea typeface="Arial" pitchFamily="34" charset="-122"/>
                          <a:cs typeface="Arial" pitchFamily="34" charset="-120"/>
                        </a:rPr>
                        <a:t>simulator run 3</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123</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225</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289</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1F1F2E"/>
                          </a:solidFill>
                          <a:latin typeface="Arial" pitchFamily="34" charset="0"/>
                          <a:ea typeface="Arial" pitchFamily="34" charset="-122"/>
                          <a:cs typeface="Arial" pitchFamily="34" charset="-120"/>
                        </a:rPr>
                        <a:t>360</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bl>
          </a:graphicData>
        </a:graphic>
      </p:graphicFrame>
      <p:sp>
        <p:nvSpPr>
          <p:cNvPr id="5" name="Text 2"/>
          <p:cNvSpPr txBox="1"/>
          <p:nvPr/>
        </p:nvSpPr>
        <p:spPr>
          <a:xfrm>
            <a:off x="548640" y="3429000"/>
            <a:ext cx="5852160" cy="2194560"/>
          </a:xfrm>
          <a:prstGeom prst="rect">
            <a:avLst/>
          </a:prstGeom>
          <a:noFill/>
          <a:ln/>
        </p:spPr>
        <p:txBody>
          <a:bodyPr wrap="square" lIns="0" tIns="0" rIns="0" bIns="0" rtlCol="0" anchor="t"/>
          <a:lstStyle/>
          <a:p>
            <a:pPr indent="0" marL="0">
              <a:buNone/>
            </a:pPr>
            <a:r>
              <a:rPr lang="en-US" sz="1400" dirty="0">
                <a:solidFill>
                  <a:srgbClr val="1F1F2E"/>
                </a:solidFill>
                <a:latin typeface="Arial" pitchFamily="34" charset="0"/>
                <a:ea typeface="Arial" pitchFamily="34" charset="-122"/>
                <a:cs typeface="Arial" pitchFamily="34" charset="-120"/>
              </a:rPr>
              <a:t>Same storm, same flood map. In run 1 the cascade tipped; in runs 2 and 3 it fizzled. Whether the random backup buffers hold decides between ~350 and ~1,500 failures. Over 1,000 runs: 42 % end below half the mean.</a:t>
            </a:r>
            <a:endParaRPr lang="en-US" sz="1400" dirty="0"/>
          </a:p>
        </p:txBody>
      </p:sp>
      <p:sp>
        <p:nvSpPr>
          <p:cNvPr id="6" name="Shape 3"/>
          <p:cNvSpPr/>
          <p:nvPr/>
        </p:nvSpPr>
        <p:spPr>
          <a:xfrm>
            <a:off x="6675120" y="1783080"/>
            <a:ext cx="4965192" cy="3794760"/>
          </a:xfrm>
          <a:prstGeom prst="roundRect">
            <a:avLst>
              <a:gd name="adj" fmla="val 1928"/>
            </a:avLst>
          </a:prstGeom>
          <a:solidFill>
            <a:srgbClr val="EFEBF9"/>
          </a:solidFill>
          <a:ln w="9525">
            <a:solidFill>
              <a:srgbClr val="D9D0F0"/>
            </a:solidFill>
            <a:prstDash val="solid"/>
          </a:ln>
        </p:spPr>
      </p:sp>
      <p:sp>
        <p:nvSpPr>
          <p:cNvPr id="7" name="Text 4"/>
          <p:cNvSpPr txBox="1"/>
          <p:nvPr/>
        </p:nvSpPr>
        <p:spPr>
          <a:xfrm>
            <a:off x="6903720" y="1920240"/>
            <a:ext cx="4572000" cy="3657600"/>
          </a:xfrm>
          <a:prstGeom prst="rect">
            <a:avLst/>
          </a:prstGeom>
          <a:noFill/>
          <a:ln/>
        </p:spPr>
        <p:txBody>
          <a:bodyPr wrap="square" lIns="0" tIns="0" rIns="0" bIns="0" rtlCol="0" anchor="t"/>
          <a:lstStyle/>
          <a:p>
            <a:pPr indent="0" marL="0">
              <a:spcAft>
                <a:spcPts val="800"/>
              </a:spcAft>
              <a:buNone/>
            </a:pPr>
            <a:r>
              <a:rPr lang="en-US" sz="1350" b="1" dirty="0">
                <a:solidFill>
                  <a:srgbClr val="1F1F2E"/>
                </a:solidFill>
                <a:latin typeface="Arial" pitchFamily="34" charset="0"/>
                <a:ea typeface="Arial" pitchFamily="34" charset="-122"/>
                <a:cs typeface="Arial" pitchFamily="34" charset="-120"/>
              </a:rPr>
              <a:t>A predictor that knows the storm but not the run's dice </a:t>
            </a:r>
            <a:pPr indent="0" marL="0">
              <a:spcAft>
                <a:spcPts val="800"/>
              </a:spcAft>
              <a:buNone/>
            </a:pPr>
            <a:r>
              <a:rPr lang="en-US" sz="1350" dirty="0">
                <a:solidFill>
                  <a:srgbClr val="1F1F2E"/>
                </a:solidFill>
                <a:latin typeface="Arial" pitchFamily="34" charset="0"/>
                <a:ea typeface="Arial" pitchFamily="34" charset="-122"/>
                <a:cs typeface="Arial" pitchFamily="34" charset="-120"/>
              </a:rPr>
              <a:t>must give the same count for every run. The best single number is the median run. Its error is the floor.</a:t>
            </a:r>
            <a:endParaRPr lang="en-US" sz="1350" dirty="0"/>
          </a:p>
          <a:p>
            <a:pPr indent="0" marL="0">
              <a:spcAft>
                <a:spcPts val="800"/>
              </a:spcAft>
              <a:buNone/>
            </a:pPr>
            <a:r>
              <a:rPr lang="en-US" sz="1350" b="1" dirty="0">
                <a:solidFill>
                  <a:srgbClr val="1F1F2E"/>
                </a:solidFill>
                <a:latin typeface="Arial" pitchFamily="34" charset="0"/>
                <a:ea typeface="Arial" pitchFamily="34" charset="-122"/>
                <a:cs typeface="Arial" pitchFamily="34" charset="-120"/>
              </a:rPr>
              <a:t>Here the floor is 0.50: </a:t>
            </a:r>
            <a:pPr indent="0" marL="0">
              <a:spcAft>
                <a:spcPts val="800"/>
              </a:spcAft>
              <a:buNone/>
            </a:pPr>
            <a:r>
              <a:rPr lang="en-US" sz="1350" dirty="0">
                <a:solidFill>
                  <a:srgbClr val="1F1F2E"/>
                </a:solidFill>
                <a:latin typeface="Arial" pitchFamily="34" charset="0"/>
                <a:ea typeface="Arial" pitchFamily="34" charset="-122"/>
                <a:cs typeface="Arial" pitchFamily="34" charset="-120"/>
              </a:rPr>
              <a:t>even the best fixed answer is off by half, because the runs themselves are split.</a:t>
            </a:r>
            <a:endParaRPr lang="en-US" sz="1350" dirty="0"/>
          </a:p>
          <a:p>
            <a:pPr indent="0" marL="0">
              <a:spcAft>
                <a:spcPts val="800"/>
              </a:spcAft>
              <a:buNone/>
            </a:pPr>
            <a:r>
              <a:rPr lang="en-US" sz="1350" b="1" dirty="0">
                <a:solidFill>
                  <a:srgbClr val="1F1F2E"/>
                </a:solidFill>
                <a:latin typeface="Arial" pitchFamily="34" charset="0"/>
                <a:ea typeface="Arial" pitchFamily="34" charset="-122"/>
                <a:cs typeface="Arial" pitchFamily="34" charset="-120"/>
              </a:rPr>
              <a:t>Judge every model against its storm's floor: </a:t>
            </a:r>
            <a:pPr indent="0" marL="0">
              <a:spcAft>
                <a:spcPts val="800"/>
              </a:spcAft>
              <a:buNone/>
            </a:pPr>
            <a:r>
              <a:rPr lang="en-US" sz="1350" dirty="0">
                <a:solidFill>
                  <a:srgbClr val="1F1F2E"/>
                </a:solidFill>
                <a:latin typeface="Arial" pitchFamily="34" charset="0"/>
                <a:ea typeface="Arial" pitchFamily="34" charset="-122"/>
                <a:cs typeface="Arial" pitchFamily="34" charset="-120"/>
              </a:rPr>
              <a:t>big storms 0.01–0.04, the smallest 0.14–0.27, this one 0.50.</a:t>
            </a:r>
            <a:endParaRPr lang="en-US" sz="1350" dirty="0"/>
          </a:p>
          <a:p>
            <a:pPr indent="0" marL="0">
              <a:spcAft>
                <a:spcPts val="800"/>
              </a:spcAft>
              <a:buNone/>
            </a:pPr>
            <a:r>
              <a:rPr lang="en-US" sz="1350" b="1" dirty="0">
                <a:solidFill>
                  <a:srgbClr val="1F1F2E"/>
                </a:solidFill>
                <a:latin typeface="Arial" pitchFamily="34" charset="0"/>
                <a:ea typeface="Arial" pitchFamily="34" charset="-122"/>
                <a:cs typeface="Arial" pitchFamily="34" charset="-120"/>
              </a:rPr>
              <a:t>Our model sees each run's seeds, </a:t>
            </a:r>
            <a:pPr indent="0" marL="0">
              <a:spcAft>
                <a:spcPts val="800"/>
              </a:spcAft>
              <a:buNone/>
            </a:pPr>
            <a:r>
              <a:rPr lang="en-US" sz="1350" dirty="0">
                <a:solidFill>
                  <a:srgbClr val="1F1F2E"/>
                </a:solidFill>
                <a:latin typeface="Arial" pitchFamily="34" charset="0"/>
                <a:ea typeface="Arial" pitchFamily="34" charset="-122"/>
                <a:cs typeface="Arial" pitchFamily="34" charset="-120"/>
              </a:rPr>
              <a:t>so it can dip slightly under the floor; it never sees the buffer draws.</a:t>
            </a:r>
            <a:endParaRPr lang="en-US" sz="1350" dirty="0"/>
          </a:p>
        </p:txBody>
      </p:sp>
      <p:sp>
        <p:nvSpPr>
          <p:cNvPr id="8" name="Text 5"/>
          <p:cNvSpPr txBox="1"/>
          <p:nvPr/>
        </p:nvSpPr>
        <p:spPr>
          <a:xfrm>
            <a:off x="548640" y="6144768"/>
            <a:ext cx="11064240" cy="411480"/>
          </a:xfrm>
          <a:prstGeom prst="rect">
            <a:avLst/>
          </a:prstGeom>
          <a:noFill/>
          <a:ln/>
        </p:spPr>
        <p:txBody>
          <a:bodyPr wrap="square" lIns="0" tIns="0" rIns="0" bIns="0" rtlCol="0" anchor="ctr"/>
          <a:lstStyle/>
          <a:p>
            <a:pPr indent="0" marL="0">
              <a:buNone/>
            </a:pPr>
            <a:r>
              <a:rPr lang="en-US" sz="1200" b="1" i="1" dirty="0">
                <a:solidFill>
                  <a:srgbClr val="4A3D7A"/>
                </a:solidFill>
                <a:latin typeface="Arial" pitchFamily="34" charset="0"/>
                <a:ea typeface="Arial" pitchFamily="34" charset="-122"/>
                <a:cs typeface="Arial" pitchFamily="34" charset="-120"/>
              </a:rPr>
              <a:t>Say:  </a:t>
            </a:r>
            <a:pPr indent="0" marL="0">
              <a:buNone/>
            </a:pPr>
            <a:r>
              <a:rPr lang="en-US" sz="1200" i="1" dirty="0">
                <a:solidFill>
                  <a:srgbClr val="4A3D7A"/>
                </a:solidFill>
                <a:latin typeface="Arial" pitchFamily="34" charset="0"/>
                <a:ea typeface="Arial" pitchFamily="34" charset="-122"/>
                <a:cs typeface="Arial" pitchFamily="34" charset="-120"/>
              </a:rPr>
              <a:t>Some storms are coin flips for the simulator itself. The floor says how much count error is unavoidable.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indent="0" marL="0">
              <a:buNone/>
            </a:pPr>
            <a:r>
              <a:rPr lang="en-US" sz="1100" b="1" spc="200" kern="0" dirty="0">
                <a:solidFill>
                  <a:srgbClr val="4A3D7A"/>
                </a:solidFill>
                <a:latin typeface="Arial" pitchFamily="34" charset="0"/>
                <a:ea typeface="Arial" pitchFamily="34" charset="-122"/>
                <a:cs typeface="Arial" pitchFamily="34" charset="-120"/>
              </a:rPr>
              <a:t>BEFORE THE NUMBERS</a:t>
            </a:r>
            <a:endParaRPr lang="en-US" sz="11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indent="0" marL="0">
              <a:buNone/>
            </a:pPr>
            <a:r>
              <a:rPr lang="en-US" sz="2400" b="1" dirty="0">
                <a:solidFill>
                  <a:srgbClr val="1F1F2E"/>
                </a:solidFill>
                <a:latin typeface="Arial" pitchFamily="34" charset="0"/>
                <a:ea typeface="Arial" pitchFamily="34" charset="-122"/>
                <a:cs typeface="Arial" pitchFamily="34" charset="-120"/>
              </a:rPr>
              <a:t>Three yardsticks: a baseline with no learning, a check on luck, and no moving of goalposts</a:t>
            </a:r>
            <a:endParaRPr lang="en-US" sz="2400" dirty="0"/>
          </a:p>
        </p:txBody>
      </p:sp>
      <p:sp>
        <p:nvSpPr>
          <p:cNvPr id="4" name="Shape 2"/>
          <p:cNvSpPr/>
          <p:nvPr/>
        </p:nvSpPr>
        <p:spPr>
          <a:xfrm>
            <a:off x="548640" y="1783080"/>
            <a:ext cx="3566160" cy="3794760"/>
          </a:xfrm>
          <a:prstGeom prst="roundRect">
            <a:avLst>
              <a:gd name="adj" fmla="val 2051"/>
            </a:avLst>
          </a:prstGeom>
          <a:solidFill>
            <a:srgbClr val="EFEBF9"/>
          </a:solidFill>
          <a:ln w="9525">
            <a:solidFill>
              <a:srgbClr val="D9D0F0"/>
            </a:solidFill>
            <a:prstDash val="solid"/>
          </a:ln>
        </p:spPr>
      </p:sp>
      <p:sp>
        <p:nvSpPr>
          <p:cNvPr id="5" name="Text 3"/>
          <p:cNvSpPr txBox="1"/>
          <p:nvPr/>
        </p:nvSpPr>
        <p:spPr>
          <a:xfrm>
            <a:off x="777240" y="1920240"/>
            <a:ext cx="3108960" cy="365760"/>
          </a:xfrm>
          <a:prstGeom prst="rect">
            <a:avLst/>
          </a:prstGeom>
          <a:noFill/>
          <a:ln/>
        </p:spPr>
        <p:txBody>
          <a:bodyPr wrap="square" lIns="0" tIns="0" rIns="0" bIns="0" rtlCol="0" anchor="ctr"/>
          <a:lstStyle/>
          <a:p>
            <a:pPr indent="0" marL="0">
              <a:buNone/>
            </a:pPr>
            <a:r>
              <a:rPr lang="en-US" sz="1500" b="1" dirty="0">
                <a:solidFill>
                  <a:srgbClr val="4A3D7A"/>
                </a:solidFill>
                <a:latin typeface="Arial" pitchFamily="34" charset="0"/>
                <a:ea typeface="Arial" pitchFamily="34" charset="-122"/>
                <a:cs typeface="Arial" pitchFamily="34" charset="-120"/>
              </a:rPr>
              <a:t>The lookup table</a:t>
            </a:r>
            <a:endParaRPr lang="en-US" sz="1500" dirty="0"/>
          </a:p>
        </p:txBody>
      </p:sp>
      <p:sp>
        <p:nvSpPr>
          <p:cNvPr id="6" name="Text 4"/>
          <p:cNvSpPr txBox="1"/>
          <p:nvPr/>
        </p:nvSpPr>
        <p:spPr>
          <a:xfrm>
            <a:off x="777240" y="2423160"/>
            <a:ext cx="3108960" cy="3108960"/>
          </a:xfrm>
          <a:prstGeom prst="rect">
            <a:avLst/>
          </a:prstGeom>
          <a:noFill/>
          <a:ln/>
        </p:spPr>
        <p:txBody>
          <a:bodyPr wrap="square" lIns="0" tIns="0" rIns="0" bIns="0" rtlCol="0" anchor="t"/>
          <a:lstStyle/>
          <a:p>
            <a:pPr indent="0" marL="0">
              <a:buNone/>
            </a:pPr>
            <a:r>
              <a:rPr lang="en-US" sz="1400" dirty="0">
                <a:solidFill>
                  <a:srgbClr val="1F1F2E"/>
                </a:solidFill>
                <a:latin typeface="Arial" pitchFamily="34" charset="0"/>
                <a:ea typeface="Arial" pitchFamily="34" charset="-122"/>
                <a:cs typeface="Arial" pitchFamily="34" charset="-120"/>
              </a:rPr>
              <a:t>No neural network. For a new storm, take the training storm with the closest peak water level and reuse its failure frequencies.</a:t>
            </a:r>
            <a:endParaRPr lang="en-US" sz="1400" dirty="0"/>
          </a:p>
          <a:p>
            <a:pPr indent="0" marL="0">
              <a:buNone/>
            </a:pPr>
            <a:endParaRPr lang="en-US" sz="1400" dirty="0"/>
          </a:p>
          <a:p>
            <a:pPr indent="0" marL="0">
              <a:buNone/>
            </a:pPr>
            <a:r>
              <a:rPr lang="en-US" sz="1400" dirty="0">
                <a:solidFill>
                  <a:srgbClr val="1F1F2E"/>
                </a:solidFill>
                <a:latin typeface="Arial" pitchFamily="34" charset="0"/>
                <a:ea typeface="Arial" pitchFamily="34" charset="-122"/>
                <a:cs typeface="Arial" pitchFamily="34" charset="-120"/>
              </a:rPr>
              <a:t>Strong on GISSR maps, which are nested by water level (a 3.4 m footprint is a 3.1 m footprint plus a ring). Weak on a map with a different pattern (GeoClaw).</a:t>
            </a:r>
            <a:endParaRPr lang="en-US" sz="1400" dirty="0"/>
          </a:p>
        </p:txBody>
      </p:sp>
      <p:sp>
        <p:nvSpPr>
          <p:cNvPr id="7" name="Shape 5"/>
          <p:cNvSpPr/>
          <p:nvPr/>
        </p:nvSpPr>
        <p:spPr>
          <a:xfrm>
            <a:off x="4315968" y="1783080"/>
            <a:ext cx="3566160" cy="3794760"/>
          </a:xfrm>
          <a:prstGeom prst="roundRect">
            <a:avLst>
              <a:gd name="adj" fmla="val 2051"/>
            </a:avLst>
          </a:prstGeom>
          <a:solidFill>
            <a:srgbClr val="EFEBF9"/>
          </a:solidFill>
          <a:ln w="9525">
            <a:solidFill>
              <a:srgbClr val="D9D0F0"/>
            </a:solidFill>
            <a:prstDash val="solid"/>
          </a:ln>
        </p:spPr>
      </p:sp>
      <p:sp>
        <p:nvSpPr>
          <p:cNvPr id="8" name="Text 6"/>
          <p:cNvSpPr txBox="1"/>
          <p:nvPr/>
        </p:nvSpPr>
        <p:spPr>
          <a:xfrm>
            <a:off x="4544568" y="1920240"/>
            <a:ext cx="3108960" cy="365760"/>
          </a:xfrm>
          <a:prstGeom prst="rect">
            <a:avLst/>
          </a:prstGeom>
          <a:noFill/>
          <a:ln/>
        </p:spPr>
        <p:txBody>
          <a:bodyPr wrap="square" lIns="0" tIns="0" rIns="0" bIns="0" rtlCol="0" anchor="ctr"/>
          <a:lstStyle/>
          <a:p>
            <a:pPr indent="0" marL="0">
              <a:buNone/>
            </a:pPr>
            <a:r>
              <a:rPr lang="en-US" sz="1500" b="1" dirty="0">
                <a:solidFill>
                  <a:srgbClr val="4A3D7A"/>
                </a:solidFill>
                <a:latin typeface="Arial" pitchFamily="34" charset="0"/>
                <a:ea typeface="Arial" pitchFamily="34" charset="-122"/>
                <a:cs typeface="Arial" pitchFamily="34" charset="-120"/>
              </a:rPr>
              <a:t>Two random starts</a:t>
            </a:r>
            <a:endParaRPr lang="en-US" sz="1500" dirty="0"/>
          </a:p>
        </p:txBody>
      </p:sp>
      <p:sp>
        <p:nvSpPr>
          <p:cNvPr id="9" name="Text 7"/>
          <p:cNvSpPr txBox="1"/>
          <p:nvPr/>
        </p:nvSpPr>
        <p:spPr>
          <a:xfrm>
            <a:off x="4544568" y="2423160"/>
            <a:ext cx="3108960" cy="3108960"/>
          </a:xfrm>
          <a:prstGeom prst="rect">
            <a:avLst/>
          </a:prstGeom>
          <a:noFill/>
          <a:ln/>
        </p:spPr>
        <p:txBody>
          <a:bodyPr wrap="square" lIns="0" tIns="0" rIns="0" bIns="0" rtlCol="0" anchor="t"/>
          <a:lstStyle/>
          <a:p>
            <a:pPr indent="0" marL="0">
              <a:buNone/>
            </a:pPr>
            <a:r>
              <a:rPr lang="en-US" sz="1400" dirty="0">
                <a:solidFill>
                  <a:srgbClr val="1F1F2E"/>
                </a:solidFill>
                <a:latin typeface="Arial" pitchFamily="34" charset="0"/>
                <a:ea typeface="Arial" pitchFamily="34" charset="-122"/>
                <a:cs typeface="Arial" pitchFamily="34" charset="-120"/>
              </a:rPr>
              <a:t>Every setting was trained twice from different random initialisations. Tables show the mean.</a:t>
            </a:r>
            <a:endParaRPr lang="en-US" sz="1400" dirty="0"/>
          </a:p>
          <a:p>
            <a:pPr indent="0" marL="0">
              <a:buNone/>
            </a:pPr>
            <a:endParaRPr lang="en-US" sz="1400" dirty="0"/>
          </a:p>
          <a:p>
            <a:pPr indent="0" marL="0">
              <a:buNone/>
            </a:pPr>
            <a:r>
              <a:rPr lang="en-US" sz="1400" dirty="0">
                <a:solidFill>
                  <a:srgbClr val="1F1F2E"/>
                </a:solidFill>
                <a:latin typeface="Arial" pitchFamily="34" charset="0"/>
                <a:ea typeface="Arial" pitchFamily="34" charset="-122"/>
                <a:cs typeface="Arial" pitchFamily="34" charset="-120"/>
              </a:rPr>
              <a:t>A win is called clear only if both starts of one setting beat both starts of the other. A transparency rule, not a significance test.</a:t>
            </a:r>
            <a:endParaRPr lang="en-US" sz="1400" dirty="0"/>
          </a:p>
        </p:txBody>
      </p:sp>
      <p:sp>
        <p:nvSpPr>
          <p:cNvPr id="10" name="Shape 8"/>
          <p:cNvSpPr/>
          <p:nvPr/>
        </p:nvSpPr>
        <p:spPr>
          <a:xfrm>
            <a:off x="8074152" y="1783080"/>
            <a:ext cx="3566160" cy="3794760"/>
          </a:xfrm>
          <a:prstGeom prst="roundRect">
            <a:avLst>
              <a:gd name="adj" fmla="val 2051"/>
            </a:avLst>
          </a:prstGeom>
          <a:solidFill>
            <a:srgbClr val="EFEBF9"/>
          </a:solidFill>
          <a:ln w="9525">
            <a:solidFill>
              <a:srgbClr val="D9D0F0"/>
            </a:solidFill>
            <a:prstDash val="solid"/>
          </a:ln>
        </p:spPr>
      </p:sp>
      <p:sp>
        <p:nvSpPr>
          <p:cNvPr id="11" name="Text 9"/>
          <p:cNvSpPr txBox="1"/>
          <p:nvPr/>
        </p:nvSpPr>
        <p:spPr>
          <a:xfrm>
            <a:off x="8302752" y="1920240"/>
            <a:ext cx="3108960" cy="365760"/>
          </a:xfrm>
          <a:prstGeom prst="rect">
            <a:avLst/>
          </a:prstGeom>
          <a:noFill/>
          <a:ln/>
        </p:spPr>
        <p:txBody>
          <a:bodyPr wrap="square" lIns="0" tIns="0" rIns="0" bIns="0" rtlCol="0" anchor="ctr"/>
          <a:lstStyle/>
          <a:p>
            <a:pPr indent="0" marL="0">
              <a:buNone/>
            </a:pPr>
            <a:r>
              <a:rPr lang="en-US" sz="1500" b="1" dirty="0">
                <a:solidFill>
                  <a:srgbClr val="4A3D7A"/>
                </a:solidFill>
                <a:latin typeface="Arial" pitchFamily="34" charset="0"/>
                <a:ea typeface="Arial" pitchFamily="34" charset="-122"/>
                <a:cs typeface="Arial" pitchFamily="34" charset="-120"/>
              </a:rPr>
              <a:t>Predictions written first</a:t>
            </a:r>
            <a:endParaRPr lang="en-US" sz="1500" dirty="0"/>
          </a:p>
        </p:txBody>
      </p:sp>
      <p:sp>
        <p:nvSpPr>
          <p:cNvPr id="12" name="Text 10"/>
          <p:cNvSpPr txBox="1"/>
          <p:nvPr/>
        </p:nvSpPr>
        <p:spPr>
          <a:xfrm>
            <a:off x="8302752" y="2423160"/>
            <a:ext cx="3108960" cy="3108960"/>
          </a:xfrm>
          <a:prstGeom prst="rect">
            <a:avLst/>
          </a:prstGeom>
          <a:noFill/>
          <a:ln/>
        </p:spPr>
        <p:txBody>
          <a:bodyPr wrap="square" lIns="0" tIns="0" rIns="0" bIns="0" rtlCol="0" anchor="t"/>
          <a:lstStyle/>
          <a:p>
            <a:pPr indent="0" marL="0">
              <a:buNone/>
            </a:pPr>
            <a:r>
              <a:rPr lang="en-US" sz="1400" dirty="0">
                <a:solidFill>
                  <a:srgbClr val="1F1F2E"/>
                </a:solidFill>
                <a:latin typeface="Arial" pitchFamily="34" charset="0"/>
                <a:ea typeface="Arial" pitchFamily="34" charset="-122"/>
                <a:cs typeface="Arial" pitchFamily="34" charset="-120"/>
              </a:rPr>
              <a:t>Nine pass/fail sentences were put into the scoring script on 6 October, before training.</a:t>
            </a:r>
            <a:endParaRPr lang="en-US" sz="1400" dirty="0"/>
          </a:p>
          <a:p>
            <a:pPr indent="0" marL="0">
              <a:buNone/>
            </a:pPr>
            <a:endParaRPr lang="en-US" sz="1400" dirty="0"/>
          </a:p>
          <a:p>
            <a:pPr indent="0" marL="0">
              <a:buNone/>
            </a:pPr>
            <a:r>
              <a:rPr lang="en-US" sz="1400" dirty="0">
                <a:solidFill>
                  <a:srgbClr val="1F1F2E"/>
                </a:solidFill>
                <a:latin typeface="Arial" pitchFamily="34" charset="0"/>
                <a:ea typeface="Arial" pitchFamily="34" charset="-122"/>
                <a:cs typeface="Arial" pitchFamily="34" charset="-120"/>
              </a:rPr>
              <a:t>The script prints PASS or MISS. We report both, and a miss is often the most informative line.</a:t>
            </a:r>
            <a:endParaRPr lang="en-US" sz="1400" dirty="0"/>
          </a:p>
        </p:txBody>
      </p:sp>
      <p:sp>
        <p:nvSpPr>
          <p:cNvPr id="13" name="Text 11"/>
          <p:cNvSpPr txBox="1"/>
          <p:nvPr/>
        </p:nvSpPr>
        <p:spPr>
          <a:xfrm>
            <a:off x="548640" y="6144768"/>
            <a:ext cx="11064240" cy="411480"/>
          </a:xfrm>
          <a:prstGeom prst="rect">
            <a:avLst/>
          </a:prstGeom>
          <a:noFill/>
          <a:ln/>
        </p:spPr>
        <p:txBody>
          <a:bodyPr wrap="square" lIns="0" tIns="0" rIns="0" bIns="0" rtlCol="0" anchor="ctr"/>
          <a:lstStyle/>
          <a:p>
            <a:pPr indent="0" marL="0">
              <a:buNone/>
            </a:pPr>
            <a:r>
              <a:rPr lang="en-US" sz="1200" b="1" i="1" dirty="0">
                <a:solidFill>
                  <a:srgbClr val="4A3D7A"/>
                </a:solidFill>
                <a:latin typeface="Arial" pitchFamily="34" charset="0"/>
                <a:ea typeface="Arial" pitchFamily="34" charset="-122"/>
                <a:cs typeface="Arial" pitchFamily="34" charset="-120"/>
              </a:rPr>
              <a:t>Say:  </a:t>
            </a:r>
            <a:pPr indent="0" marL="0">
              <a:buNone/>
            </a:pPr>
            <a:r>
              <a:rPr lang="en-US" sz="1200" i="1" dirty="0">
                <a:solidFill>
                  <a:srgbClr val="4A3D7A"/>
                </a:solidFill>
                <a:latin typeface="Arial" pitchFamily="34" charset="0"/>
                <a:ea typeface="Arial" pitchFamily="34" charset="-122"/>
                <a:cs typeface="Arial" pitchFamily="34" charset="-120"/>
              </a:rPr>
              <a:t>Beat the lookup, agree across random starts, and say what we predicted before we saw the answer.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indent="0" marL="0">
              <a:buNone/>
            </a:pPr>
            <a:r>
              <a:rPr lang="en-US" sz="1100" b="1" spc="200" kern="0" dirty="0">
                <a:solidFill>
                  <a:srgbClr val="4A3D7A"/>
                </a:solidFill>
                <a:latin typeface="Arial" pitchFamily="34" charset="0"/>
                <a:ea typeface="Arial" pitchFamily="34" charset="-122"/>
                <a:cs typeface="Arial" pitchFamily="34" charset="-120"/>
              </a:rPr>
              <a:t>RESULTS · 1 OF 7</a:t>
            </a:r>
            <a:endParaRPr lang="en-US" sz="11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indent="0" marL="0">
              <a:buNone/>
            </a:pPr>
            <a:r>
              <a:rPr lang="en-US" sz="2400" b="1" dirty="0">
                <a:solidFill>
                  <a:srgbClr val="1F1F2E"/>
                </a:solidFill>
                <a:latin typeface="Arial" pitchFamily="34" charset="0"/>
                <a:ea typeface="Arial" pitchFamily="34" charset="-122"/>
                <a:cs typeface="Arial" pitchFamily="34" charset="-120"/>
              </a:rPr>
              <a:t>Above the old range, more storms help — and it is the variety of storms that does it</a:t>
            </a:r>
            <a:endParaRPr lang="en-US" sz="2400" dirty="0"/>
          </a:p>
        </p:txBody>
      </p:sp>
      <p:graphicFrame>
        <p:nvGraphicFramePr>
          <p:cNvPr id="4" name="Chart 0" descr=""/>
          <p:cNvGraphicFramePr/>
          <p:nvPr/>
        </p:nvGraphicFramePr>
        <p:xfrm>
          <a:off x="548640" y="1737360"/>
          <a:ext cx="6766560" cy="39319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680960" y="1920240"/>
            <a:ext cx="3931920" cy="3840480"/>
          </a:xfrm>
          <a:prstGeom prst="rect">
            <a:avLst/>
          </a:prstGeom>
          <a:noFill/>
          <a:ln/>
        </p:spPr>
        <p:txBody>
          <a:bodyPr wrap="square" lIns="0" tIns="0" rIns="0" bIns="0" rtlCol="0" anchor="t"/>
          <a:lstStyle/>
          <a:p>
            <a:pPr indent="0" marL="0">
              <a:spcAft>
                <a:spcPts val="1400"/>
              </a:spcAft>
              <a:buNone/>
            </a:pPr>
            <a:r>
              <a:rPr lang="en-US" sz="1500" b="1" dirty="0">
                <a:solidFill>
                  <a:srgbClr val="1F1F2E"/>
                </a:solidFill>
                <a:latin typeface="Arial" pitchFamily="34" charset="0"/>
                <a:ea typeface="Arial" pitchFamily="34" charset="-122"/>
                <a:cs typeface="Arial" pitchFamily="34" charset="-120"/>
              </a:rPr>
              <a:t>5 of 5 storms, in all 4 variants: </a:t>
            </a:r>
            <a:pPr indent="0" marL="0">
              <a:spcAft>
                <a:spcPts val="1400"/>
              </a:spcAft>
              <a:buNone/>
            </a:pPr>
            <a:r>
              <a:rPr lang="en-US" sz="1500" dirty="0">
                <a:solidFill>
                  <a:srgbClr val="1F1F2E"/>
                </a:solidFill>
                <a:latin typeface="Arial" pitchFamily="34" charset="0"/>
                <a:ea typeface="Arial" pitchFamily="34" charset="-122"/>
                <a:cs typeface="Arial" pitchFamily="34" charset="-120"/>
              </a:rPr>
              <a:t>33 to 37 % lower loss.</a:t>
            </a:r>
            <a:endParaRPr lang="en-US" sz="1500" dirty="0"/>
          </a:p>
          <a:p>
            <a:pPr indent="0" marL="0">
              <a:spcAft>
                <a:spcPts val="1400"/>
              </a:spcAft>
              <a:buNone/>
            </a:pPr>
            <a:r>
              <a:rPr lang="en-US" sz="1500" b="1" dirty="0">
                <a:solidFill>
                  <a:srgbClr val="1F1F2E"/>
                </a:solidFill>
                <a:latin typeface="Arial" pitchFamily="34" charset="0"/>
                <a:ea typeface="Arial" pitchFamily="34" charset="-122"/>
                <a:cs typeface="Arial" pitchFamily="34" charset="-120"/>
              </a:rPr>
              <a:t>Same amount of training, 57 storms: </a:t>
            </a:r>
            <a:pPr indent="0" marL="0">
              <a:spcAft>
                <a:spcPts val="1400"/>
              </a:spcAft>
              <a:buNone/>
            </a:pPr>
            <a:r>
              <a:rPr lang="en-US" sz="1500" dirty="0">
                <a:solidFill>
                  <a:srgbClr val="1F1F2E"/>
                </a:solidFill>
                <a:latin typeface="Arial" pitchFamily="34" charset="0"/>
                <a:ea typeface="Arial" pitchFamily="34" charset="-122"/>
                <a:cs typeface="Arial" pitchFamily="34" charset="-120"/>
              </a:rPr>
              <a:t>also 5 of 5. New storms teach more than new runs of old storms.</a:t>
            </a:r>
            <a:endParaRPr lang="en-US" sz="1500" dirty="0"/>
          </a:p>
          <a:p>
            <a:pPr indent="0" marL="0">
              <a:spcAft>
                <a:spcPts val="1400"/>
              </a:spcAft>
              <a:buNone/>
            </a:pPr>
            <a:r>
              <a:rPr lang="en-US" sz="1500" b="1" dirty="0">
                <a:solidFill>
                  <a:srgbClr val="1F1F2E"/>
                </a:solidFill>
                <a:latin typeface="Arial" pitchFamily="34" charset="0"/>
                <a:ea typeface="Arial" pitchFamily="34" charset="-122"/>
                <a:cs typeface="Arial" pitchFamily="34" charset="-120"/>
              </a:rPr>
              <a:t>All 45,600 runs instead of 13,600: </a:t>
            </a:r>
            <a:pPr indent="0" marL="0">
              <a:spcAft>
                <a:spcPts val="1400"/>
              </a:spcAft>
              <a:buNone/>
            </a:pPr>
            <a:r>
              <a:rPr lang="en-US" sz="1500" dirty="0">
                <a:solidFill>
                  <a:srgbClr val="1F1F2E"/>
                </a:solidFill>
                <a:latin typeface="Arial" pitchFamily="34" charset="0"/>
                <a:ea typeface="Arial" pitchFamily="34" charset="-122"/>
                <a:cs typeface="Arial" pitchFamily="34" charset="-120"/>
              </a:rPr>
              <a:t>only 0.3 to 1.6 % better.</a:t>
            </a:r>
            <a:endParaRPr lang="en-US" sz="1500" dirty="0"/>
          </a:p>
          <a:p>
            <a:pPr indent="0" marL="0">
              <a:spcAft>
                <a:spcPts val="1400"/>
              </a:spcAft>
              <a:buNone/>
            </a:pPr>
            <a:r>
              <a:rPr lang="en-US" sz="1500" b="1" dirty="0">
                <a:solidFill>
                  <a:srgbClr val="1F1F2E"/>
                </a:solidFill>
                <a:latin typeface="Arial" pitchFamily="34" charset="0"/>
                <a:ea typeface="Arial" pitchFamily="34" charset="-122"/>
                <a:cs typeface="Arial" pitchFamily="34" charset="-120"/>
              </a:rPr>
              <a:t>Predictions M1, M2, M7: </a:t>
            </a:r>
            <a:pPr indent="0" marL="0">
              <a:spcAft>
                <a:spcPts val="1400"/>
              </a:spcAft>
              <a:buNone/>
            </a:pPr>
            <a:r>
              <a:rPr lang="en-US" sz="1500" dirty="0">
                <a:solidFill>
                  <a:srgbClr val="1F1F2E"/>
                </a:solidFill>
                <a:latin typeface="Arial" pitchFamily="34" charset="0"/>
                <a:ea typeface="Arial" pitchFamily="34" charset="-122"/>
                <a:cs typeface="Arial" pitchFamily="34" charset="-120"/>
              </a:rPr>
              <a:t>PASS.</a:t>
            </a:r>
            <a:endParaRPr lang="en-US" sz="1500" dirty="0"/>
          </a:p>
        </p:txBody>
      </p:sp>
      <p:sp>
        <p:nvSpPr>
          <p:cNvPr id="6" name="Text 3"/>
          <p:cNvSpPr txBox="1"/>
          <p:nvPr/>
        </p:nvSpPr>
        <p:spPr>
          <a:xfrm>
            <a:off x="548640" y="6144768"/>
            <a:ext cx="11064240" cy="411480"/>
          </a:xfrm>
          <a:prstGeom prst="rect">
            <a:avLst/>
          </a:prstGeom>
          <a:noFill/>
          <a:ln/>
        </p:spPr>
        <p:txBody>
          <a:bodyPr wrap="square" lIns="0" tIns="0" rIns="0" bIns="0" rtlCol="0" anchor="ctr"/>
          <a:lstStyle/>
          <a:p>
            <a:pPr indent="0" marL="0">
              <a:buNone/>
            </a:pPr>
            <a:r>
              <a:rPr lang="en-US" sz="1200" b="1" i="1" dirty="0">
                <a:solidFill>
                  <a:srgbClr val="4A3D7A"/>
                </a:solidFill>
                <a:latin typeface="Arial" pitchFamily="34" charset="0"/>
                <a:ea typeface="Arial" pitchFamily="34" charset="-122"/>
                <a:cs typeface="Arial" pitchFamily="34" charset="-120"/>
              </a:rPr>
              <a:t>Say:  </a:t>
            </a:r>
            <a:pPr indent="0" marL="0">
              <a:buNone/>
            </a:pPr>
            <a:r>
              <a:rPr lang="en-US" sz="1200" i="1" dirty="0">
                <a:solidFill>
                  <a:srgbClr val="4A3D7A"/>
                </a:solidFill>
                <a:latin typeface="Arial" pitchFamily="34" charset="0"/>
                <a:ea typeface="Arial" pitchFamily="34" charset="-122"/>
                <a:cs typeface="Arial" pitchFamily="34" charset="-120"/>
              </a:rPr>
              <a:t>New storms teach the model more than new runs of old storms.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indent="0" marL="0">
              <a:buNone/>
            </a:pPr>
            <a:r>
              <a:rPr lang="en-US" sz="1100" b="1" spc="200" kern="0" dirty="0">
                <a:solidFill>
                  <a:srgbClr val="4A3D7A"/>
                </a:solidFill>
                <a:latin typeface="Arial" pitchFamily="34" charset="0"/>
                <a:ea typeface="Arial" pitchFamily="34" charset="-122"/>
                <a:cs typeface="Arial" pitchFamily="34" charset="-120"/>
              </a:rPr>
              <a:t>RESULTS · 2 OF 7</a:t>
            </a:r>
            <a:endParaRPr lang="en-US" sz="11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indent="0" marL="0">
              <a:buNone/>
            </a:pPr>
            <a:r>
              <a:rPr lang="en-US" sz="2400" b="1" dirty="0">
                <a:solidFill>
                  <a:srgbClr val="1F1F2E"/>
                </a:solidFill>
                <a:latin typeface="Arial" pitchFamily="34" charset="0"/>
                <a:ea typeface="Arial" pitchFamily="34" charset="-122"/>
                <a:cs typeface="Arial" pitchFamily="34" charset="-120"/>
              </a:rPr>
              <a:t>Inside the old range the average hides a split: small storms got worse, bigger ones better</a:t>
            </a:r>
            <a:endParaRPr lang="en-US" sz="2400" dirty="0"/>
          </a:p>
        </p:txBody>
      </p:sp>
      <p:graphicFrame>
        <p:nvGraphicFramePr>
          <p:cNvPr id="4" name="Chart 0" descr=""/>
          <p:cNvGraphicFramePr/>
          <p:nvPr/>
        </p:nvGraphicFramePr>
        <p:xfrm>
          <a:off x="548640" y="1737360"/>
          <a:ext cx="6766560" cy="39319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680960" y="1828800"/>
            <a:ext cx="3931920" cy="3931920"/>
          </a:xfrm>
          <a:prstGeom prst="rect">
            <a:avLst/>
          </a:prstGeom>
          <a:noFill/>
          <a:ln/>
        </p:spPr>
        <p:txBody>
          <a:bodyPr wrap="square" lIns="0" tIns="0" rIns="0" bIns="0" rtlCol="0" anchor="t"/>
          <a:lstStyle/>
          <a:p>
            <a:pPr indent="0" marL="0">
              <a:spcAft>
                <a:spcPts val="1200"/>
              </a:spcAft>
              <a:buNone/>
            </a:pPr>
            <a:r>
              <a:rPr lang="en-US" sz="1400" b="1" dirty="0">
                <a:solidFill>
                  <a:srgbClr val="B5443C"/>
                </a:solidFill>
                <a:latin typeface="Arial" pitchFamily="34" charset="0"/>
                <a:ea typeface="Arial" pitchFamily="34" charset="-122"/>
                <a:cs typeface="Arial" pitchFamily="34" charset="-120"/>
              </a:rPr>
              <a:t>Two smallest storms: </a:t>
            </a:r>
            <a:pPr indent="0" marL="0">
              <a:spcAft>
                <a:spcPts val="1200"/>
              </a:spcAft>
              <a:buNone/>
            </a:pPr>
            <a:r>
              <a:rPr lang="en-US" sz="1400" dirty="0">
                <a:solidFill>
                  <a:srgbClr val="1F1F2E"/>
                </a:solidFill>
                <a:latin typeface="Arial" pitchFamily="34" charset="0"/>
                <a:ea typeface="Arial" pitchFamily="34" charset="-122"/>
                <a:cs typeface="Arial" pitchFamily="34" charset="-120"/>
              </a:rPr>
              <a:t>60 % worse. Their predicted count went from 2–3 × to 3–5 × the simulated one.</a:t>
            </a:r>
            <a:endParaRPr lang="en-US" sz="1400" dirty="0"/>
          </a:p>
          <a:p>
            <a:pPr indent="0" marL="0">
              <a:spcAft>
                <a:spcPts val="1200"/>
              </a:spcAft>
              <a:buNone/>
            </a:pPr>
            <a:r>
              <a:rPr lang="en-US" sz="1400" b="1" dirty="0">
                <a:solidFill>
                  <a:srgbClr val="1F1F2E"/>
                </a:solidFill>
                <a:latin typeface="Arial" pitchFamily="34" charset="0"/>
                <a:ea typeface="Arial" pitchFamily="34" charset="-122"/>
                <a:cs typeface="Arial" pitchFamily="34" charset="-120"/>
              </a:rPr>
              <a:t>Why: </a:t>
            </a:r>
            <a:pPr indent="0" marL="0">
              <a:spcAft>
                <a:spcPts val="1200"/>
              </a:spcAft>
              <a:buNone/>
            </a:pPr>
            <a:r>
              <a:rPr lang="en-US" sz="1400" dirty="0">
                <a:solidFill>
                  <a:srgbClr val="1F1F2E"/>
                </a:solidFill>
                <a:latin typeface="Arial" pitchFamily="34" charset="0"/>
                <a:ea typeface="Arial" pitchFamily="34" charset="-122"/>
                <a:cs typeface="Arial" pitchFamily="34" charset="-120"/>
              </a:rPr>
              <a:t>without a storm-size input, a site far from any flooded site answers with its average failure rate from training. Adding 40 mostly larger storms raised that average.</a:t>
            </a:r>
            <a:endParaRPr lang="en-US" sz="1400" dirty="0"/>
          </a:p>
          <a:p>
            <a:pPr indent="0" marL="0">
              <a:spcAft>
                <a:spcPts val="1200"/>
              </a:spcAft>
              <a:buNone/>
            </a:pPr>
            <a:r>
              <a:rPr lang="en-US" sz="1400" b="1" dirty="0">
                <a:solidFill>
                  <a:srgbClr val="1F1F2E"/>
                </a:solidFill>
                <a:latin typeface="Arial" pitchFamily="34" charset="0"/>
                <a:ea typeface="Arial" pitchFamily="34" charset="-122"/>
                <a:cs typeface="Arial" pitchFamily="34" charset="-120"/>
              </a:rPr>
              <a:t>M3 PASS by cancellation </a:t>
            </a:r>
            <a:pPr indent="0" marL="0">
              <a:spcAft>
                <a:spcPts val="1200"/>
              </a:spcAft>
              <a:buNone/>
            </a:pPr>
            <a:r>
              <a:rPr lang="en-US" sz="1400" dirty="0">
                <a:solidFill>
                  <a:srgbClr val="1F1F2E"/>
                </a:solidFill>
                <a:latin typeface="Arial" pitchFamily="34" charset="0"/>
                <a:ea typeface="Arial" pitchFamily="34" charset="-122"/>
                <a:cs typeface="Arial" pitchFamily="34" charset="-120"/>
              </a:rPr>
              <a:t>(mean +4 to +7 %); M4 MISS (2 of 5 new storms).</a:t>
            </a:r>
            <a:endParaRPr lang="en-US" sz="1400" dirty="0"/>
          </a:p>
        </p:txBody>
      </p:sp>
      <p:sp>
        <p:nvSpPr>
          <p:cNvPr id="6" name="Text 3"/>
          <p:cNvSpPr txBox="1"/>
          <p:nvPr/>
        </p:nvSpPr>
        <p:spPr>
          <a:xfrm>
            <a:off x="548640" y="6144768"/>
            <a:ext cx="11064240" cy="411480"/>
          </a:xfrm>
          <a:prstGeom prst="rect">
            <a:avLst/>
          </a:prstGeom>
          <a:noFill/>
          <a:ln/>
        </p:spPr>
        <p:txBody>
          <a:bodyPr wrap="square" lIns="0" tIns="0" rIns="0" bIns="0" rtlCol="0" anchor="ctr"/>
          <a:lstStyle/>
          <a:p>
            <a:pPr indent="0" marL="0">
              <a:buNone/>
            </a:pPr>
            <a:r>
              <a:rPr lang="en-US" sz="1200" b="1" i="1" dirty="0">
                <a:solidFill>
                  <a:srgbClr val="4A3D7A"/>
                </a:solidFill>
                <a:latin typeface="Arial" pitchFamily="34" charset="0"/>
                <a:ea typeface="Arial" pitchFamily="34" charset="-122"/>
                <a:cs typeface="Arial" pitchFamily="34" charset="-120"/>
              </a:rPr>
              <a:t>Say:  </a:t>
            </a:r>
            <a:pPr indent="0" marL="0">
              <a:buNone/>
            </a:pPr>
            <a:r>
              <a:rPr lang="en-US" sz="1200" i="1" dirty="0">
                <a:solidFill>
                  <a:srgbClr val="4A3D7A"/>
                </a:solidFill>
                <a:latin typeface="Arial" pitchFamily="34" charset="0"/>
                <a:ea typeface="Arial" pitchFamily="34" charset="-122"/>
                <a:cs typeface="Arial" pitchFamily="34" charset="-120"/>
              </a:rPr>
              <a:t>More data made the small-storm error worse, because the model had no way to know the storm was small.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indent="0" marL="0">
              <a:buNone/>
            </a:pPr>
            <a:r>
              <a:rPr lang="en-US" sz="1100" b="1" spc="200" kern="0" dirty="0">
                <a:solidFill>
                  <a:srgbClr val="4A3D7A"/>
                </a:solidFill>
                <a:latin typeface="Arial" pitchFamily="34" charset="0"/>
                <a:ea typeface="Arial" pitchFamily="34" charset="-122"/>
                <a:cs typeface="Arial" pitchFamily="34" charset="-120"/>
              </a:rPr>
              <a:t>RESULTS · 3 OF 7</a:t>
            </a:r>
            <a:endParaRPr lang="en-US" sz="11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indent="0" marL="0">
              <a:buNone/>
            </a:pPr>
            <a:r>
              <a:rPr lang="en-US" sz="2400" b="1" dirty="0">
                <a:solidFill>
                  <a:srgbClr val="1F1F2E"/>
                </a:solidFill>
                <a:latin typeface="Arial" pitchFamily="34" charset="0"/>
                <a:ea typeface="Arial" pitchFamily="34" charset="-122"/>
                <a:cs typeface="Arial" pitchFamily="34" charset="-120"/>
              </a:rPr>
              <a:t>The scorecard: 6 of 9 predictions held, and the 3 misses are the informative part</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6035040"/>
                <a:gridCol w="4142232"/>
                <a:gridCol w="914400"/>
              </a:tblGrid>
              <a:tr h="365760">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prediction, in plain words</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result</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c>
                  <a:txBody>
                    <a:bodyPr/>
                    <a:lstStyle/>
                    <a:p>
                      <a:pPr algn="ctr" indent="0" marL="0">
                        <a:buNone/>
                      </a:pP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r>
              <a:tr h="365760">
                <a:tc>
                  <a:txBody>
                    <a:bodyPr/>
                    <a:lstStyle/>
                    <a:p>
                      <a:pPr algn="l" indent="0" marL="0">
                        <a:buNone/>
                      </a:pPr>
                      <a:r>
                        <a:rPr lang="en-US" sz="1150" dirty="0">
                          <a:solidFill>
                            <a:srgbClr val="1F1F2E"/>
                          </a:solidFill>
                          <a:latin typeface="Arial" pitchFamily="34" charset="0"/>
                          <a:ea typeface="Arial" pitchFamily="34" charset="-122"/>
                          <a:cs typeface="Arial" pitchFamily="34" charset="-120"/>
                        </a:rPr>
                        <a:t>S1  Retraining the old model reproduces its validation loss</a:t>
                      </a:r>
                      <a:endParaRPr lang="en-US" sz="11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l" indent="0" marL="0">
                        <a:buNone/>
                      </a:pPr>
                      <a:r>
                        <a:rPr lang="en-US" sz="1150" dirty="0">
                          <a:solidFill>
                            <a:srgbClr val="1F1F2E"/>
                          </a:solidFill>
                          <a:latin typeface="Arial" pitchFamily="34" charset="0"/>
                          <a:ea typeface="Arial" pitchFamily="34" charset="-122"/>
                          <a:cs typeface="Arial" pitchFamily="34" charset="-120"/>
                        </a:rPr>
                        <a:t>within 0.005 in every variant</a:t>
                      </a:r>
                      <a:endParaRPr lang="en-US" sz="11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50" b="1" dirty="0">
                          <a:solidFill>
                            <a:srgbClr val="1F1F2E"/>
                          </a:solidFill>
                          <a:latin typeface="Arial" pitchFamily="34" charset="0"/>
                          <a:ea typeface="Arial" pitchFamily="34" charset="-122"/>
                          <a:cs typeface="Arial" pitchFamily="34" charset="-120"/>
                        </a:rPr>
                        <a:t>PASS</a:t>
                      </a:r>
                      <a:endParaRPr lang="en-US" sz="11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65760">
                <a:tc>
                  <a:txBody>
                    <a:bodyPr/>
                    <a:lstStyle/>
                    <a:p>
                      <a:pPr algn="l" indent="0" marL="0">
                        <a:buNone/>
                      </a:pPr>
                      <a:r>
                        <a:rPr lang="en-US" sz="1150" dirty="0">
                          <a:solidFill>
                            <a:srgbClr val="1F1F2E"/>
                          </a:solidFill>
                          <a:latin typeface="Arial" pitchFamily="34" charset="0"/>
                          <a:ea typeface="Arial" pitchFamily="34" charset="-122"/>
                          <a:cs typeface="Arial" pitchFamily="34" charset="-120"/>
                        </a:rPr>
                        <a:t>M1  Above the old range, 57 storms beat 17 on ≥ 4 of 5, by ≥ 10 %</a:t>
                      </a:r>
                      <a:endParaRPr lang="en-US" sz="11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l" indent="0" marL="0">
                        <a:buNone/>
                      </a:pPr>
                      <a:r>
                        <a:rPr lang="en-US" sz="1150" dirty="0">
                          <a:solidFill>
                            <a:srgbClr val="1F1F2E"/>
                          </a:solidFill>
                          <a:latin typeface="Arial" pitchFamily="34" charset="0"/>
                          <a:ea typeface="Arial" pitchFamily="34" charset="-122"/>
                          <a:cs typeface="Arial" pitchFamily="34" charset="-120"/>
                        </a:rPr>
                        <a:t>5 of 5, −33 to −37 %</a:t>
                      </a:r>
                      <a:endParaRPr lang="en-US" sz="11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50" b="1" dirty="0">
                          <a:solidFill>
                            <a:srgbClr val="1F1F2E"/>
                          </a:solidFill>
                          <a:latin typeface="Arial" pitchFamily="34" charset="0"/>
                          <a:ea typeface="Arial" pitchFamily="34" charset="-122"/>
                          <a:cs typeface="Arial" pitchFamily="34" charset="-120"/>
                        </a:rPr>
                        <a:t>PASS</a:t>
                      </a:r>
                      <a:endParaRPr lang="en-US" sz="11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65760">
                <a:tc>
                  <a:txBody>
                    <a:bodyPr/>
                    <a:lstStyle/>
                    <a:p>
                      <a:pPr algn="l" indent="0" marL="0">
                        <a:buNone/>
                      </a:pPr>
                      <a:r>
                        <a:rPr lang="en-US" sz="1150" dirty="0">
                          <a:solidFill>
                            <a:srgbClr val="1F1F2E"/>
                          </a:solidFill>
                          <a:latin typeface="Arial" pitchFamily="34" charset="0"/>
                          <a:ea typeface="Arial" pitchFamily="34" charset="-122"/>
                          <a:cs typeface="Arial" pitchFamily="34" charset="-120"/>
                        </a:rPr>
                        <a:t>M2  The same-effort 57-storm set also beats 17 on ≥ 4 of 5</a:t>
                      </a:r>
                      <a:endParaRPr lang="en-US" sz="11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l" indent="0" marL="0">
                        <a:buNone/>
                      </a:pPr>
                      <a:r>
                        <a:rPr lang="en-US" sz="1150" dirty="0">
                          <a:solidFill>
                            <a:srgbClr val="1F1F2E"/>
                          </a:solidFill>
                          <a:latin typeface="Arial" pitchFamily="34" charset="0"/>
                          <a:ea typeface="Arial" pitchFamily="34" charset="-122"/>
                          <a:cs typeface="Arial" pitchFamily="34" charset="-120"/>
                        </a:rPr>
                        <a:t>5 of 5 — the variety, not the runs</a:t>
                      </a:r>
                      <a:endParaRPr lang="en-US" sz="11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50" b="1" dirty="0">
                          <a:solidFill>
                            <a:srgbClr val="1F1F2E"/>
                          </a:solidFill>
                          <a:latin typeface="Arial" pitchFamily="34" charset="0"/>
                          <a:ea typeface="Arial" pitchFamily="34" charset="-122"/>
                          <a:cs typeface="Arial" pitchFamily="34" charset="-120"/>
                        </a:rPr>
                        <a:t>PASS</a:t>
                      </a:r>
                      <a:endParaRPr lang="en-US" sz="11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65760">
                <a:tc>
                  <a:txBody>
                    <a:bodyPr/>
                    <a:lstStyle/>
                    <a:p>
                      <a:pPr algn="l" indent="0" marL="0">
                        <a:buNone/>
                      </a:pPr>
                      <a:r>
                        <a:rPr lang="en-US" sz="1150" dirty="0">
                          <a:solidFill>
                            <a:srgbClr val="1F1F2E"/>
                          </a:solidFill>
                          <a:latin typeface="Arial" pitchFamily="34" charset="0"/>
                          <a:ea typeface="Arial" pitchFamily="34" charset="-122"/>
                          <a:cs typeface="Arial" pitchFamily="34" charset="-120"/>
                        </a:rPr>
                        <a:t>M3  Inside the range, static labels: mean change within ±10 %</a:t>
                      </a:r>
                      <a:endParaRPr lang="en-US" sz="11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l" indent="0" marL="0">
                        <a:buNone/>
                      </a:pPr>
                      <a:r>
                        <a:rPr lang="en-US" sz="1150" dirty="0">
                          <a:solidFill>
                            <a:srgbClr val="1F1F2E"/>
                          </a:solidFill>
                          <a:latin typeface="Arial" pitchFamily="34" charset="0"/>
                          <a:ea typeface="Arial" pitchFamily="34" charset="-122"/>
                          <a:cs typeface="Arial" pitchFamily="34" charset="-120"/>
                        </a:rPr>
                        <a:t>+4 / +7 % — by cancellation (slide 9)</a:t>
                      </a:r>
                      <a:endParaRPr lang="en-US" sz="11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50" b="1" dirty="0">
                          <a:solidFill>
                            <a:srgbClr val="1F1F2E"/>
                          </a:solidFill>
                          <a:latin typeface="Arial" pitchFamily="34" charset="0"/>
                          <a:ea typeface="Arial" pitchFamily="34" charset="-122"/>
                          <a:cs typeface="Arial" pitchFamily="34" charset="-120"/>
                        </a:rPr>
                        <a:t>PASS</a:t>
                      </a:r>
                      <a:endParaRPr lang="en-US" sz="11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65760">
                <a:tc>
                  <a:txBody>
                    <a:bodyPr/>
                    <a:lstStyle/>
                    <a:p>
                      <a:pPr algn="l" indent="0" marL="0">
                        <a:buNone/>
                      </a:pPr>
                      <a:r>
                        <a:rPr lang="en-US" sz="1150" dirty="0">
                          <a:solidFill>
                            <a:srgbClr val="1F1F2E"/>
                          </a:solidFill>
                          <a:latin typeface="Arial" pitchFamily="34" charset="0"/>
                          <a:ea typeface="Arial" pitchFamily="34" charset="-122"/>
                          <a:cs typeface="Arial" pitchFamily="34" charset="-120"/>
                        </a:rPr>
                        <a:t>M4  Inside the range, arrival labels: 57 beats 17 on ≥ 4 of 5 new storms</a:t>
                      </a:r>
                      <a:endParaRPr lang="en-US" sz="11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l" indent="0" marL="0">
                        <a:buNone/>
                      </a:pPr>
                      <a:r>
                        <a:rPr lang="en-US" sz="1150" dirty="0">
                          <a:solidFill>
                            <a:srgbClr val="1F1F2E"/>
                          </a:solidFill>
                          <a:latin typeface="Arial" pitchFamily="34" charset="0"/>
                          <a:ea typeface="Arial" pitchFamily="34" charset="-122"/>
                          <a:cs typeface="Arial" pitchFamily="34" charset="-120"/>
                        </a:rPr>
                        <a:t>2 of 5 — small storms worse</a:t>
                      </a:r>
                      <a:endParaRPr lang="en-US" sz="11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50" b="1" dirty="0">
                          <a:solidFill>
                            <a:srgbClr val="B5443C"/>
                          </a:solidFill>
                          <a:latin typeface="Arial" pitchFamily="34" charset="0"/>
                          <a:ea typeface="Arial" pitchFamily="34" charset="-122"/>
                          <a:cs typeface="Arial" pitchFamily="34" charset="-120"/>
                        </a:rPr>
                        <a:t>MISS</a:t>
                      </a:r>
                      <a:endParaRPr lang="en-US" sz="11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65760">
                <a:tc>
                  <a:txBody>
                    <a:bodyPr/>
                    <a:lstStyle/>
                    <a:p>
                      <a:pPr algn="l" indent="0" marL="0">
                        <a:buNone/>
                      </a:pPr>
                      <a:r>
                        <a:rPr lang="en-US" sz="1150" dirty="0">
                          <a:solidFill>
                            <a:srgbClr val="1F1F2E"/>
                          </a:solidFill>
                          <a:latin typeface="Arial" pitchFamily="34" charset="0"/>
                          <a:ea typeface="Arial" pitchFamily="34" charset="-122"/>
                          <a:cs typeface="Arial" pitchFamily="34" charset="-120"/>
                        </a:rPr>
                        <a:t>M5  Timing inputs win on ≥ 10 of 12 GISSR storms and by ≥ 10 % at 6 h</a:t>
                      </a:r>
                      <a:endParaRPr lang="en-US" sz="11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l" indent="0" marL="0">
                        <a:buNone/>
                      </a:pPr>
                      <a:r>
                        <a:rPr lang="en-US" sz="1150" dirty="0">
                          <a:solidFill>
                            <a:srgbClr val="1F1F2E"/>
                          </a:solidFill>
                          <a:latin typeface="Arial" pitchFamily="34" charset="0"/>
                          <a:ea typeface="Arial" pitchFamily="34" charset="-122"/>
                          <a:cs typeface="Arial" pitchFamily="34" charset="-120"/>
                        </a:rPr>
                        <a:t>12 of 12, −18 % at 6 h</a:t>
                      </a:r>
                      <a:endParaRPr lang="en-US" sz="11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50" b="1" dirty="0">
                          <a:solidFill>
                            <a:srgbClr val="1F1F2E"/>
                          </a:solidFill>
                          <a:latin typeface="Arial" pitchFamily="34" charset="0"/>
                          <a:ea typeface="Arial" pitchFamily="34" charset="-122"/>
                          <a:cs typeface="Arial" pitchFamily="34" charset="-120"/>
                        </a:rPr>
                        <a:t>PASS</a:t>
                      </a:r>
                      <a:endParaRPr lang="en-US" sz="11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65760">
                <a:tc>
                  <a:txBody>
                    <a:bodyPr/>
                    <a:lstStyle/>
                    <a:p>
                      <a:pPr algn="l" indent="0" marL="0">
                        <a:buNone/>
                      </a:pPr>
                      <a:r>
                        <a:rPr lang="en-US" sz="1150" dirty="0">
                          <a:solidFill>
                            <a:srgbClr val="1F1F2E"/>
                          </a:solidFill>
                          <a:latin typeface="Arial" pitchFamily="34" charset="0"/>
                          <a:ea typeface="Arial" pitchFamily="34" charset="-122"/>
                          <a:cs typeface="Arial" pitchFamily="34" charset="-120"/>
                        </a:rPr>
                        <a:t>M6  The GeoClaw map (a different flood model) does not benefit</a:t>
                      </a:r>
                      <a:endParaRPr lang="en-US" sz="11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l" indent="0" marL="0">
                        <a:buNone/>
                      </a:pPr>
                      <a:r>
                        <a:rPr lang="en-US" sz="1150" dirty="0">
                          <a:solidFill>
                            <a:srgbClr val="1F1F2E"/>
                          </a:solidFill>
                          <a:latin typeface="Arial" pitchFamily="34" charset="0"/>
                          <a:ea typeface="Arial" pitchFamily="34" charset="-122"/>
                          <a:cs typeface="Arial" pitchFamily="34" charset="-120"/>
                        </a:rPr>
                        <a:t>it improved 6–23 % in all 4 variants</a:t>
                      </a:r>
                      <a:endParaRPr lang="en-US" sz="11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50" b="1" dirty="0">
                          <a:solidFill>
                            <a:srgbClr val="B5443C"/>
                          </a:solidFill>
                          <a:latin typeface="Arial" pitchFamily="34" charset="0"/>
                          <a:ea typeface="Arial" pitchFamily="34" charset="-122"/>
                          <a:cs typeface="Arial" pitchFamily="34" charset="-120"/>
                        </a:rPr>
                        <a:t>MISS</a:t>
                      </a:r>
                      <a:endParaRPr lang="en-US" sz="11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65760">
                <a:tc>
                  <a:txBody>
                    <a:bodyPr/>
                    <a:lstStyle/>
                    <a:p>
                      <a:pPr algn="l" indent="0" marL="0">
                        <a:buNone/>
                      </a:pPr>
                      <a:r>
                        <a:rPr lang="en-US" sz="1150" dirty="0">
                          <a:solidFill>
                            <a:srgbClr val="1F1F2E"/>
                          </a:solidFill>
                          <a:latin typeface="Arial" pitchFamily="34" charset="0"/>
                          <a:ea typeface="Arial" pitchFamily="34" charset="-122"/>
                          <a:cs typeface="Arial" pitchFamily="34" charset="-120"/>
                        </a:rPr>
                        <a:t>M7  All 45,600 runs within 10 % of the same-effort set</a:t>
                      </a:r>
                      <a:endParaRPr lang="en-US" sz="11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l" indent="0" marL="0">
                        <a:buNone/>
                      </a:pPr>
                      <a:r>
                        <a:rPr lang="en-US" sz="1150" dirty="0">
                          <a:solidFill>
                            <a:srgbClr val="1F1F2E"/>
                          </a:solidFill>
                          <a:latin typeface="Arial" pitchFamily="34" charset="0"/>
                          <a:ea typeface="Arial" pitchFamily="34" charset="-122"/>
                          <a:cs typeface="Arial" pitchFamily="34" charset="-120"/>
                        </a:rPr>
                        <a:t>0.3–1.6 % apart</a:t>
                      </a:r>
                      <a:endParaRPr lang="en-US" sz="11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50" b="1" dirty="0">
                          <a:solidFill>
                            <a:srgbClr val="1F1F2E"/>
                          </a:solidFill>
                          <a:latin typeface="Arial" pitchFamily="34" charset="0"/>
                          <a:ea typeface="Arial" pitchFamily="34" charset="-122"/>
                          <a:cs typeface="Arial" pitchFamily="34" charset="-120"/>
                        </a:rPr>
                        <a:t>PASS</a:t>
                      </a:r>
                      <a:endParaRPr lang="en-US" sz="11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65760">
                <a:tc>
                  <a:txBody>
                    <a:bodyPr/>
                    <a:lstStyle/>
                    <a:p>
                      <a:pPr algn="l" indent="0" marL="0">
                        <a:buNone/>
                      </a:pPr>
                      <a:r>
                        <a:rPr lang="en-US" sz="1150" dirty="0">
                          <a:solidFill>
                            <a:srgbClr val="1F1F2E"/>
                          </a:solidFill>
                          <a:latin typeface="Arial" pitchFamily="34" charset="0"/>
                          <a:ea typeface="Arial" pitchFamily="34" charset="-122"/>
                          <a:cs typeface="Arial" pitchFamily="34" charset="-120"/>
                        </a:rPr>
                        <a:t>L1  Without a size input the lookup stays ahead on ≥ 9 of 12 GISSR storms</a:t>
                      </a:r>
                      <a:endParaRPr lang="en-US" sz="11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l" indent="0" marL="0">
                        <a:buNone/>
                      </a:pPr>
                      <a:r>
                        <a:rPr lang="en-US" sz="1150" dirty="0">
                          <a:solidFill>
                            <a:srgbClr val="1F1F2E"/>
                          </a:solidFill>
                          <a:latin typeface="Arial" pitchFamily="34" charset="0"/>
                          <a:ea typeface="Arial" pitchFamily="34" charset="-122"/>
                          <a:cs typeface="Arial" pitchFamily="34" charset="-120"/>
                        </a:rPr>
                        <a:t>8–11 of 12 (one variant at 8): true in substance</a:t>
                      </a:r>
                      <a:endParaRPr lang="en-US" sz="11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50" b="1" dirty="0">
                          <a:solidFill>
                            <a:srgbClr val="B5443C"/>
                          </a:solidFill>
                          <a:latin typeface="Arial" pitchFamily="34" charset="0"/>
                          <a:ea typeface="Arial" pitchFamily="34" charset="-122"/>
                          <a:cs typeface="Arial" pitchFamily="34" charset="-120"/>
                        </a:rPr>
                        <a:t>MISS</a:t>
                      </a:r>
                      <a:endParaRPr lang="en-US" sz="115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bl>
          </a:graphicData>
        </a:graphic>
      </p:graphicFrame>
      <p:sp>
        <p:nvSpPr>
          <p:cNvPr id="5" name="Text 2"/>
          <p:cNvSpPr txBox="1"/>
          <p:nvPr/>
        </p:nvSpPr>
        <p:spPr>
          <a:xfrm>
            <a:off x="548640" y="5760720"/>
            <a:ext cx="11064240" cy="365760"/>
          </a:xfrm>
          <a:prstGeom prst="rect">
            <a:avLst/>
          </a:prstGeom>
          <a:noFill/>
          <a:ln/>
        </p:spPr>
        <p:txBody>
          <a:bodyPr wrap="square" lIns="0" tIns="0" rIns="0" bIns="0" rtlCol="0" anchor="ctr"/>
          <a:lstStyle/>
          <a:p>
            <a:pPr indent="0" marL="0">
              <a:buNone/>
            </a:pPr>
            <a:r>
              <a:rPr lang="en-US" sz="1100" dirty="0">
                <a:solidFill>
                  <a:srgbClr val="5B5B70"/>
                </a:solidFill>
                <a:latin typeface="Arial" pitchFamily="34" charset="0"/>
                <a:ea typeface="Arial" pitchFamily="34" charset="-122"/>
                <a:cs typeface="Arial" pitchFamily="34" charset="-120"/>
              </a:rPr>
              <a:t>Judged on the models without the storm-size input, as pre-registered. scripts/week29_morestorms_table_v1.py, commit f2b40ea.</a:t>
            </a:r>
            <a:endParaRPr lang="en-US" sz="1100" dirty="0"/>
          </a:p>
        </p:txBody>
      </p:sp>
      <p:sp>
        <p:nvSpPr>
          <p:cNvPr id="6" name="Text 3"/>
          <p:cNvSpPr txBox="1"/>
          <p:nvPr/>
        </p:nvSpPr>
        <p:spPr>
          <a:xfrm>
            <a:off x="548640" y="6144768"/>
            <a:ext cx="11064240" cy="411480"/>
          </a:xfrm>
          <a:prstGeom prst="rect">
            <a:avLst/>
          </a:prstGeom>
          <a:noFill/>
          <a:ln/>
        </p:spPr>
        <p:txBody>
          <a:bodyPr wrap="square" lIns="0" tIns="0" rIns="0" bIns="0" rtlCol="0" anchor="ctr"/>
          <a:lstStyle/>
          <a:p>
            <a:pPr indent="0" marL="0">
              <a:buNone/>
            </a:pPr>
            <a:r>
              <a:rPr lang="en-US" sz="1200" b="1" i="1" dirty="0">
                <a:solidFill>
                  <a:srgbClr val="4A3D7A"/>
                </a:solidFill>
                <a:latin typeface="Arial" pitchFamily="34" charset="0"/>
                <a:ea typeface="Arial" pitchFamily="34" charset="-122"/>
                <a:cs typeface="Arial" pitchFamily="34" charset="-120"/>
              </a:rPr>
              <a:t>Say:  </a:t>
            </a:r>
            <a:pPr indent="0" marL="0">
              <a:buNone/>
            </a:pPr>
            <a:r>
              <a:rPr lang="en-US" sz="1200" i="1" dirty="0">
                <a:solidFill>
                  <a:srgbClr val="4A3D7A"/>
                </a:solidFill>
                <a:latin typeface="Arial" pitchFamily="34" charset="0"/>
                <a:ea typeface="Arial" pitchFamily="34" charset="-122"/>
                <a:cs typeface="Arial" pitchFamily="34" charset="-120"/>
              </a:rPr>
              <a:t>Two misses are good news in disguise; the third confirms the lookup problem.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indent="0" marL="0">
              <a:buNone/>
            </a:pPr>
            <a:r>
              <a:rPr lang="en-US" sz="1100" b="1" spc="200" kern="0" dirty="0">
                <a:solidFill>
                  <a:srgbClr val="4A3D7A"/>
                </a:solidFill>
                <a:latin typeface="Arial" pitchFamily="34" charset="0"/>
                <a:ea typeface="Arial" pitchFamily="34" charset="-122"/>
                <a:cs typeface="Arial" pitchFamily="34" charset="-120"/>
              </a:rPr>
              <a:t>RESULTS · 4 OF 7</a:t>
            </a:r>
            <a:endParaRPr lang="en-US" sz="11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indent="0" marL="0">
              <a:buNone/>
            </a:pPr>
            <a:r>
              <a:rPr lang="en-US" sz="2400" b="1" dirty="0">
                <a:solidFill>
                  <a:srgbClr val="1F1F2E"/>
                </a:solidFill>
                <a:latin typeface="Arial" pitchFamily="34" charset="0"/>
                <a:ea typeface="Arial" pitchFamily="34" charset="-122"/>
                <a:cs typeface="Arial" pitchFamily="34" charset="-120"/>
              </a:rPr>
              <a:t>With the storm-size input: lowest error everywhere, ahead of the lookup on 12 of 13 storms</a:t>
            </a:r>
            <a:endParaRPr lang="en-US" sz="2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4507992"/>
                <a:gridCol w="1645920"/>
                <a:gridCol w="1645920"/>
                <a:gridCol w="1645920"/>
                <a:gridCol w="1645920"/>
              </a:tblGrid>
              <a:tr h="420624">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mean log loss, 13 unseen storms</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static, mask</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static, +timing</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arrival, mask</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arrival, +timing</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r>
              <a:tr h="420624">
                <a:tc>
                  <a:txBody>
                    <a:bodyPr/>
                    <a:lstStyle/>
                    <a:p>
                      <a:pPr algn="l" indent="0" marL="0">
                        <a:buNone/>
                      </a:pPr>
                      <a:r>
                        <a:rPr lang="en-US" sz="1200" dirty="0">
                          <a:solidFill>
                            <a:srgbClr val="1F1F2E"/>
                          </a:solidFill>
                          <a:latin typeface="Arial" pitchFamily="34" charset="0"/>
                          <a:ea typeface="Arial" pitchFamily="34" charset="-122"/>
                          <a:cs typeface="Arial" pitchFamily="34" charset="-120"/>
                        </a:rPr>
                        <a:t>57 storms, no size input</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0.087</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0.080</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0.204</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0.177</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420624">
                <a:tc>
                  <a:txBody>
                    <a:bodyPr/>
                    <a:lstStyle/>
                    <a:p>
                      <a:pPr algn="l" indent="0" marL="0">
                        <a:buNone/>
                      </a:pPr>
                      <a:r>
                        <a:rPr lang="en-US" sz="1200" dirty="0">
                          <a:solidFill>
                            <a:srgbClr val="1F1F2E"/>
                          </a:solidFill>
                          <a:latin typeface="Arial" pitchFamily="34" charset="0"/>
                          <a:ea typeface="Arial" pitchFamily="34" charset="-122"/>
                          <a:cs typeface="Arial" pitchFamily="34" charset="-120"/>
                        </a:rPr>
                        <a:t>17 storms + size input</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0.063</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0.065</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0.119</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0.125</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420624">
                <a:tc>
                  <a:txBody>
                    <a:bodyPr/>
                    <a:lstStyle/>
                    <a:p>
                      <a:pPr algn="l" indent="0" marL="0">
                        <a:buNone/>
                      </a:pPr>
                      <a:r>
                        <a:rPr lang="en-US" sz="1200" b="1" dirty="0">
                          <a:solidFill>
                            <a:srgbClr val="1F1F2E"/>
                          </a:solidFill>
                          <a:latin typeface="Arial" pitchFamily="34" charset="0"/>
                          <a:ea typeface="Arial" pitchFamily="34" charset="-122"/>
                          <a:cs typeface="Arial" pitchFamily="34" charset="-120"/>
                        </a:rPr>
                        <a:t>57 storms + size input</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1F1F2E"/>
                          </a:solidFill>
                          <a:latin typeface="Arial" pitchFamily="34" charset="0"/>
                          <a:ea typeface="Arial" pitchFamily="34" charset="-122"/>
                          <a:cs typeface="Arial" pitchFamily="34" charset="-120"/>
                        </a:rPr>
                        <a:t>0.054</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1F1F2E"/>
                          </a:solidFill>
                          <a:latin typeface="Arial" pitchFamily="34" charset="0"/>
                          <a:ea typeface="Arial" pitchFamily="34" charset="-122"/>
                          <a:cs typeface="Arial" pitchFamily="34" charset="-120"/>
                        </a:rPr>
                        <a:t>0.054</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1F1F2E"/>
                          </a:solidFill>
                          <a:latin typeface="Arial" pitchFamily="34" charset="0"/>
                          <a:ea typeface="Arial" pitchFamily="34" charset="-122"/>
                          <a:cs typeface="Arial" pitchFamily="34" charset="-120"/>
                        </a:rPr>
                        <a:t>0.109</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1F1F2E"/>
                          </a:solidFill>
                          <a:latin typeface="Arial" pitchFamily="34" charset="0"/>
                          <a:ea typeface="Arial" pitchFamily="34" charset="-122"/>
                          <a:cs typeface="Arial" pitchFamily="34" charset="-120"/>
                        </a:rPr>
                        <a:t>0.099</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420624">
                <a:tc>
                  <a:txBody>
                    <a:bodyPr/>
                    <a:lstStyle/>
                    <a:p>
                      <a:pPr algn="l" indent="0" marL="0">
                        <a:buNone/>
                      </a:pPr>
                      <a:r>
                        <a:rPr lang="en-US" sz="1200" dirty="0">
                          <a:solidFill>
                            <a:srgbClr val="1F1F2E"/>
                          </a:solidFill>
                          <a:latin typeface="Arial" pitchFamily="34" charset="0"/>
                          <a:ea typeface="Arial" pitchFamily="34" charset="-122"/>
                          <a:cs typeface="Arial" pitchFamily="34" charset="-120"/>
                        </a:rPr>
                        <a:t>lookup table from 57 storms</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0.074</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0.074</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0.162</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0.162</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420624">
                <a:tc>
                  <a:txBody>
                    <a:bodyPr/>
                    <a:lstStyle/>
                    <a:p>
                      <a:pPr algn="l" indent="0" marL="0">
                        <a:buNone/>
                      </a:pPr>
                      <a:r>
                        <a:rPr lang="en-US" sz="1200" dirty="0">
                          <a:solidFill>
                            <a:srgbClr val="1F1F2E"/>
                          </a:solidFill>
                          <a:latin typeface="Arial" pitchFamily="34" charset="0"/>
                          <a:ea typeface="Arial" pitchFamily="34" charset="-122"/>
                          <a:cs typeface="Arial" pitchFamily="34" charset="-120"/>
                        </a:rPr>
                        <a:t>storms (of 13) where the model beats the lookup, without → with size input</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3 → 12</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5 → 12</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2 → 12</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4 → 12</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bl>
          </a:graphicData>
        </a:graphic>
      </p:graphicFrame>
      <p:sp>
        <p:nvSpPr>
          <p:cNvPr id="5" name="Text 2"/>
          <p:cNvSpPr txBox="1"/>
          <p:nvPr/>
        </p:nvSpPr>
        <p:spPr>
          <a:xfrm>
            <a:off x="548640" y="4343400"/>
            <a:ext cx="11064240" cy="1371600"/>
          </a:xfrm>
          <a:prstGeom prst="rect">
            <a:avLst/>
          </a:prstGeom>
          <a:noFill/>
          <a:ln/>
        </p:spPr>
        <p:txBody>
          <a:bodyPr wrap="square" lIns="0" tIns="0" rIns="0" bIns="0" rtlCol="0" anchor="t"/>
          <a:lstStyle/>
          <a:p>
            <a:pPr indent="0" marL="0">
              <a:spcAft>
                <a:spcPts val="800"/>
              </a:spcAft>
              <a:buNone/>
            </a:pPr>
            <a:r>
              <a:rPr lang="en-US" sz="1400" b="1" dirty="0">
                <a:solidFill>
                  <a:srgbClr val="1F1F2E"/>
                </a:solidFill>
                <a:latin typeface="Arial" pitchFamily="34" charset="0"/>
                <a:ea typeface="Arial" pitchFamily="34" charset="-122"/>
                <a:cs typeface="Arial" pitchFamily="34" charset="-120"/>
              </a:rPr>
              <a:t>Size input, same 57 storms: </a:t>
            </a:r>
            <a:pPr indent="0" marL="0">
              <a:spcAft>
                <a:spcPts val="800"/>
              </a:spcAft>
              <a:buNone/>
            </a:pPr>
            <a:r>
              <a:rPr lang="en-US" sz="1400" dirty="0">
                <a:solidFill>
                  <a:srgbClr val="1F1F2E"/>
                </a:solidFill>
                <a:latin typeface="Arial" pitchFamily="34" charset="0"/>
                <a:ea typeface="Arial" pitchFamily="34" charset="-122"/>
                <a:cs typeface="Arial" pitchFamily="34" charset="-120"/>
              </a:rPr>
              <a:t>32 to 47 % lower loss, better on all 13 storms in every variant.</a:t>
            </a:r>
            <a:endParaRPr lang="en-US" sz="1400" dirty="0"/>
          </a:p>
          <a:p>
            <a:pPr indent="0" marL="0">
              <a:spcAft>
                <a:spcPts val="800"/>
              </a:spcAft>
              <a:buNone/>
            </a:pPr>
            <a:r>
              <a:rPr lang="en-US" sz="1400" b="1" dirty="0">
                <a:solidFill>
                  <a:srgbClr val="1F1F2E"/>
                </a:solidFill>
                <a:latin typeface="Arial" pitchFamily="34" charset="0"/>
                <a:ea typeface="Arial" pitchFamily="34" charset="-122"/>
                <a:cs typeface="Arial" pitchFamily="34" charset="-120"/>
              </a:rPr>
              <a:t>More storms still help with the size input, </a:t>
            </a:r>
            <a:pPr indent="0" marL="0">
              <a:spcAft>
                <a:spcPts val="800"/>
              </a:spcAft>
              <a:buNone/>
            </a:pPr>
            <a:r>
              <a:rPr lang="en-US" sz="1400" dirty="0">
                <a:solidFill>
                  <a:srgbClr val="1F1F2E"/>
                </a:solidFill>
                <a:latin typeface="Arial" pitchFamily="34" charset="0"/>
                <a:ea typeface="Arial" pitchFamily="34" charset="-122"/>
                <a:cs typeface="Arial" pitchFamily="34" charset="-120"/>
              </a:rPr>
              <a:t>above the old range: 10 to 43 % lower than 17 storms + size input.</a:t>
            </a:r>
            <a:endParaRPr lang="en-US" sz="1400" dirty="0"/>
          </a:p>
          <a:p>
            <a:pPr indent="0" marL="0">
              <a:spcAft>
                <a:spcPts val="800"/>
              </a:spcAft>
              <a:buNone/>
            </a:pPr>
            <a:r>
              <a:rPr lang="en-US" sz="1400" b="1" dirty="0">
                <a:solidFill>
                  <a:srgbClr val="1F1F2E"/>
                </a:solidFill>
                <a:latin typeface="Arial" pitchFamily="34" charset="0"/>
                <a:ea typeface="Arial" pitchFamily="34" charset="-122"/>
                <a:cs typeface="Arial" pitchFamily="34" charset="-120"/>
              </a:rPr>
              <a:t>Honest note: </a:t>
            </a:r>
            <a:pPr indent="0" marL="0">
              <a:spcAft>
                <a:spcPts val="800"/>
              </a:spcAft>
              <a:buNone/>
            </a:pPr>
            <a:r>
              <a:rPr lang="en-US" sz="1400" dirty="0">
                <a:solidFill>
                  <a:srgbClr val="1F1F2E"/>
                </a:solidFill>
                <a:latin typeface="Arial" pitchFamily="34" charset="0"/>
                <a:ea typeface="Arial" pitchFamily="34" charset="-122"/>
                <a:cs typeface="Arial" pitchFamily="34" charset="-120"/>
              </a:rPr>
              <a:t>no prediction was registered for this variant, so these numbers are descriptive, not a verdict.</a:t>
            </a:r>
            <a:endParaRPr lang="en-US" sz="1400" dirty="0"/>
          </a:p>
        </p:txBody>
      </p:sp>
      <p:sp>
        <p:nvSpPr>
          <p:cNvPr id="6" name="Text 3"/>
          <p:cNvSpPr txBox="1"/>
          <p:nvPr/>
        </p:nvSpPr>
        <p:spPr>
          <a:xfrm>
            <a:off x="548640" y="6144768"/>
            <a:ext cx="11064240" cy="411480"/>
          </a:xfrm>
          <a:prstGeom prst="rect">
            <a:avLst/>
          </a:prstGeom>
          <a:noFill/>
          <a:ln/>
        </p:spPr>
        <p:txBody>
          <a:bodyPr wrap="square" lIns="0" tIns="0" rIns="0" bIns="0" rtlCol="0" anchor="ctr"/>
          <a:lstStyle/>
          <a:p>
            <a:pPr indent="0" marL="0">
              <a:buNone/>
            </a:pPr>
            <a:r>
              <a:rPr lang="en-US" sz="1200" b="1" i="1" dirty="0">
                <a:solidFill>
                  <a:srgbClr val="4A3D7A"/>
                </a:solidFill>
                <a:latin typeface="Arial" pitchFamily="34" charset="0"/>
                <a:ea typeface="Arial" pitchFamily="34" charset="-122"/>
                <a:cs typeface="Arial" pitchFamily="34" charset="-120"/>
              </a:rPr>
              <a:t>Say:  </a:t>
            </a:r>
            <a:pPr indent="0" marL="0">
              <a:buNone/>
            </a:pPr>
            <a:r>
              <a:rPr lang="en-US" sz="1200" i="1" dirty="0">
                <a:solidFill>
                  <a:srgbClr val="4A3D7A"/>
                </a:solidFill>
                <a:latin typeface="Arial" pitchFamily="34" charset="0"/>
                <a:ea typeface="Arial" pitchFamily="34" charset="-122"/>
                <a:cs typeface="Arial" pitchFamily="34" charset="-120"/>
              </a:rPr>
              <a:t>Size input plus more storms: the error roughly halves and the lookup is beaten almost everywhere.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indent="0" marL="0">
              <a:buNone/>
            </a:pPr>
            <a:r>
              <a:rPr lang="en-US" sz="1100" b="1" spc="200" kern="0" dirty="0">
                <a:solidFill>
                  <a:srgbClr val="4A3D7A"/>
                </a:solidFill>
                <a:latin typeface="Arial" pitchFamily="34" charset="0"/>
                <a:ea typeface="Arial" pitchFamily="34" charset="-122"/>
                <a:cs typeface="Arial" pitchFamily="34" charset="-120"/>
              </a:rPr>
              <a:t>RESULTS · 5 OF 7</a:t>
            </a:r>
            <a:endParaRPr lang="en-US" sz="11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indent="0" marL="0">
              <a:buNone/>
            </a:pPr>
            <a:r>
              <a:rPr lang="en-US" sz="2400" b="1" dirty="0">
                <a:solidFill>
                  <a:srgbClr val="1F1F2E"/>
                </a:solidFill>
                <a:latin typeface="Arial" pitchFamily="34" charset="0"/>
                <a:ea typeface="Arial" pitchFamily="34" charset="-122"/>
                <a:cs typeface="Arial" pitchFamily="34" charset="-120"/>
              </a:rPr>
              <a:t>Count error against the floor: the size-input model sits where the simulator's own randomness puts it</a:t>
            </a:r>
            <a:endParaRPr lang="en-US" sz="2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949440" cy="914400"/>
        </p:xfrm>
        <a:graphic>
          <a:graphicData uri="http://schemas.openxmlformats.org/drawingml/2006/table">
            <a:tbl>
              <a:tblPr/>
              <a:tblGrid>
                <a:gridCol w="2926080"/>
                <a:gridCol w="914400"/>
                <a:gridCol w="1005840"/>
                <a:gridCol w="1051560"/>
                <a:gridCol w="1051560"/>
              </a:tblGrid>
              <a:tr h="347472">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unseen storm (static labels, 96 h)</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floor</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lookup</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no size input</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with size input</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r>
              <a:tr h="347472">
                <a:tc>
                  <a:txBody>
                    <a:bodyPr/>
                    <a:lstStyle/>
                    <a:p>
                      <a:pPr algn="l" indent="0" marL="0">
                        <a:buNone/>
                      </a:pPr>
                      <a:r>
                        <a:rPr lang="en-US" sz="1200" dirty="0">
                          <a:solidFill>
                            <a:srgbClr val="1F1F2E"/>
                          </a:solidFill>
                          <a:latin typeface="Arial" pitchFamily="34" charset="0"/>
                          <a:ea typeface="Arial" pitchFamily="34" charset="-122"/>
                          <a:cs typeface="Arial" pitchFamily="34" charset="-120"/>
                        </a:rPr>
                        <a:t>2.10 m</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0.23</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0.22</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B5443C"/>
                          </a:solidFill>
                          <a:latin typeface="Arial" pitchFamily="34" charset="0"/>
                          <a:ea typeface="Arial" pitchFamily="34" charset="-122"/>
                          <a:cs typeface="Arial" pitchFamily="34" charset="-120"/>
                        </a:rPr>
                        <a:t>4.03</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1F1F2E"/>
                          </a:solidFill>
                          <a:latin typeface="Arial" pitchFamily="34" charset="0"/>
                          <a:ea typeface="Arial" pitchFamily="34" charset="-122"/>
                          <a:cs typeface="Arial" pitchFamily="34" charset="-120"/>
                        </a:rPr>
                        <a:t>0.20</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47472">
                <a:tc>
                  <a:txBody>
                    <a:bodyPr/>
                    <a:lstStyle/>
                    <a:p>
                      <a:pPr algn="l" indent="0" marL="0">
                        <a:buNone/>
                      </a:pPr>
                      <a:r>
                        <a:rPr lang="en-US" sz="1200" dirty="0">
                          <a:solidFill>
                            <a:srgbClr val="1F1F2E"/>
                          </a:solidFill>
                          <a:latin typeface="Arial" pitchFamily="34" charset="0"/>
                          <a:ea typeface="Arial" pitchFamily="34" charset="-122"/>
                          <a:cs typeface="Arial" pitchFamily="34" charset="-120"/>
                        </a:rPr>
                        <a:t>2.17 m (old)</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0.16</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0.18</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B5443C"/>
                          </a:solidFill>
                          <a:latin typeface="Arial" pitchFamily="34" charset="0"/>
                          <a:ea typeface="Arial" pitchFamily="34" charset="-122"/>
                          <a:cs typeface="Arial" pitchFamily="34" charset="-120"/>
                        </a:rPr>
                        <a:t>3.37</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1F1F2E"/>
                          </a:solidFill>
                          <a:latin typeface="Arial" pitchFamily="34" charset="0"/>
                          <a:ea typeface="Arial" pitchFamily="34" charset="-122"/>
                          <a:cs typeface="Arial" pitchFamily="34" charset="-120"/>
                        </a:rPr>
                        <a:t>0.23</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47472">
                <a:tc>
                  <a:txBody>
                    <a:bodyPr/>
                    <a:lstStyle/>
                    <a:p>
                      <a:pPr algn="l" indent="0" marL="0">
                        <a:buNone/>
                      </a:pPr>
                      <a:r>
                        <a:rPr lang="en-US" sz="1200" dirty="0">
                          <a:solidFill>
                            <a:srgbClr val="1F1F2E"/>
                          </a:solidFill>
                          <a:latin typeface="Arial" pitchFamily="34" charset="0"/>
                          <a:ea typeface="Arial" pitchFamily="34" charset="-122"/>
                          <a:cs typeface="Arial" pitchFamily="34" charset="-120"/>
                        </a:rPr>
                        <a:t>2.44 m, slow (tipping storm)</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0.50</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0.56</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0.53</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1F1F2E"/>
                          </a:solidFill>
                          <a:latin typeface="Arial" pitchFamily="34" charset="0"/>
                          <a:ea typeface="Arial" pitchFamily="34" charset="-122"/>
                          <a:cs typeface="Arial" pitchFamily="34" charset="-120"/>
                        </a:rPr>
                        <a:t>0.54</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47472">
                <a:tc>
                  <a:txBody>
                    <a:bodyPr/>
                    <a:lstStyle/>
                    <a:p>
                      <a:pPr algn="l" indent="0" marL="0">
                        <a:buNone/>
                      </a:pPr>
                      <a:r>
                        <a:rPr lang="en-US" sz="1200" dirty="0">
                          <a:solidFill>
                            <a:srgbClr val="1F1F2E"/>
                          </a:solidFill>
                          <a:latin typeface="Arial" pitchFamily="34" charset="0"/>
                          <a:ea typeface="Arial" pitchFamily="34" charset="-122"/>
                          <a:cs typeface="Arial" pitchFamily="34" charset="-120"/>
                        </a:rPr>
                        <a:t>2.78 m</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0.09</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0.15</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0.19</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1F1F2E"/>
                          </a:solidFill>
                          <a:latin typeface="Arial" pitchFamily="34" charset="0"/>
                          <a:ea typeface="Arial" pitchFamily="34" charset="-122"/>
                          <a:cs typeface="Arial" pitchFamily="34" charset="-120"/>
                        </a:rPr>
                        <a:t>0.10</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47472">
                <a:tc>
                  <a:txBody>
                    <a:bodyPr/>
                    <a:lstStyle/>
                    <a:p>
                      <a:pPr algn="l" indent="0" marL="0">
                        <a:buNone/>
                      </a:pPr>
                      <a:r>
                        <a:rPr lang="en-US" sz="1200" dirty="0">
                          <a:solidFill>
                            <a:srgbClr val="1F1F2E"/>
                          </a:solidFill>
                          <a:latin typeface="Arial" pitchFamily="34" charset="0"/>
                          <a:ea typeface="Arial" pitchFamily="34" charset="-122"/>
                          <a:cs typeface="Arial" pitchFamily="34" charset="-120"/>
                        </a:rPr>
                        <a:t>3.37 m (old)</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0.04</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0.04</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0.11</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1F1F2E"/>
                          </a:solidFill>
                          <a:latin typeface="Arial" pitchFamily="34" charset="0"/>
                          <a:ea typeface="Arial" pitchFamily="34" charset="-122"/>
                          <a:cs typeface="Arial" pitchFamily="34" charset="-120"/>
                        </a:rPr>
                        <a:t>0.03</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47472">
                <a:tc>
                  <a:txBody>
                    <a:bodyPr/>
                    <a:lstStyle/>
                    <a:p>
                      <a:pPr algn="l" indent="0" marL="0">
                        <a:buNone/>
                      </a:pPr>
                      <a:r>
                        <a:rPr lang="en-US" sz="1200" dirty="0">
                          <a:solidFill>
                            <a:srgbClr val="1F1F2E"/>
                          </a:solidFill>
                          <a:latin typeface="Arial" pitchFamily="34" charset="0"/>
                          <a:ea typeface="Arial" pitchFamily="34" charset="-122"/>
                          <a:cs typeface="Arial" pitchFamily="34" charset="-120"/>
                        </a:rPr>
                        <a:t>3.48 m GeoClaw map</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0.02</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0.09</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0.12</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1F1F2E"/>
                          </a:solidFill>
                          <a:latin typeface="Arial" pitchFamily="34" charset="0"/>
                          <a:ea typeface="Arial" pitchFamily="34" charset="-122"/>
                          <a:cs typeface="Arial" pitchFamily="34" charset="-120"/>
                        </a:rPr>
                        <a:t>0.02</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47472">
                <a:tc>
                  <a:txBody>
                    <a:bodyPr/>
                    <a:lstStyle/>
                    <a:p>
                      <a:pPr algn="l" indent="0" marL="0">
                        <a:buNone/>
                      </a:pPr>
                      <a:r>
                        <a:rPr lang="en-US" sz="1200" dirty="0">
                          <a:solidFill>
                            <a:srgbClr val="1F1F2E"/>
                          </a:solidFill>
                          <a:latin typeface="Arial" pitchFamily="34" charset="0"/>
                          <a:ea typeface="Arial" pitchFamily="34" charset="-122"/>
                          <a:cs typeface="Arial" pitchFamily="34" charset="-120"/>
                        </a:rPr>
                        <a:t>4.46 m (old)</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0.02</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0.03</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0.10</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1F1F2E"/>
                          </a:solidFill>
                          <a:latin typeface="Arial" pitchFamily="34" charset="0"/>
                          <a:ea typeface="Arial" pitchFamily="34" charset="-122"/>
                          <a:cs typeface="Arial" pitchFamily="34" charset="-120"/>
                        </a:rPr>
                        <a:t>0.03</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47472">
                <a:tc>
                  <a:txBody>
                    <a:bodyPr/>
                    <a:lstStyle/>
                    <a:p>
                      <a:pPr algn="l" indent="0" marL="0">
                        <a:buNone/>
                      </a:pPr>
                      <a:r>
                        <a:rPr lang="en-US" sz="1200" dirty="0">
                          <a:solidFill>
                            <a:srgbClr val="1F1F2E"/>
                          </a:solidFill>
                          <a:latin typeface="Arial" pitchFamily="34" charset="0"/>
                          <a:ea typeface="Arial" pitchFamily="34" charset="-122"/>
                          <a:cs typeface="Arial" pitchFamily="34" charset="-120"/>
                        </a:rPr>
                        <a:t>4.72 m</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0.04</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0.04</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0.12</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1F1F2E"/>
                          </a:solidFill>
                          <a:latin typeface="Arial" pitchFamily="34" charset="0"/>
                          <a:ea typeface="Arial" pitchFamily="34" charset="-122"/>
                          <a:cs typeface="Arial" pitchFamily="34" charset="-120"/>
                        </a:rPr>
                        <a:t>0.04</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bl>
          </a:graphicData>
        </a:graphic>
      </p:graphicFrame>
      <p:sp>
        <p:nvSpPr>
          <p:cNvPr id="5" name="Text 2"/>
          <p:cNvSpPr txBox="1"/>
          <p:nvPr/>
        </p:nvSpPr>
        <p:spPr>
          <a:xfrm>
            <a:off x="7772400" y="1828800"/>
            <a:ext cx="3840480" cy="3931920"/>
          </a:xfrm>
          <a:prstGeom prst="rect">
            <a:avLst/>
          </a:prstGeom>
          <a:noFill/>
          <a:ln/>
        </p:spPr>
        <p:txBody>
          <a:bodyPr wrap="square" lIns="0" tIns="0" rIns="0" bIns="0" rtlCol="0" anchor="t"/>
          <a:lstStyle/>
          <a:p>
            <a:pPr indent="0" marL="0">
              <a:spcAft>
                <a:spcPts val="1000"/>
              </a:spcAft>
              <a:buNone/>
            </a:pPr>
            <a:r>
              <a:rPr lang="en-US" sz="1350" b="1" dirty="0">
                <a:solidFill>
                  <a:srgbClr val="1F1F2E"/>
                </a:solidFill>
                <a:latin typeface="Arial" pitchFamily="34" charset="0"/>
                <a:ea typeface="Arial" pitchFamily="34" charset="-122"/>
                <a:cs typeface="Arial" pitchFamily="34" charset="-120"/>
              </a:rPr>
              <a:t>Within 0.04 of the floor on 12 of 13 storms </a:t>
            </a:r>
            <a:pPr indent="0" marL="0">
              <a:spcAft>
                <a:spcPts val="1000"/>
              </a:spcAft>
              <a:buNone/>
            </a:pPr>
            <a:r>
              <a:rPr lang="en-US" sz="1350" dirty="0">
                <a:solidFill>
                  <a:srgbClr val="1F1F2E"/>
                </a:solidFill>
                <a:latin typeface="Arial" pitchFamily="34" charset="0"/>
                <a:ea typeface="Arial" pitchFamily="34" charset="-122"/>
                <a:cs typeface="Arial" pitchFamily="34" charset="-120"/>
              </a:rPr>
              <a:t>under static labels. The exception is the 2.17 m old storm.</a:t>
            </a:r>
            <a:endParaRPr lang="en-US" sz="1350" dirty="0"/>
          </a:p>
          <a:p>
            <a:pPr indent="0" marL="0">
              <a:spcAft>
                <a:spcPts val="1000"/>
              </a:spcAft>
              <a:buNone/>
            </a:pPr>
            <a:r>
              <a:rPr lang="en-US" sz="1350" b="1" dirty="0">
                <a:solidFill>
                  <a:srgbClr val="1F1F2E"/>
                </a:solidFill>
                <a:latin typeface="Arial" pitchFamily="34" charset="0"/>
                <a:ea typeface="Arial" pitchFamily="34" charset="-122"/>
                <a:cs typeface="Arial" pitchFamily="34" charset="-120"/>
              </a:rPr>
              <a:t>Arrival labels: 9–10 of 13. </a:t>
            </a:r>
            <a:pPr indent="0" marL="0">
              <a:spcAft>
                <a:spcPts val="1000"/>
              </a:spcAft>
              <a:buNone/>
            </a:pPr>
            <a:r>
              <a:rPr lang="en-US" sz="1350" dirty="0">
                <a:solidFill>
                  <a:srgbClr val="1F1F2E"/>
                </a:solidFill>
                <a:latin typeface="Arial" pitchFamily="34" charset="0"/>
                <a:ea typeface="Arial" pitchFamily="34" charset="-122"/>
                <a:cs typeface="Arial" pitchFamily="34" charset="-120"/>
              </a:rPr>
              <a:t>Gaps on the 2.17 m storm and on GeoClaw (0.13–0.14 against a floor of 0.02).</a:t>
            </a:r>
            <a:endParaRPr lang="en-US" sz="1350" dirty="0"/>
          </a:p>
          <a:p>
            <a:pPr indent="0" marL="0">
              <a:spcAft>
                <a:spcPts val="1000"/>
              </a:spcAft>
              <a:buNone/>
            </a:pPr>
            <a:r>
              <a:rPr lang="en-US" sz="1350" b="1" dirty="0">
                <a:solidFill>
                  <a:srgbClr val="1F1F2E"/>
                </a:solidFill>
                <a:latin typeface="Arial" pitchFamily="34" charset="0"/>
                <a:ea typeface="Arial" pitchFamily="34" charset="-122"/>
                <a:cs typeface="Arial" pitchFamily="34" charset="-120"/>
              </a:rPr>
              <a:t>The tipping storm: </a:t>
            </a:r>
            <a:pPr indent="0" marL="0">
              <a:spcAft>
                <a:spcPts val="1000"/>
              </a:spcAft>
              <a:buNone/>
            </a:pPr>
            <a:r>
              <a:rPr lang="en-US" sz="1350" dirty="0">
                <a:solidFill>
                  <a:srgbClr val="1F1F2E"/>
                </a:solidFill>
                <a:latin typeface="Arial" pitchFamily="34" charset="0"/>
                <a:ea typeface="Arial" pitchFamily="34" charset="-122"/>
                <a:cs typeface="Arial" pitchFamily="34" charset="-120"/>
              </a:rPr>
              <a:t>everyone is at its 0.50 floor. That error is the storm's own behaviour, not a model failure.</a:t>
            </a:r>
            <a:endParaRPr lang="en-US" sz="1350" dirty="0"/>
          </a:p>
          <a:p>
            <a:pPr indent="0" marL="0">
              <a:spcAft>
                <a:spcPts val="1000"/>
              </a:spcAft>
              <a:buNone/>
            </a:pPr>
            <a:r>
              <a:rPr lang="en-US" sz="1350" b="1" dirty="0">
                <a:solidFill>
                  <a:srgbClr val="1F1F2E"/>
                </a:solidFill>
                <a:latin typeface="Arial" pitchFamily="34" charset="0"/>
                <a:ea typeface="Arial" pitchFamily="34" charset="-122"/>
                <a:cs typeface="Arial" pitchFamily="34" charset="-120"/>
              </a:rPr>
              <a:t>Without the size input: </a:t>
            </a:r>
            <a:pPr indent="0" marL="0">
              <a:spcAft>
                <a:spcPts val="1000"/>
              </a:spcAft>
              <a:buNone/>
            </a:pPr>
            <a:r>
              <a:rPr lang="en-US" sz="1350" dirty="0">
                <a:solidFill>
                  <a:srgbClr val="1F1F2E"/>
                </a:solidFill>
                <a:latin typeface="Arial" pitchFamily="34" charset="0"/>
                <a:ea typeface="Arial" pitchFamily="34" charset="-122"/>
                <a:cs typeface="Arial" pitchFamily="34" charset="-120"/>
              </a:rPr>
              <a:t>0.04–0.12 above the floor on every big storm, 3–4 above on the smallest.</a:t>
            </a:r>
            <a:endParaRPr lang="en-US" sz="1350" dirty="0"/>
          </a:p>
        </p:txBody>
      </p:sp>
      <p:sp>
        <p:nvSpPr>
          <p:cNvPr id="6" name="Text 3"/>
          <p:cNvSpPr txBox="1"/>
          <p:nvPr/>
        </p:nvSpPr>
        <p:spPr>
          <a:xfrm>
            <a:off x="548640" y="5760720"/>
            <a:ext cx="11064240" cy="365760"/>
          </a:xfrm>
          <a:prstGeom prst="rect">
            <a:avLst/>
          </a:prstGeom>
          <a:noFill/>
          <a:ln/>
        </p:spPr>
        <p:txBody>
          <a:bodyPr wrap="square" lIns="0" tIns="0" rIns="0" bIns="0" rtlCol="0" anchor="ctr"/>
          <a:lstStyle/>
          <a:p>
            <a:pPr indent="0" marL="0">
              <a:buNone/>
            </a:pPr>
            <a:r>
              <a:rPr lang="en-US" sz="1100" dirty="0">
                <a:solidFill>
                  <a:srgbClr val="5B5B70"/>
                </a:solidFill>
                <a:latin typeface="Arial" pitchFamily="34" charset="0"/>
                <a:ea typeface="Arial" pitchFamily="34" charset="-122"/>
                <a:cs typeface="Arial" pitchFamily="34" charset="-120"/>
              </a:rPr>
              <a:t>Floor = count error of the best single answer (the median run). Full table: analysis/gnn/week31_count_floor_v1.csv.</a:t>
            </a:r>
            <a:endParaRPr lang="en-US" sz="1100" dirty="0"/>
          </a:p>
        </p:txBody>
      </p:sp>
      <p:sp>
        <p:nvSpPr>
          <p:cNvPr id="7" name="Text 4"/>
          <p:cNvSpPr txBox="1"/>
          <p:nvPr/>
        </p:nvSpPr>
        <p:spPr>
          <a:xfrm>
            <a:off x="548640" y="6144768"/>
            <a:ext cx="11064240" cy="411480"/>
          </a:xfrm>
          <a:prstGeom prst="rect">
            <a:avLst/>
          </a:prstGeom>
          <a:noFill/>
          <a:ln/>
        </p:spPr>
        <p:txBody>
          <a:bodyPr wrap="square" lIns="0" tIns="0" rIns="0" bIns="0" rtlCol="0" anchor="ctr"/>
          <a:lstStyle/>
          <a:p>
            <a:pPr indent="0" marL="0">
              <a:buNone/>
            </a:pPr>
            <a:r>
              <a:rPr lang="en-US" sz="1200" b="1" i="1" dirty="0">
                <a:solidFill>
                  <a:srgbClr val="4A3D7A"/>
                </a:solidFill>
                <a:latin typeface="Arial" pitchFamily="34" charset="0"/>
                <a:ea typeface="Arial" pitchFamily="34" charset="-122"/>
                <a:cs typeface="Arial" pitchFamily="34" charset="-120"/>
              </a:rPr>
              <a:t>Say:  </a:t>
            </a:r>
            <a:pPr indent="0" marL="0">
              <a:buNone/>
            </a:pPr>
            <a:r>
              <a:rPr lang="en-US" sz="1200" i="1" dirty="0">
                <a:solidFill>
                  <a:srgbClr val="4A3D7A"/>
                </a:solidFill>
                <a:latin typeface="Arial" pitchFamily="34" charset="0"/>
                <a:ea typeface="Arial" pitchFamily="34" charset="-122"/>
                <a:cs typeface="Arial" pitchFamily="34" charset="-120"/>
              </a:rPr>
              <a:t>Near the floor almost everywhere; what error remains is mostly the simulator's own coin flips.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indent="0" marL="0">
              <a:buNone/>
            </a:pPr>
            <a:r>
              <a:rPr lang="en-US" sz="1100" b="1" spc="200" kern="0" dirty="0">
                <a:solidFill>
                  <a:srgbClr val="4A3D7A"/>
                </a:solidFill>
                <a:latin typeface="Arial" pitchFamily="34" charset="0"/>
                <a:ea typeface="Arial" pitchFamily="34" charset="-122"/>
                <a:cs typeface="Arial" pitchFamily="34" charset="-120"/>
              </a:rPr>
              <a:t>RESULTS · 6 OF 7</a:t>
            </a:r>
            <a:endParaRPr lang="en-US" sz="11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indent="0" marL="0">
              <a:buNone/>
            </a:pPr>
            <a:r>
              <a:rPr lang="en-US" sz="2400" b="1" dirty="0">
                <a:solidFill>
                  <a:srgbClr val="1F1F2E"/>
                </a:solidFill>
                <a:latin typeface="Arial" pitchFamily="34" charset="0"/>
                <a:ea typeface="Arial" pitchFamily="34" charset="-122"/>
                <a:cs typeface="Arial" pitchFamily="34" charset="-120"/>
              </a:rPr>
              <a:t>Ranking and calibration: the order is right, and under static labels the percentages are honest</a:t>
            </a:r>
            <a:endParaRPr lang="en-US" sz="2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3044952"/>
                <a:gridCol w="2011680"/>
                <a:gridCol w="2011680"/>
                <a:gridCol w="2011680"/>
                <a:gridCol w="2011680"/>
              </a:tblGrid>
              <a:tr h="457200">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57 storms, 13 unseen storms, 2 starts</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ranking AP, no size input</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ranking AP, with</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calibration ECE, no size input</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c>
                  <a:txBody>
                    <a:bodyPr/>
                    <a:lstStyle/>
                    <a:p>
                      <a:pPr algn="ctr" indent="0" marL="0">
                        <a:buNone/>
                      </a:pPr>
                      <a:r>
                        <a:rPr lang="en-US" sz="1200" b="1" dirty="0">
                          <a:solidFill>
                            <a:srgbClr val="4A3D7A"/>
                          </a:solidFill>
                          <a:latin typeface="Arial" pitchFamily="34" charset="0"/>
                          <a:ea typeface="Arial" pitchFamily="34" charset="-122"/>
                          <a:cs typeface="Arial" pitchFamily="34" charset="-120"/>
                        </a:rPr>
                        <a:t>calibration ECE, with</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EFEBF9"/>
                    </a:solidFill>
                  </a:tcPr>
                </a:tc>
              </a:tr>
              <a:tr h="457200">
                <a:tc>
                  <a:txBody>
                    <a:bodyPr/>
                    <a:lstStyle/>
                    <a:p>
                      <a:pPr algn="l" indent="0" marL="0">
                        <a:buNone/>
                      </a:pPr>
                      <a:r>
                        <a:rPr lang="en-US" sz="1200" dirty="0">
                          <a:solidFill>
                            <a:srgbClr val="1F1F2E"/>
                          </a:solidFill>
                          <a:latin typeface="Arial" pitchFamily="34" charset="0"/>
                          <a:ea typeface="Arial" pitchFamily="34" charset="-122"/>
                          <a:cs typeface="Arial" pitchFamily="34" charset="-120"/>
                        </a:rPr>
                        <a:t>static, mask</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0.943  (worst storm 0.80)</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1F1F2E"/>
                          </a:solidFill>
                          <a:latin typeface="Arial" pitchFamily="34" charset="0"/>
                          <a:ea typeface="Arial" pitchFamily="34" charset="-122"/>
                          <a:cs typeface="Arial" pitchFamily="34" charset="-120"/>
                        </a:rPr>
                        <a:t>0.978  (0.95)</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0.025  (worst 0.054)</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1F1F2E"/>
                          </a:solidFill>
                          <a:latin typeface="Arial" pitchFamily="34" charset="0"/>
                          <a:ea typeface="Arial" pitchFamily="34" charset="-122"/>
                          <a:cs typeface="Arial" pitchFamily="34" charset="-120"/>
                        </a:rPr>
                        <a:t>0.005  (0.014)</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457200">
                <a:tc>
                  <a:txBody>
                    <a:bodyPr/>
                    <a:lstStyle/>
                    <a:p>
                      <a:pPr algn="l" indent="0" marL="0">
                        <a:buNone/>
                      </a:pPr>
                      <a:r>
                        <a:rPr lang="en-US" sz="1200" dirty="0">
                          <a:solidFill>
                            <a:srgbClr val="1F1F2E"/>
                          </a:solidFill>
                          <a:latin typeface="Arial" pitchFamily="34" charset="0"/>
                          <a:ea typeface="Arial" pitchFamily="34" charset="-122"/>
                          <a:cs typeface="Arial" pitchFamily="34" charset="-120"/>
                        </a:rPr>
                        <a:t>static, +timing</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0.949  (0.82)</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1F1F2E"/>
                          </a:solidFill>
                          <a:latin typeface="Arial" pitchFamily="34" charset="0"/>
                          <a:ea typeface="Arial" pitchFamily="34" charset="-122"/>
                          <a:cs typeface="Arial" pitchFamily="34" charset="-120"/>
                        </a:rPr>
                        <a:t>0.978  (0.95)</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0.019  (0.047)</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1F1F2E"/>
                          </a:solidFill>
                          <a:latin typeface="Arial" pitchFamily="34" charset="0"/>
                          <a:ea typeface="Arial" pitchFamily="34" charset="-122"/>
                          <a:cs typeface="Arial" pitchFamily="34" charset="-120"/>
                        </a:rPr>
                        <a:t>0.004  (0.012)</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457200">
                <a:tc>
                  <a:txBody>
                    <a:bodyPr/>
                    <a:lstStyle/>
                    <a:p>
                      <a:pPr algn="l" indent="0" marL="0">
                        <a:buNone/>
                      </a:pPr>
                      <a:r>
                        <a:rPr lang="en-US" sz="1200" dirty="0">
                          <a:solidFill>
                            <a:srgbClr val="1F1F2E"/>
                          </a:solidFill>
                          <a:latin typeface="Arial" pitchFamily="34" charset="0"/>
                          <a:ea typeface="Arial" pitchFamily="34" charset="-122"/>
                          <a:cs typeface="Arial" pitchFamily="34" charset="-120"/>
                        </a:rPr>
                        <a:t>arrival, mask</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0.933  (0.76)</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1F1F2E"/>
                          </a:solidFill>
                          <a:latin typeface="Arial" pitchFamily="34" charset="0"/>
                          <a:ea typeface="Arial" pitchFamily="34" charset="-122"/>
                          <a:cs typeface="Arial" pitchFamily="34" charset="-120"/>
                        </a:rPr>
                        <a:t>0.971  (0.89)</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0.088  (0.140)</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1F1F2E"/>
                          </a:solidFill>
                          <a:latin typeface="Arial" pitchFamily="34" charset="0"/>
                          <a:ea typeface="Arial" pitchFamily="34" charset="-122"/>
                          <a:cs typeface="Arial" pitchFamily="34" charset="-120"/>
                        </a:rPr>
                        <a:t>0.026  (0.073)</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457200">
                <a:tc>
                  <a:txBody>
                    <a:bodyPr/>
                    <a:lstStyle/>
                    <a:p>
                      <a:pPr algn="l" indent="0" marL="0">
                        <a:buNone/>
                      </a:pPr>
                      <a:r>
                        <a:rPr lang="en-US" sz="1200" dirty="0">
                          <a:solidFill>
                            <a:srgbClr val="1F1F2E"/>
                          </a:solidFill>
                          <a:latin typeface="Arial" pitchFamily="34" charset="0"/>
                          <a:ea typeface="Arial" pitchFamily="34" charset="-122"/>
                          <a:cs typeface="Arial" pitchFamily="34" charset="-120"/>
                        </a:rPr>
                        <a:t>arrival, +timing</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0.939  (0.78)</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1F1F2E"/>
                          </a:solidFill>
                          <a:latin typeface="Arial" pitchFamily="34" charset="0"/>
                          <a:ea typeface="Arial" pitchFamily="34" charset="-122"/>
                          <a:cs typeface="Arial" pitchFamily="34" charset="-120"/>
                        </a:rPr>
                        <a:t>0.972  (0.91)</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dirty="0">
                          <a:solidFill>
                            <a:srgbClr val="1F1F2E"/>
                          </a:solidFill>
                          <a:latin typeface="Arial" pitchFamily="34" charset="0"/>
                          <a:ea typeface="Arial" pitchFamily="34" charset="-122"/>
                          <a:cs typeface="Arial" pitchFamily="34" charset="-120"/>
                        </a:rPr>
                        <a:t>0.070  (0.095)</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200" b="1" dirty="0">
                          <a:solidFill>
                            <a:srgbClr val="1F1F2E"/>
                          </a:solidFill>
                          <a:latin typeface="Arial" pitchFamily="34" charset="0"/>
                          <a:ea typeface="Arial" pitchFamily="34" charset="-122"/>
                          <a:cs typeface="Arial" pitchFamily="34" charset="-120"/>
                        </a:rPr>
                        <a:t>0.017  (0.041)</a:t>
                      </a:r>
                      <a:endParaRPr lang="en-US" sz="12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bl>
          </a:graphicData>
        </a:graphic>
      </p:graphicFrame>
      <p:sp>
        <p:nvSpPr>
          <p:cNvPr id="5" name="Text 2"/>
          <p:cNvSpPr txBox="1"/>
          <p:nvPr/>
        </p:nvSpPr>
        <p:spPr>
          <a:xfrm>
            <a:off x="548640" y="4206240"/>
            <a:ext cx="11064240" cy="1463040"/>
          </a:xfrm>
          <a:prstGeom prst="rect">
            <a:avLst/>
          </a:prstGeom>
          <a:noFill/>
          <a:ln/>
        </p:spPr>
        <p:txBody>
          <a:bodyPr wrap="square" lIns="0" tIns="0" rIns="0" bIns="0" rtlCol="0" anchor="t"/>
          <a:lstStyle/>
          <a:p>
            <a:pPr indent="0" marL="0">
              <a:spcAft>
                <a:spcPts val="800"/>
              </a:spcAft>
              <a:buNone/>
            </a:pPr>
            <a:r>
              <a:rPr lang="en-US" sz="1400" b="1" dirty="0">
                <a:solidFill>
                  <a:srgbClr val="1F1F2E"/>
                </a:solidFill>
                <a:latin typeface="Arial" pitchFamily="34" charset="0"/>
                <a:ea typeface="Arial" pitchFamily="34" charset="-122"/>
                <a:cs typeface="Arial" pitchFamily="34" charset="-120"/>
              </a:rPr>
              <a:t>Ranking: </a:t>
            </a:r>
            <a:pPr indent="0" marL="0">
              <a:spcAft>
                <a:spcPts val="800"/>
              </a:spcAft>
              <a:buNone/>
            </a:pPr>
            <a:r>
              <a:rPr lang="en-US" sz="1400" dirty="0">
                <a:solidFill>
                  <a:srgbClr val="1F1F2E"/>
                </a:solidFill>
                <a:latin typeface="Arial" pitchFamily="34" charset="0"/>
                <a:ea typeface="Arial" pitchFamily="34" charset="-122"/>
                <a:cs typeface="Arial" pitchFamily="34" charset="-120"/>
              </a:rPr>
              <a:t>0.97–0.98 with the size input; even the worst unseen storm is at 0.89 or above. The failing sites are at the top of the list.</a:t>
            </a:r>
            <a:endParaRPr lang="en-US" sz="1400" dirty="0"/>
          </a:p>
          <a:p>
            <a:pPr indent="0" marL="0">
              <a:spcAft>
                <a:spcPts val="800"/>
              </a:spcAft>
              <a:buNone/>
            </a:pPr>
            <a:r>
              <a:rPr lang="en-US" sz="1400" b="1" dirty="0">
                <a:solidFill>
                  <a:srgbClr val="1F1F2E"/>
                </a:solidFill>
                <a:latin typeface="Arial" pitchFamily="34" charset="0"/>
                <a:ea typeface="Arial" pitchFamily="34" charset="-122"/>
                <a:cs typeface="Arial" pitchFamily="34" charset="-120"/>
              </a:rPr>
              <a:t>Calibration: </a:t>
            </a:r>
            <a:pPr indent="0" marL="0">
              <a:spcAft>
                <a:spcPts val="800"/>
              </a:spcAft>
              <a:buNone/>
            </a:pPr>
            <a:r>
              <a:rPr lang="en-US" sz="1400" dirty="0">
                <a:solidFill>
                  <a:srgbClr val="1F1F2E"/>
                </a:solidFill>
                <a:latin typeface="Arial" pitchFamily="34" charset="0"/>
                <a:ea typeface="Arial" pitchFamily="34" charset="-122"/>
                <a:cs typeface="Arial" pitchFamily="34" charset="-120"/>
              </a:rPr>
              <a:t>below 0.01 under static labels — "30 %" can be read as thirty percent. Under arrival labels 0.02–0.03 on average, up to 0.04–0.07 on the worst storm: read with care.</a:t>
            </a:r>
            <a:endParaRPr lang="en-US" sz="1400" dirty="0"/>
          </a:p>
        </p:txBody>
      </p:sp>
      <p:sp>
        <p:nvSpPr>
          <p:cNvPr id="6" name="Text 3"/>
          <p:cNvSpPr txBox="1"/>
          <p:nvPr/>
        </p:nvSpPr>
        <p:spPr>
          <a:xfrm>
            <a:off x="548640" y="6144768"/>
            <a:ext cx="11064240" cy="411480"/>
          </a:xfrm>
          <a:prstGeom prst="rect">
            <a:avLst/>
          </a:prstGeom>
          <a:noFill/>
          <a:ln/>
        </p:spPr>
        <p:txBody>
          <a:bodyPr wrap="square" lIns="0" tIns="0" rIns="0" bIns="0" rtlCol="0" anchor="ctr"/>
          <a:lstStyle/>
          <a:p>
            <a:pPr indent="0" marL="0">
              <a:buNone/>
            </a:pPr>
            <a:r>
              <a:rPr lang="en-US" sz="1200" b="1" i="1" dirty="0">
                <a:solidFill>
                  <a:srgbClr val="4A3D7A"/>
                </a:solidFill>
                <a:latin typeface="Arial" pitchFamily="34" charset="0"/>
                <a:ea typeface="Arial" pitchFamily="34" charset="-122"/>
                <a:cs typeface="Arial" pitchFamily="34" charset="-120"/>
              </a:rPr>
              <a:t>Say:  </a:t>
            </a:r>
            <a:pPr indent="0" marL="0">
              <a:buNone/>
            </a:pPr>
            <a:r>
              <a:rPr lang="en-US" sz="1200" i="1" dirty="0">
                <a:solidFill>
                  <a:srgbClr val="4A3D7A"/>
                </a:solidFill>
                <a:latin typeface="Arial" pitchFamily="34" charset="0"/>
                <a:ea typeface="Arial" pitchFamily="34" charset="-122"/>
                <a:cs typeface="Arial" pitchFamily="34" charset="-120"/>
              </a:rPr>
              <a:t>The order is right and, under static labels, the percentages are honest.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indent="0" marL="0">
              <a:buNone/>
            </a:pPr>
            <a:r>
              <a:rPr lang="en-US" sz="1100" b="1" spc="200" kern="0" dirty="0">
                <a:solidFill>
                  <a:srgbClr val="4A3D7A"/>
                </a:solidFill>
                <a:latin typeface="Arial" pitchFamily="34" charset="0"/>
                <a:ea typeface="Arial" pitchFamily="34" charset="-122"/>
                <a:cs typeface="Arial" pitchFamily="34" charset="-120"/>
              </a:rPr>
              <a:t>RESULTS · 7 OF 7</a:t>
            </a:r>
            <a:endParaRPr lang="en-US" sz="11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indent="0" marL="0">
              <a:buNone/>
            </a:pPr>
            <a:r>
              <a:rPr lang="en-US" sz="2400" b="1" dirty="0">
                <a:solidFill>
                  <a:srgbClr val="1F1F2E"/>
                </a:solidFill>
                <a:latin typeface="Arial" pitchFamily="34" charset="0"/>
                <a:ea typeface="Arial" pitchFamily="34" charset="-122"/>
                <a:cs typeface="Arial" pitchFamily="34" charset="-120"/>
              </a:rPr>
              <a:t>What is still open</a:t>
            </a:r>
            <a:endParaRPr lang="en-US" sz="2400" dirty="0"/>
          </a:p>
        </p:txBody>
      </p:sp>
      <p:sp>
        <p:nvSpPr>
          <p:cNvPr id="4" name="Text 2"/>
          <p:cNvSpPr txBox="1"/>
          <p:nvPr/>
        </p:nvSpPr>
        <p:spPr>
          <a:xfrm>
            <a:off x="548640" y="1783080"/>
            <a:ext cx="11064240" cy="3931920"/>
          </a:xfrm>
          <a:prstGeom prst="rect">
            <a:avLst/>
          </a:prstGeom>
          <a:noFill/>
          <a:ln/>
        </p:spPr>
        <p:txBody>
          <a:bodyPr wrap="square" lIns="0" tIns="0" rIns="0" bIns="0" rtlCol="0" anchor="t"/>
          <a:lstStyle/>
          <a:p>
            <a:pPr indent="0" marL="0">
              <a:spcAft>
                <a:spcPts val="1100"/>
              </a:spcAft>
              <a:buNone/>
            </a:pPr>
            <a:r>
              <a:rPr lang="en-US" sz="1400" b="1" dirty="0">
                <a:solidFill>
                  <a:srgbClr val="1F1F2E"/>
                </a:solidFill>
                <a:latin typeface="Arial" pitchFamily="34" charset="0"/>
                <a:ea typeface="Arial" pitchFamily="34" charset="-122"/>
                <a:cs typeface="Arial" pitchFamily="34" charset="-120"/>
              </a:rPr>
              <a:t>1  The smallest old storm (2.17 m) </a:t>
            </a:r>
            <a:pPr indent="0" marL="0">
              <a:spcAft>
                <a:spcPts val="1100"/>
              </a:spcAft>
              <a:buNone/>
            </a:pPr>
            <a:r>
              <a:rPr lang="en-US" sz="1400" dirty="0">
                <a:solidFill>
                  <a:srgbClr val="1F1F2E"/>
                </a:solidFill>
                <a:latin typeface="Arial" pitchFamily="34" charset="0"/>
                <a:ea typeface="Arial" pitchFamily="34" charset="-122"/>
                <a:cs typeface="Arial" pitchFamily="34" charset="-120"/>
              </a:rPr>
              <a:t>is over-counted by 23–31 % with the size input; its floor is 0.14–0.16. About 55 sites on a count of 222. Not fixed, not yet understood.</a:t>
            </a:r>
            <a:endParaRPr lang="en-US" sz="1400" dirty="0"/>
          </a:p>
          <a:p>
            <a:pPr indent="0" marL="0">
              <a:spcAft>
                <a:spcPts val="1100"/>
              </a:spcAft>
              <a:buNone/>
            </a:pPr>
            <a:r>
              <a:rPr lang="en-US" sz="1400" b="1" dirty="0">
                <a:solidFill>
                  <a:srgbClr val="1F1F2E"/>
                </a:solidFill>
                <a:latin typeface="Arial" pitchFamily="34" charset="0"/>
                <a:ea typeface="Arial" pitchFamily="34" charset="-122"/>
                <a:cs typeface="Arial" pitchFamily="34" charset="-120"/>
              </a:rPr>
              <a:t>2  The GeoClaw map under arrival labels: </a:t>
            </a:r>
            <a:pPr indent="0" marL="0">
              <a:spcAft>
                <a:spcPts val="1100"/>
              </a:spcAft>
              <a:buNone/>
            </a:pPr>
            <a:r>
              <a:rPr lang="en-US" sz="1400" dirty="0">
                <a:solidFill>
                  <a:srgbClr val="1F1F2E"/>
                </a:solidFill>
                <a:latin typeface="Arial" pitchFamily="34" charset="0"/>
                <a:ea typeface="Arial" pitchFamily="34" charset="-122"/>
                <a:cs typeface="Arial" pitchFamily="34" charset="-120"/>
              </a:rPr>
              <a:t>count error 0.13–0.14 against a floor of 0.02. Hard for every method (lookup 0.35). The one spatially different map is the hardest test — and the strongest reason to want more such maps.</a:t>
            </a:r>
            <a:endParaRPr lang="en-US" sz="1400" dirty="0"/>
          </a:p>
          <a:p>
            <a:pPr indent="0" marL="0">
              <a:spcAft>
                <a:spcPts val="1100"/>
              </a:spcAft>
              <a:buNone/>
            </a:pPr>
            <a:r>
              <a:rPr lang="en-US" sz="1400" b="1" dirty="0">
                <a:solidFill>
                  <a:srgbClr val="1F1F2E"/>
                </a:solidFill>
                <a:latin typeface="Arial" pitchFamily="34" charset="0"/>
                <a:ea typeface="Arial" pitchFamily="34" charset="-122"/>
                <a:cs typeface="Arial" pitchFamily="34" charset="-120"/>
              </a:rPr>
              <a:t>3  Only 13 test storms, and GISSR maps are nested by water level, </a:t>
            </a:r>
            <a:pPr indent="0" marL="0">
              <a:spcAft>
                <a:spcPts val="1100"/>
              </a:spcAft>
              <a:buNone/>
            </a:pPr>
            <a:r>
              <a:rPr lang="en-US" sz="1400" dirty="0">
                <a:solidFill>
                  <a:srgbClr val="1F1F2E"/>
                </a:solidFill>
                <a:latin typeface="Arial" pitchFamily="34" charset="0"/>
                <a:ea typeface="Arial" pitchFamily="34" charset="-122"/>
                <a:cs typeface="Arial" pitchFamily="34" charset="-120"/>
              </a:rPr>
              <a:t>so "generalises across flood maps" is not yet a claim we can make. Directions are consistent across 4 variants × 2 starts; no significance test.</a:t>
            </a:r>
            <a:endParaRPr lang="en-US" sz="1400" dirty="0"/>
          </a:p>
          <a:p>
            <a:pPr indent="0" marL="0">
              <a:spcAft>
                <a:spcPts val="1100"/>
              </a:spcAft>
              <a:buNone/>
            </a:pPr>
            <a:r>
              <a:rPr lang="en-US" sz="1400" b="1" dirty="0">
                <a:solidFill>
                  <a:srgbClr val="1F1F2E"/>
                </a:solidFill>
                <a:latin typeface="Arial" pitchFamily="34" charset="0"/>
                <a:ea typeface="Arial" pitchFamily="34" charset="-122"/>
                <a:cs typeface="Arial" pitchFamily="34" charset="-120"/>
              </a:rPr>
              <a:t>4  No prediction was registered for the size-input variant. </a:t>
            </a:r>
            <a:pPr indent="0" marL="0">
              <a:spcAft>
                <a:spcPts val="1100"/>
              </a:spcAft>
              <a:buNone/>
            </a:pPr>
            <a:r>
              <a:rPr lang="en-US" sz="1400" dirty="0">
                <a:solidFill>
                  <a:srgbClr val="1F1F2E"/>
                </a:solidFill>
                <a:latin typeface="Arial" pitchFamily="34" charset="0"/>
                <a:ea typeface="Arial" pitchFamily="34" charset="-122"/>
                <a:cs typeface="Arial" pitchFamily="34" charset="-120"/>
              </a:rPr>
              <a:t>Its results are descriptive; a fresh pre-registered test on new storms is needed before it goes in a paper.</a:t>
            </a:r>
            <a:endParaRPr lang="en-US" sz="1400" dirty="0"/>
          </a:p>
          <a:p>
            <a:pPr indent="0" marL="0">
              <a:spcAft>
                <a:spcPts val="1100"/>
              </a:spcAft>
              <a:buNone/>
            </a:pPr>
            <a:r>
              <a:rPr lang="en-US" sz="1400" b="1" dirty="0">
                <a:solidFill>
                  <a:srgbClr val="1F1F2E"/>
                </a:solidFill>
                <a:latin typeface="Arial" pitchFamily="34" charset="0"/>
                <a:ea typeface="Arial" pitchFamily="34" charset="-122"/>
                <a:cs typeface="Arial" pitchFamily="34" charset="-120"/>
              </a:rPr>
              <a:t>5  Bookkeeping: </a:t>
            </a:r>
            <a:pPr indent="0" marL="0">
              <a:spcAft>
                <a:spcPts val="1100"/>
              </a:spcAft>
              <a:buNone/>
            </a:pPr>
            <a:r>
              <a:rPr lang="en-US" sz="1400" dirty="0">
                <a:solidFill>
                  <a:srgbClr val="1F1F2E"/>
                </a:solidFill>
                <a:latin typeface="Arial" pitchFamily="34" charset="0"/>
                <a:ea typeface="Arial" pitchFamily="34" charset="-122"/>
                <a:cs typeface="Arial" pitchFamily="34" charset="-120"/>
              </a:rPr>
              <a:t>the inference wrapper still lacks the size-input columns (a few lines), so the end-to-end flood-map path exists in code for the older models only.</a:t>
            </a:r>
            <a:endParaRPr lang="en-US" sz="1400" dirty="0"/>
          </a:p>
        </p:txBody>
      </p:sp>
      <p:sp>
        <p:nvSpPr>
          <p:cNvPr id="5" name="Text 3"/>
          <p:cNvSpPr txBox="1"/>
          <p:nvPr/>
        </p:nvSpPr>
        <p:spPr>
          <a:xfrm>
            <a:off x="548640" y="6144768"/>
            <a:ext cx="11064240" cy="411480"/>
          </a:xfrm>
          <a:prstGeom prst="rect">
            <a:avLst/>
          </a:prstGeom>
          <a:noFill/>
          <a:ln/>
        </p:spPr>
        <p:txBody>
          <a:bodyPr wrap="square" lIns="0" tIns="0" rIns="0" bIns="0" rtlCol="0" anchor="ctr"/>
          <a:lstStyle/>
          <a:p>
            <a:pPr indent="0" marL="0">
              <a:buNone/>
            </a:pPr>
            <a:r>
              <a:rPr lang="en-US" sz="1200" b="1" i="1" dirty="0">
                <a:solidFill>
                  <a:srgbClr val="4A3D7A"/>
                </a:solidFill>
                <a:latin typeface="Arial" pitchFamily="34" charset="0"/>
                <a:ea typeface="Arial" pitchFamily="34" charset="-122"/>
                <a:cs typeface="Arial" pitchFamily="34" charset="-120"/>
              </a:rPr>
              <a:t>Say:  </a:t>
            </a:r>
            <a:pPr indent="0" marL="0">
              <a:buNone/>
            </a:pPr>
            <a:r>
              <a:rPr lang="en-US" sz="1200" i="1" dirty="0">
                <a:solidFill>
                  <a:srgbClr val="4A3D7A"/>
                </a:solidFill>
                <a:latin typeface="Arial" pitchFamily="34" charset="0"/>
                <a:ea typeface="Arial" pitchFamily="34" charset="-122"/>
                <a:cs typeface="Arial" pitchFamily="34" charset="-120"/>
              </a:rPr>
              <a:t>Two storms, one data limit, one bookkeeping item.</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indent="0" marL="0">
              <a:buNone/>
            </a:pPr>
            <a:r>
              <a:rPr lang="en-US" sz="1100" b="1" spc="200" kern="0" dirty="0">
                <a:solidFill>
                  <a:srgbClr val="4A3D7A"/>
                </a:solidFill>
                <a:latin typeface="Arial" pitchFamily="34" charset="0"/>
                <a:ea typeface="Arial" pitchFamily="34" charset="-122"/>
                <a:cs typeface="Arial" pitchFamily="34" charset="-120"/>
              </a:rPr>
              <a:t>WHAT COMES NEXT · 1 OF 2</a:t>
            </a:r>
            <a:endParaRPr lang="en-US" sz="11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indent="0" marL="0">
              <a:buNone/>
            </a:pPr>
            <a:r>
              <a:rPr lang="en-US" sz="2400" b="1" dirty="0">
                <a:solidFill>
                  <a:srgbClr val="1F1F2E"/>
                </a:solidFill>
                <a:latin typeface="Arial" pitchFamily="34" charset="0"/>
                <a:ea typeface="Arial" pitchFamily="34" charset="-122"/>
                <a:cs typeface="Arial" pitchFamily="34" charset="-120"/>
              </a:rPr>
              <a:t>One pass from the flood map to failure probabilities — the model discussed with Dr. Lin</a:t>
            </a:r>
            <a:endParaRPr lang="en-US" sz="2400" dirty="0"/>
          </a:p>
        </p:txBody>
      </p:sp>
      <p:sp>
        <p:nvSpPr>
          <p:cNvPr id="4" name="Shape 2"/>
          <p:cNvSpPr/>
          <p:nvPr/>
        </p:nvSpPr>
        <p:spPr>
          <a:xfrm>
            <a:off x="548640" y="3794760"/>
            <a:ext cx="1298448" cy="1234440"/>
          </a:xfrm>
          <a:prstGeom prst="roundRect">
            <a:avLst>
              <a:gd name="adj" fmla="val 5926"/>
            </a:avLst>
          </a:prstGeom>
          <a:solidFill>
            <a:srgbClr val="EFEBF9"/>
          </a:solidFill>
          <a:ln w="9525">
            <a:solidFill>
              <a:srgbClr val="4A3D7A"/>
            </a:solidFill>
            <a:prstDash val="solid"/>
          </a:ln>
        </p:spPr>
      </p:sp>
      <p:sp>
        <p:nvSpPr>
          <p:cNvPr id="5" name="Text 3"/>
          <p:cNvSpPr txBox="1"/>
          <p:nvPr/>
        </p:nvSpPr>
        <p:spPr>
          <a:xfrm>
            <a:off x="621792" y="3849624"/>
            <a:ext cx="1152144" cy="365760"/>
          </a:xfrm>
          <a:prstGeom prst="rect">
            <a:avLst/>
          </a:prstGeom>
          <a:noFill/>
          <a:ln/>
        </p:spPr>
        <p:txBody>
          <a:bodyPr wrap="square" lIns="0" tIns="0" rIns="0" bIns="0" rtlCol="0" anchor="ctr"/>
          <a:lstStyle/>
          <a:p>
            <a:pPr algn="ctr" indent="0" marL="0">
              <a:buNone/>
            </a:pPr>
            <a:r>
              <a:rPr lang="en-US" sz="1200" b="1" dirty="0">
                <a:solidFill>
                  <a:srgbClr val="1F1F2E"/>
                </a:solidFill>
                <a:latin typeface="Arial" pitchFamily="34" charset="0"/>
                <a:ea typeface="Arial" pitchFamily="34" charset="-122"/>
                <a:cs typeface="Arial" pitchFamily="34" charset="-120"/>
              </a:rPr>
              <a:t>Flood map</a:t>
            </a:r>
            <a:endParaRPr lang="en-US" sz="1200" dirty="0"/>
          </a:p>
        </p:txBody>
      </p:sp>
      <p:sp>
        <p:nvSpPr>
          <p:cNvPr id="6" name="Text 4"/>
          <p:cNvSpPr txBox="1"/>
          <p:nvPr/>
        </p:nvSpPr>
        <p:spPr>
          <a:xfrm>
            <a:off x="621792" y="4215384"/>
            <a:ext cx="1152144" cy="758952"/>
          </a:xfrm>
          <a:prstGeom prst="rect">
            <a:avLst/>
          </a:prstGeom>
          <a:noFill/>
          <a:ln/>
        </p:spPr>
        <p:txBody>
          <a:bodyPr wrap="square" lIns="0" tIns="0" rIns="0" bIns="0" rtlCol="0" anchor="t"/>
          <a:lstStyle/>
          <a:p>
            <a:pPr algn="ctr" indent="0" marL="0">
              <a:buNone/>
            </a:pPr>
            <a:r>
              <a:rPr lang="en-US" sz="1000" dirty="0">
                <a:solidFill>
                  <a:srgbClr val="1F1F2E"/>
                </a:solidFill>
                <a:latin typeface="Arial" pitchFamily="34" charset="0"/>
                <a:ea typeface="Arial" pitchFamily="34" charset="-122"/>
                <a:cs typeface="Arial" pitchFamily="34" charset="-120"/>
              </a:rPr>
              <a:t>depth at every site; timing table</a:t>
            </a:r>
            <a:endParaRPr lang="en-US" sz="1000" dirty="0"/>
          </a:p>
        </p:txBody>
      </p:sp>
      <p:sp>
        <p:nvSpPr>
          <p:cNvPr id="7" name="Shape 5"/>
          <p:cNvSpPr/>
          <p:nvPr/>
        </p:nvSpPr>
        <p:spPr>
          <a:xfrm>
            <a:off x="2029968" y="3794760"/>
            <a:ext cx="1298448" cy="1234440"/>
          </a:xfrm>
          <a:prstGeom prst="roundRect">
            <a:avLst>
              <a:gd name="adj" fmla="val 5926"/>
            </a:avLst>
          </a:prstGeom>
          <a:solidFill>
            <a:srgbClr val="FFFFFF"/>
          </a:solidFill>
          <a:ln w="9525">
            <a:solidFill>
              <a:srgbClr val="B5443C"/>
            </a:solidFill>
            <a:prstDash val="solid"/>
          </a:ln>
        </p:spPr>
      </p:sp>
      <p:sp>
        <p:nvSpPr>
          <p:cNvPr id="8" name="Text 6"/>
          <p:cNvSpPr txBox="1"/>
          <p:nvPr/>
        </p:nvSpPr>
        <p:spPr>
          <a:xfrm>
            <a:off x="2103120" y="3849624"/>
            <a:ext cx="1152144" cy="365760"/>
          </a:xfrm>
          <a:prstGeom prst="rect">
            <a:avLst/>
          </a:prstGeom>
          <a:noFill/>
          <a:ln/>
        </p:spPr>
        <p:txBody>
          <a:bodyPr wrap="square" lIns="0" tIns="0" rIns="0" bIns="0" rtlCol="0" anchor="ctr"/>
          <a:lstStyle/>
          <a:p>
            <a:pPr algn="ctr" indent="0" marL="0">
              <a:buNone/>
            </a:pPr>
            <a:r>
              <a:rPr lang="en-US" sz="1200" b="1" dirty="0">
                <a:solidFill>
                  <a:srgbClr val="1F1F2E"/>
                </a:solidFill>
                <a:latin typeface="Arial" pitchFamily="34" charset="0"/>
                <a:ea typeface="Arial" pitchFamily="34" charset="-122"/>
                <a:cs typeface="Arial" pitchFamily="34" charset="-120"/>
              </a:rPr>
              <a:t>Fragility curve</a:t>
            </a:r>
            <a:endParaRPr lang="en-US" sz="1200" dirty="0"/>
          </a:p>
        </p:txBody>
      </p:sp>
      <p:sp>
        <p:nvSpPr>
          <p:cNvPr id="9" name="Text 7"/>
          <p:cNvSpPr txBox="1"/>
          <p:nvPr/>
        </p:nvSpPr>
        <p:spPr>
          <a:xfrm>
            <a:off x="2103120" y="4215384"/>
            <a:ext cx="1152144" cy="758952"/>
          </a:xfrm>
          <a:prstGeom prst="rect">
            <a:avLst/>
          </a:prstGeom>
          <a:noFill/>
          <a:ln/>
        </p:spPr>
        <p:txBody>
          <a:bodyPr wrap="square" lIns="0" tIns="0" rIns="0" bIns="0" rtlCol="0" anchor="t"/>
          <a:lstStyle/>
          <a:p>
            <a:pPr algn="ctr" indent="0" marL="0">
              <a:buNone/>
            </a:pPr>
            <a:r>
              <a:rPr lang="en-US" sz="1000" dirty="0">
                <a:solidFill>
                  <a:srgbClr val="1F1F2E"/>
                </a:solidFill>
                <a:latin typeface="Arial" pitchFamily="34" charset="0"/>
                <a:ea typeface="Arial" pitchFamily="34" charset="-122"/>
                <a:cs typeface="Arial" pitchFamily="34" charset="-120"/>
              </a:rPr>
              <a:t>φ per site, closed form, no coin flip; expected number of flooded sites</a:t>
            </a:r>
            <a:endParaRPr lang="en-US" sz="1000" dirty="0"/>
          </a:p>
        </p:txBody>
      </p:sp>
      <p:sp>
        <p:nvSpPr>
          <p:cNvPr id="10" name="Shape 8"/>
          <p:cNvSpPr/>
          <p:nvPr/>
        </p:nvSpPr>
        <p:spPr>
          <a:xfrm>
            <a:off x="3511296" y="3794760"/>
            <a:ext cx="1298448" cy="1234440"/>
          </a:xfrm>
          <a:prstGeom prst="roundRect">
            <a:avLst>
              <a:gd name="adj" fmla="val 5926"/>
            </a:avLst>
          </a:prstGeom>
          <a:solidFill>
            <a:srgbClr val="EFEBF9"/>
          </a:solidFill>
          <a:ln w="9525">
            <a:solidFill>
              <a:srgbClr val="4A3D7A"/>
            </a:solidFill>
            <a:prstDash val="solid"/>
          </a:ln>
        </p:spPr>
      </p:sp>
      <p:sp>
        <p:nvSpPr>
          <p:cNvPr id="11" name="Text 9"/>
          <p:cNvSpPr txBox="1"/>
          <p:nvPr/>
        </p:nvSpPr>
        <p:spPr>
          <a:xfrm>
            <a:off x="3584448" y="3849624"/>
            <a:ext cx="1152144" cy="365760"/>
          </a:xfrm>
          <a:prstGeom prst="rect">
            <a:avLst/>
          </a:prstGeom>
          <a:noFill/>
          <a:ln/>
        </p:spPr>
        <p:txBody>
          <a:bodyPr wrap="square" lIns="0" tIns="0" rIns="0" bIns="0" rtlCol="0" anchor="ctr"/>
          <a:lstStyle/>
          <a:p>
            <a:pPr algn="ctr" indent="0" marL="0">
              <a:buNone/>
            </a:pPr>
            <a:r>
              <a:rPr lang="en-US" sz="1200" b="1" dirty="0">
                <a:solidFill>
                  <a:srgbClr val="1F1F2E"/>
                </a:solidFill>
                <a:latin typeface="Arial" pitchFamily="34" charset="0"/>
                <a:ea typeface="Arial" pitchFamily="34" charset="-122"/>
                <a:cs typeface="Arial" pitchFamily="34" charset="-120"/>
              </a:rPr>
              <a:t>GNN (unchanged)</a:t>
            </a:r>
            <a:endParaRPr lang="en-US" sz="1200" dirty="0"/>
          </a:p>
        </p:txBody>
      </p:sp>
      <p:sp>
        <p:nvSpPr>
          <p:cNvPr id="12" name="Text 10"/>
          <p:cNvSpPr txBox="1"/>
          <p:nvPr/>
        </p:nvSpPr>
        <p:spPr>
          <a:xfrm>
            <a:off x="3584448" y="4215384"/>
            <a:ext cx="1152144" cy="758952"/>
          </a:xfrm>
          <a:prstGeom prst="rect">
            <a:avLst/>
          </a:prstGeom>
          <a:noFill/>
          <a:ln/>
        </p:spPr>
        <p:txBody>
          <a:bodyPr wrap="square" lIns="0" tIns="0" rIns="0" bIns="0" rtlCol="0" anchor="t"/>
          <a:lstStyle/>
          <a:p>
            <a:pPr algn="ctr" indent="0" marL="0">
              <a:buNone/>
            </a:pPr>
            <a:r>
              <a:rPr lang="en-US" sz="1000" dirty="0">
                <a:solidFill>
                  <a:srgbClr val="1F1F2E"/>
                </a:solidFill>
                <a:latin typeface="Arial" pitchFamily="34" charset="0"/>
                <a:ea typeface="Arial" pitchFamily="34" charset="-122"/>
                <a:cs typeface="Arial" pitchFamily="34" charset="-120"/>
              </a:rPr>
              <a:t>message passing over the links → cascade part g</a:t>
            </a:r>
            <a:endParaRPr lang="en-US" sz="1000" dirty="0"/>
          </a:p>
        </p:txBody>
      </p:sp>
      <p:sp>
        <p:nvSpPr>
          <p:cNvPr id="13" name="Shape 11"/>
          <p:cNvSpPr/>
          <p:nvPr/>
        </p:nvSpPr>
        <p:spPr>
          <a:xfrm>
            <a:off x="4992624" y="3794760"/>
            <a:ext cx="1298448" cy="1234440"/>
          </a:xfrm>
          <a:prstGeom prst="roundRect">
            <a:avLst>
              <a:gd name="adj" fmla="val 5926"/>
            </a:avLst>
          </a:prstGeom>
          <a:solidFill>
            <a:srgbClr val="FFFFFF"/>
          </a:solidFill>
          <a:ln w="9525">
            <a:solidFill>
              <a:srgbClr val="B5443C"/>
            </a:solidFill>
            <a:prstDash val="solid"/>
          </a:ln>
        </p:spPr>
      </p:sp>
      <p:sp>
        <p:nvSpPr>
          <p:cNvPr id="14" name="Text 12"/>
          <p:cNvSpPr txBox="1"/>
          <p:nvPr/>
        </p:nvSpPr>
        <p:spPr>
          <a:xfrm>
            <a:off x="5065776" y="3849624"/>
            <a:ext cx="1152144" cy="365760"/>
          </a:xfrm>
          <a:prstGeom prst="rect">
            <a:avLst/>
          </a:prstGeom>
          <a:noFill/>
          <a:ln/>
        </p:spPr>
        <p:txBody>
          <a:bodyPr wrap="square" lIns="0" tIns="0" rIns="0" bIns="0" rtlCol="0" anchor="ctr"/>
          <a:lstStyle/>
          <a:p>
            <a:pPr algn="ctr" indent="0" marL="0">
              <a:buNone/>
            </a:pPr>
            <a:r>
              <a:rPr lang="en-US" sz="1200" b="1" dirty="0">
                <a:solidFill>
                  <a:srgbClr val="1F1F2E"/>
                </a:solidFill>
                <a:latin typeface="Arial" pitchFamily="34" charset="0"/>
                <a:ea typeface="Arial" pitchFamily="34" charset="-122"/>
                <a:cs typeface="Arial" pitchFamily="34" charset="-120"/>
              </a:rPr>
              <a:t>Compose</a:t>
            </a:r>
            <a:endParaRPr lang="en-US" sz="1200" dirty="0"/>
          </a:p>
        </p:txBody>
      </p:sp>
      <p:sp>
        <p:nvSpPr>
          <p:cNvPr id="15" name="Text 13"/>
          <p:cNvSpPr txBox="1"/>
          <p:nvPr/>
        </p:nvSpPr>
        <p:spPr>
          <a:xfrm>
            <a:off x="5065776" y="4215384"/>
            <a:ext cx="1152144" cy="758952"/>
          </a:xfrm>
          <a:prstGeom prst="rect">
            <a:avLst/>
          </a:prstGeom>
          <a:noFill/>
          <a:ln/>
        </p:spPr>
        <p:txBody>
          <a:bodyPr wrap="square" lIns="0" tIns="0" rIns="0" bIns="0" rtlCol="0" anchor="t"/>
          <a:lstStyle/>
          <a:p>
            <a:pPr algn="ctr" indent="0" marL="0">
              <a:buNone/>
            </a:pPr>
            <a:r>
              <a:rPr lang="en-US" sz="1000" dirty="0">
                <a:solidFill>
                  <a:srgbClr val="1F1F2E"/>
                </a:solidFill>
                <a:latin typeface="Arial" pitchFamily="34" charset="0"/>
                <a:ea typeface="Arial" pitchFamily="34" charset="-122"/>
                <a:cs typeface="Arial" pitchFamily="34" charset="-120"/>
              </a:rPr>
              <a:t>p = φ + (1 − φ) · g</a:t>
            </a:r>
            <a:endParaRPr lang="en-US" sz="1000" dirty="0"/>
          </a:p>
          <a:p>
            <a:pPr algn="ctr" indent="0" marL="0">
              <a:buNone/>
            </a:pPr>
            <a:r>
              <a:rPr lang="en-US" sz="1000" dirty="0">
                <a:solidFill>
                  <a:srgbClr val="1F1F2E"/>
                </a:solidFill>
                <a:latin typeface="Arial" pitchFamily="34" charset="0"/>
                <a:ea typeface="Arial" pitchFamily="34" charset="-122"/>
                <a:cs typeface="Arial" pitchFamily="34" charset="-120"/>
              </a:rPr>
              <a:t>flood part exact; network learns only g</a:t>
            </a:r>
            <a:endParaRPr lang="en-US" sz="1000" dirty="0"/>
          </a:p>
        </p:txBody>
      </p:sp>
      <p:sp>
        <p:nvSpPr>
          <p:cNvPr id="16" name="Shape 14"/>
          <p:cNvSpPr/>
          <p:nvPr/>
        </p:nvSpPr>
        <p:spPr>
          <a:xfrm>
            <a:off x="6473952" y="3794760"/>
            <a:ext cx="1298448" cy="1234440"/>
          </a:xfrm>
          <a:prstGeom prst="roundRect">
            <a:avLst>
              <a:gd name="adj" fmla="val 5926"/>
            </a:avLst>
          </a:prstGeom>
          <a:solidFill>
            <a:srgbClr val="EFEBF9"/>
          </a:solidFill>
          <a:ln w="9525">
            <a:solidFill>
              <a:srgbClr val="4A3D7A"/>
            </a:solidFill>
            <a:prstDash val="solid"/>
          </a:ln>
        </p:spPr>
      </p:sp>
      <p:sp>
        <p:nvSpPr>
          <p:cNvPr id="17" name="Text 15"/>
          <p:cNvSpPr txBox="1"/>
          <p:nvPr/>
        </p:nvSpPr>
        <p:spPr>
          <a:xfrm>
            <a:off x="6547104" y="3849624"/>
            <a:ext cx="1152144" cy="365760"/>
          </a:xfrm>
          <a:prstGeom prst="rect">
            <a:avLst/>
          </a:prstGeom>
          <a:noFill/>
          <a:ln/>
        </p:spPr>
        <p:txBody>
          <a:bodyPr wrap="square" lIns="0" tIns="0" rIns="0" bIns="0" rtlCol="0" anchor="ctr"/>
          <a:lstStyle/>
          <a:p>
            <a:pPr algn="ctr" indent="0" marL="0">
              <a:buNone/>
            </a:pPr>
            <a:r>
              <a:rPr lang="en-US" sz="1200" b="1" dirty="0">
                <a:solidFill>
                  <a:srgbClr val="1F1F2E"/>
                </a:solidFill>
                <a:latin typeface="Arial" pitchFamily="34" charset="0"/>
                <a:ea typeface="Arial" pitchFamily="34" charset="-122"/>
                <a:cs typeface="Arial" pitchFamily="34" charset="-120"/>
              </a:rPr>
              <a:t>P(fail by 6/24/48/96 h)</a:t>
            </a:r>
            <a:endParaRPr lang="en-US" sz="1200" dirty="0"/>
          </a:p>
        </p:txBody>
      </p:sp>
      <p:sp>
        <p:nvSpPr>
          <p:cNvPr id="18" name="Text 16"/>
          <p:cNvSpPr txBox="1"/>
          <p:nvPr/>
        </p:nvSpPr>
        <p:spPr>
          <a:xfrm>
            <a:off x="6547104" y="4215384"/>
            <a:ext cx="1152144" cy="758952"/>
          </a:xfrm>
          <a:prstGeom prst="rect">
            <a:avLst/>
          </a:prstGeom>
          <a:noFill/>
          <a:ln/>
        </p:spPr>
        <p:txBody>
          <a:bodyPr wrap="square" lIns="0" tIns="0" rIns="0" bIns="0" rtlCol="0" anchor="t"/>
          <a:lstStyle/>
          <a:p>
            <a:pPr algn="ctr" indent="0" marL="0">
              <a:buNone/>
            </a:pPr>
            <a:r>
              <a:rPr lang="en-US" sz="1000" dirty="0">
                <a:solidFill>
                  <a:srgbClr val="1F1F2E"/>
                </a:solidFill>
                <a:latin typeface="Arial" pitchFamily="34" charset="0"/>
                <a:ea typeface="Arial" pitchFamily="34" charset="-122"/>
                <a:cs typeface="Arial" pitchFamily="34" charset="-120"/>
              </a:rPr>
              <a:t>every site, one pass, ≈ 10 ms, no sampling</a:t>
            </a:r>
            <a:endParaRPr lang="en-US" sz="1000" dirty="0"/>
          </a:p>
        </p:txBody>
      </p:sp>
      <p:sp>
        <p:nvSpPr>
          <p:cNvPr id="19" name="Shape 17"/>
          <p:cNvSpPr/>
          <p:nvPr/>
        </p:nvSpPr>
        <p:spPr>
          <a:xfrm>
            <a:off x="1847088" y="4411980"/>
            <a:ext cx="182880" cy="0"/>
          </a:xfrm>
          <a:prstGeom prst="line">
            <a:avLst/>
          </a:prstGeom>
          <a:noFill/>
          <a:ln w="19050">
            <a:solidFill>
              <a:srgbClr val="4A3D7A"/>
            </a:solidFill>
            <a:prstDash val="solid"/>
            <a:tailEnd type="triangle"/>
          </a:ln>
        </p:spPr>
      </p:sp>
      <p:sp>
        <p:nvSpPr>
          <p:cNvPr id="20" name="Shape 18"/>
          <p:cNvSpPr/>
          <p:nvPr/>
        </p:nvSpPr>
        <p:spPr>
          <a:xfrm>
            <a:off x="3328416" y="4411980"/>
            <a:ext cx="182880" cy="0"/>
          </a:xfrm>
          <a:prstGeom prst="line">
            <a:avLst/>
          </a:prstGeom>
          <a:noFill/>
          <a:ln w="19050">
            <a:solidFill>
              <a:srgbClr val="4A3D7A"/>
            </a:solidFill>
            <a:prstDash val="solid"/>
            <a:tailEnd type="triangle"/>
          </a:ln>
        </p:spPr>
      </p:sp>
      <p:sp>
        <p:nvSpPr>
          <p:cNvPr id="21" name="Shape 19"/>
          <p:cNvSpPr/>
          <p:nvPr/>
        </p:nvSpPr>
        <p:spPr>
          <a:xfrm>
            <a:off x="4809744" y="4411980"/>
            <a:ext cx="182880" cy="0"/>
          </a:xfrm>
          <a:prstGeom prst="line">
            <a:avLst/>
          </a:prstGeom>
          <a:noFill/>
          <a:ln w="19050">
            <a:solidFill>
              <a:srgbClr val="4A3D7A"/>
            </a:solidFill>
            <a:prstDash val="solid"/>
            <a:tailEnd type="triangle"/>
          </a:ln>
        </p:spPr>
      </p:sp>
      <p:sp>
        <p:nvSpPr>
          <p:cNvPr id="22" name="Shape 20"/>
          <p:cNvSpPr/>
          <p:nvPr/>
        </p:nvSpPr>
        <p:spPr>
          <a:xfrm>
            <a:off x="6291072" y="4411980"/>
            <a:ext cx="182880" cy="0"/>
          </a:xfrm>
          <a:prstGeom prst="line">
            <a:avLst/>
          </a:prstGeom>
          <a:noFill/>
          <a:ln w="19050">
            <a:solidFill>
              <a:srgbClr val="4A3D7A"/>
            </a:solidFill>
            <a:prstDash val="solid"/>
            <a:tailEnd type="triangle"/>
          </a:ln>
        </p:spPr>
      </p:sp>
      <p:sp>
        <p:nvSpPr>
          <p:cNvPr id="23" name="Shape 21"/>
          <p:cNvSpPr/>
          <p:nvPr/>
        </p:nvSpPr>
        <p:spPr>
          <a:xfrm>
            <a:off x="2029968" y="1828800"/>
            <a:ext cx="1298448" cy="1188720"/>
          </a:xfrm>
          <a:prstGeom prst="roundRect">
            <a:avLst>
              <a:gd name="adj" fmla="val 6154"/>
            </a:avLst>
          </a:prstGeom>
          <a:solidFill>
            <a:srgbClr val="EFEBF9"/>
          </a:solidFill>
          <a:ln w="9525">
            <a:solidFill>
              <a:srgbClr val="4A3D7A"/>
            </a:solidFill>
            <a:prstDash val="solid"/>
          </a:ln>
        </p:spPr>
      </p:sp>
      <p:sp>
        <p:nvSpPr>
          <p:cNvPr id="24" name="Text 22"/>
          <p:cNvSpPr txBox="1"/>
          <p:nvPr/>
        </p:nvSpPr>
        <p:spPr>
          <a:xfrm>
            <a:off x="2103120" y="1883664"/>
            <a:ext cx="1152144" cy="365760"/>
          </a:xfrm>
          <a:prstGeom prst="rect">
            <a:avLst/>
          </a:prstGeom>
          <a:noFill/>
          <a:ln/>
        </p:spPr>
        <p:txBody>
          <a:bodyPr wrap="square" lIns="0" tIns="0" rIns="0" bIns="0" rtlCol="0" anchor="ctr"/>
          <a:lstStyle/>
          <a:p>
            <a:pPr algn="ctr" indent="0" marL="0">
              <a:buNone/>
            </a:pPr>
            <a:r>
              <a:rPr lang="en-US" sz="1200" b="1" dirty="0">
                <a:solidFill>
                  <a:srgbClr val="1F1F2E"/>
                </a:solidFill>
                <a:latin typeface="Arial" pitchFamily="34" charset="0"/>
                <a:ea typeface="Arial" pitchFamily="34" charset="-122"/>
                <a:cs typeface="Arial" pitchFamily="34" charset="-120"/>
              </a:rPr>
              <a:t>Simulator, 1,000 runs</a:t>
            </a:r>
            <a:endParaRPr lang="en-US" sz="1200" dirty="0"/>
          </a:p>
        </p:txBody>
      </p:sp>
      <p:sp>
        <p:nvSpPr>
          <p:cNvPr id="25" name="Text 23"/>
          <p:cNvSpPr txBox="1"/>
          <p:nvPr/>
        </p:nvSpPr>
        <p:spPr>
          <a:xfrm>
            <a:off x="2103120" y="2249424"/>
            <a:ext cx="1152144" cy="713232"/>
          </a:xfrm>
          <a:prstGeom prst="rect">
            <a:avLst/>
          </a:prstGeom>
          <a:noFill/>
          <a:ln/>
        </p:spPr>
        <p:txBody>
          <a:bodyPr wrap="square" lIns="0" tIns="0" rIns="0" bIns="0" rtlCol="0" anchor="t"/>
          <a:lstStyle/>
          <a:p>
            <a:pPr algn="ctr" indent="0" marL="0">
              <a:buNone/>
            </a:pPr>
            <a:r>
              <a:rPr lang="en-US" sz="1000" dirty="0">
                <a:solidFill>
                  <a:srgbClr val="1F1F2E"/>
                </a:solidFill>
                <a:latin typeface="Arial" pitchFamily="34" charset="0"/>
                <a:ea typeface="Arial" pitchFamily="34" charset="-122"/>
                <a:cs typeface="Arial" pitchFamily="34" charset="-120"/>
              </a:rPr>
              <a:t>already on disk for all 70 storms</a:t>
            </a:r>
            <a:endParaRPr lang="en-US" sz="1000" dirty="0"/>
          </a:p>
        </p:txBody>
      </p:sp>
      <p:sp>
        <p:nvSpPr>
          <p:cNvPr id="26" name="Shape 24"/>
          <p:cNvSpPr/>
          <p:nvPr/>
        </p:nvSpPr>
        <p:spPr>
          <a:xfrm>
            <a:off x="3511296" y="1828800"/>
            <a:ext cx="1298448" cy="1188720"/>
          </a:xfrm>
          <a:prstGeom prst="roundRect">
            <a:avLst>
              <a:gd name="adj" fmla="val 6154"/>
            </a:avLst>
          </a:prstGeom>
          <a:solidFill>
            <a:srgbClr val="FFFFFF"/>
          </a:solidFill>
          <a:ln w="9525">
            <a:solidFill>
              <a:srgbClr val="B5443C"/>
            </a:solidFill>
            <a:prstDash val="solid"/>
          </a:ln>
        </p:spPr>
      </p:sp>
      <p:sp>
        <p:nvSpPr>
          <p:cNvPr id="27" name="Text 25"/>
          <p:cNvSpPr txBox="1"/>
          <p:nvPr/>
        </p:nvSpPr>
        <p:spPr>
          <a:xfrm>
            <a:off x="3584448" y="1883664"/>
            <a:ext cx="1152144" cy="365760"/>
          </a:xfrm>
          <a:prstGeom prst="rect">
            <a:avLst/>
          </a:prstGeom>
          <a:noFill/>
          <a:ln/>
        </p:spPr>
        <p:txBody>
          <a:bodyPr wrap="square" lIns="0" tIns="0" rIns="0" bIns="0" rtlCol="0" anchor="ctr"/>
          <a:lstStyle/>
          <a:p>
            <a:pPr algn="ctr" indent="0" marL="0">
              <a:buNone/>
            </a:pPr>
            <a:r>
              <a:rPr lang="en-US" sz="1200" b="1" dirty="0">
                <a:solidFill>
                  <a:srgbClr val="1F1F2E"/>
                </a:solidFill>
                <a:latin typeface="Arial" pitchFamily="34" charset="0"/>
                <a:ea typeface="Arial" pitchFamily="34" charset="-122"/>
                <a:cs typeface="Arial" pitchFamily="34" charset="-120"/>
              </a:rPr>
              <a:t>Target</a:t>
            </a:r>
            <a:endParaRPr lang="en-US" sz="1200" dirty="0"/>
          </a:p>
        </p:txBody>
      </p:sp>
      <p:sp>
        <p:nvSpPr>
          <p:cNvPr id="28" name="Text 26"/>
          <p:cNvSpPr txBox="1"/>
          <p:nvPr/>
        </p:nvSpPr>
        <p:spPr>
          <a:xfrm>
            <a:off x="3584448" y="2249424"/>
            <a:ext cx="1152144" cy="713232"/>
          </a:xfrm>
          <a:prstGeom prst="rect">
            <a:avLst/>
          </a:prstGeom>
          <a:noFill/>
          <a:ln/>
        </p:spPr>
        <p:txBody>
          <a:bodyPr wrap="square" lIns="0" tIns="0" rIns="0" bIns="0" rtlCol="0" anchor="t"/>
          <a:lstStyle/>
          <a:p>
            <a:pPr algn="ctr" indent="0" marL="0">
              <a:buNone/>
            </a:pPr>
            <a:r>
              <a:rPr lang="en-US" sz="1000" dirty="0">
                <a:solidFill>
                  <a:srgbClr val="1F1F2E"/>
                </a:solidFill>
                <a:latin typeface="Arial" pitchFamily="34" charset="0"/>
                <a:ea typeface="Arial" pitchFamily="34" charset="-122"/>
                <a:cs typeface="Arial" pitchFamily="34" charset="-120"/>
              </a:rPr>
              <a:t>share of the 1,000 runs in which the site had failed</a:t>
            </a:r>
            <a:endParaRPr lang="en-US" sz="1000" dirty="0"/>
          </a:p>
        </p:txBody>
      </p:sp>
      <p:sp>
        <p:nvSpPr>
          <p:cNvPr id="29" name="Shape 27"/>
          <p:cNvSpPr/>
          <p:nvPr/>
        </p:nvSpPr>
        <p:spPr>
          <a:xfrm>
            <a:off x="4992624" y="1828800"/>
            <a:ext cx="1298448" cy="1188720"/>
          </a:xfrm>
          <a:prstGeom prst="roundRect">
            <a:avLst>
              <a:gd name="adj" fmla="val 6154"/>
            </a:avLst>
          </a:prstGeom>
          <a:solidFill>
            <a:srgbClr val="FFFFFF"/>
          </a:solidFill>
          <a:ln w="9525">
            <a:solidFill>
              <a:srgbClr val="B5443C"/>
            </a:solidFill>
            <a:prstDash val="solid"/>
          </a:ln>
        </p:spPr>
      </p:sp>
      <p:sp>
        <p:nvSpPr>
          <p:cNvPr id="30" name="Text 28"/>
          <p:cNvSpPr txBox="1"/>
          <p:nvPr/>
        </p:nvSpPr>
        <p:spPr>
          <a:xfrm>
            <a:off x="5065776" y="1883664"/>
            <a:ext cx="1152144" cy="365760"/>
          </a:xfrm>
          <a:prstGeom prst="rect">
            <a:avLst/>
          </a:prstGeom>
          <a:noFill/>
          <a:ln/>
        </p:spPr>
        <p:txBody>
          <a:bodyPr wrap="square" lIns="0" tIns="0" rIns="0" bIns="0" rtlCol="0" anchor="ctr"/>
          <a:lstStyle/>
          <a:p>
            <a:pPr algn="ctr" indent="0" marL="0">
              <a:buNone/>
            </a:pPr>
            <a:r>
              <a:rPr lang="en-US" sz="1200" b="1" dirty="0">
                <a:solidFill>
                  <a:srgbClr val="1F1F2E"/>
                </a:solidFill>
                <a:latin typeface="Arial" pitchFamily="34" charset="0"/>
                <a:ea typeface="Arial" pitchFamily="34" charset="-122"/>
                <a:cs typeface="Arial" pitchFamily="34" charset="-120"/>
              </a:rPr>
              <a:t>Loss, then update</a:t>
            </a:r>
            <a:endParaRPr lang="en-US" sz="1200" dirty="0"/>
          </a:p>
        </p:txBody>
      </p:sp>
      <p:sp>
        <p:nvSpPr>
          <p:cNvPr id="31" name="Text 29"/>
          <p:cNvSpPr txBox="1"/>
          <p:nvPr/>
        </p:nvSpPr>
        <p:spPr>
          <a:xfrm>
            <a:off x="5065776" y="2249424"/>
            <a:ext cx="1152144" cy="713232"/>
          </a:xfrm>
          <a:prstGeom prst="rect">
            <a:avLst/>
          </a:prstGeom>
          <a:noFill/>
          <a:ln/>
        </p:spPr>
        <p:txBody>
          <a:bodyPr wrap="square" lIns="0" tIns="0" rIns="0" bIns="0" rtlCol="0" anchor="t"/>
          <a:lstStyle/>
          <a:p>
            <a:pPr algn="ctr" indent="0" marL="0">
              <a:buNone/>
            </a:pPr>
            <a:r>
              <a:rPr lang="en-US" sz="1000" dirty="0">
                <a:solidFill>
                  <a:srgbClr val="1F1F2E"/>
                </a:solidFill>
                <a:latin typeface="Arial" pitchFamily="34" charset="0"/>
                <a:ea typeface="Arial" pitchFamily="34" charset="-122"/>
                <a:cs typeface="Arial" pitchFamily="34" charset="-120"/>
              </a:rPr>
              <a:t>compare p with the target; lowest when p equals it</a:t>
            </a:r>
            <a:endParaRPr lang="en-US" sz="1000" dirty="0"/>
          </a:p>
        </p:txBody>
      </p:sp>
      <p:sp>
        <p:nvSpPr>
          <p:cNvPr id="32" name="Shape 30"/>
          <p:cNvSpPr/>
          <p:nvPr/>
        </p:nvSpPr>
        <p:spPr>
          <a:xfrm>
            <a:off x="3328416" y="2423160"/>
            <a:ext cx="182880" cy="0"/>
          </a:xfrm>
          <a:prstGeom prst="line">
            <a:avLst/>
          </a:prstGeom>
          <a:noFill/>
          <a:ln w="19050">
            <a:solidFill>
              <a:srgbClr val="4A3D7A"/>
            </a:solidFill>
            <a:prstDash val="solid"/>
            <a:tailEnd type="triangle"/>
          </a:ln>
        </p:spPr>
      </p:sp>
      <p:sp>
        <p:nvSpPr>
          <p:cNvPr id="33" name="Shape 31"/>
          <p:cNvSpPr/>
          <p:nvPr/>
        </p:nvSpPr>
        <p:spPr>
          <a:xfrm>
            <a:off x="4809744" y="2423160"/>
            <a:ext cx="182880" cy="0"/>
          </a:xfrm>
          <a:prstGeom prst="line">
            <a:avLst/>
          </a:prstGeom>
          <a:noFill/>
          <a:ln w="19050">
            <a:solidFill>
              <a:srgbClr val="4A3D7A"/>
            </a:solidFill>
            <a:prstDash val="solid"/>
            <a:tailEnd type="triangle"/>
          </a:ln>
        </p:spPr>
      </p:sp>
      <p:sp>
        <p:nvSpPr>
          <p:cNvPr id="34" name="Shape 32"/>
          <p:cNvSpPr/>
          <p:nvPr/>
        </p:nvSpPr>
        <p:spPr>
          <a:xfrm>
            <a:off x="1197864" y="2423160"/>
            <a:ext cx="0" cy="1371600"/>
          </a:xfrm>
          <a:prstGeom prst="line">
            <a:avLst/>
          </a:prstGeom>
          <a:noFill/>
          <a:ln w="19050">
            <a:solidFill>
              <a:srgbClr val="4A3D7A"/>
            </a:solidFill>
            <a:prstDash val="solid"/>
          </a:ln>
        </p:spPr>
      </p:sp>
      <p:sp>
        <p:nvSpPr>
          <p:cNvPr id="35" name="Shape 33"/>
          <p:cNvSpPr/>
          <p:nvPr/>
        </p:nvSpPr>
        <p:spPr>
          <a:xfrm>
            <a:off x="1197864" y="2423160"/>
            <a:ext cx="832104" cy="0"/>
          </a:xfrm>
          <a:prstGeom prst="line">
            <a:avLst/>
          </a:prstGeom>
          <a:noFill/>
          <a:ln w="19050">
            <a:solidFill>
              <a:srgbClr val="4A3D7A"/>
            </a:solidFill>
            <a:prstDash val="solid"/>
            <a:tailEnd type="triangle"/>
          </a:ln>
        </p:spPr>
      </p:sp>
      <p:sp>
        <p:nvSpPr>
          <p:cNvPr id="36" name="Text 34"/>
          <p:cNvSpPr txBox="1"/>
          <p:nvPr/>
        </p:nvSpPr>
        <p:spPr>
          <a:xfrm>
            <a:off x="1243584" y="2148840"/>
            <a:ext cx="914400" cy="228600"/>
          </a:xfrm>
          <a:prstGeom prst="rect">
            <a:avLst/>
          </a:prstGeom>
          <a:noFill/>
          <a:ln/>
        </p:spPr>
        <p:txBody>
          <a:bodyPr wrap="square" lIns="0" tIns="0" rIns="0" bIns="0" rtlCol="0" anchor="ctr"/>
          <a:lstStyle/>
          <a:p>
            <a:pPr indent="0" marL="0">
              <a:buNone/>
            </a:pPr>
            <a:r>
              <a:rPr lang="en-US" sz="900" i="1" dirty="0">
                <a:solidFill>
                  <a:srgbClr val="5B5B70"/>
                </a:solidFill>
                <a:latin typeface="Arial" pitchFamily="34" charset="0"/>
                <a:ea typeface="Arial" pitchFamily="34" charset="-122"/>
                <a:cs typeface="Arial" pitchFamily="34" charset="-120"/>
              </a:rPr>
              <a:t>same storm</a:t>
            </a:r>
            <a:endParaRPr lang="en-US" sz="900" dirty="0"/>
          </a:p>
        </p:txBody>
      </p:sp>
      <p:sp>
        <p:nvSpPr>
          <p:cNvPr id="37" name="Shape 35"/>
          <p:cNvSpPr/>
          <p:nvPr/>
        </p:nvSpPr>
        <p:spPr>
          <a:xfrm>
            <a:off x="5916168" y="3017520"/>
            <a:ext cx="0" cy="777240"/>
          </a:xfrm>
          <a:prstGeom prst="line">
            <a:avLst/>
          </a:prstGeom>
          <a:noFill/>
          <a:ln w="19050">
            <a:solidFill>
              <a:srgbClr val="4A3D7A"/>
            </a:solidFill>
            <a:prstDash val="solid"/>
            <a:headEnd type="triangle"/>
          </a:ln>
        </p:spPr>
      </p:sp>
      <p:sp>
        <p:nvSpPr>
          <p:cNvPr id="38" name="Shape 36"/>
          <p:cNvSpPr/>
          <p:nvPr/>
        </p:nvSpPr>
        <p:spPr>
          <a:xfrm>
            <a:off x="5367528" y="3017520"/>
            <a:ext cx="0" cy="384048"/>
          </a:xfrm>
          <a:prstGeom prst="line">
            <a:avLst/>
          </a:prstGeom>
          <a:noFill/>
          <a:ln w="19050">
            <a:solidFill>
              <a:srgbClr val="B5443C"/>
            </a:solidFill>
            <a:prstDash val="dash"/>
          </a:ln>
        </p:spPr>
      </p:sp>
      <p:sp>
        <p:nvSpPr>
          <p:cNvPr id="39" name="Shape 37"/>
          <p:cNvSpPr/>
          <p:nvPr/>
        </p:nvSpPr>
        <p:spPr>
          <a:xfrm>
            <a:off x="4160520" y="3401568"/>
            <a:ext cx="1207008" cy="0"/>
          </a:xfrm>
          <a:prstGeom prst="line">
            <a:avLst/>
          </a:prstGeom>
          <a:noFill/>
          <a:ln w="19050">
            <a:solidFill>
              <a:srgbClr val="B5443C"/>
            </a:solidFill>
            <a:prstDash val="dash"/>
          </a:ln>
        </p:spPr>
      </p:sp>
      <p:sp>
        <p:nvSpPr>
          <p:cNvPr id="40" name="Shape 38"/>
          <p:cNvSpPr/>
          <p:nvPr/>
        </p:nvSpPr>
        <p:spPr>
          <a:xfrm>
            <a:off x="4160520" y="3401568"/>
            <a:ext cx="0" cy="393192"/>
          </a:xfrm>
          <a:prstGeom prst="line">
            <a:avLst/>
          </a:prstGeom>
          <a:noFill/>
          <a:ln w="19050">
            <a:solidFill>
              <a:srgbClr val="B5443C"/>
            </a:solidFill>
            <a:prstDash val="dash"/>
            <a:tailEnd type="triangle"/>
          </a:ln>
        </p:spPr>
      </p:sp>
      <p:sp>
        <p:nvSpPr>
          <p:cNvPr id="41" name="Text 39"/>
          <p:cNvSpPr txBox="1"/>
          <p:nvPr/>
        </p:nvSpPr>
        <p:spPr>
          <a:xfrm>
            <a:off x="4233672" y="3447288"/>
            <a:ext cx="2011680" cy="228600"/>
          </a:xfrm>
          <a:prstGeom prst="rect">
            <a:avLst/>
          </a:prstGeom>
          <a:noFill/>
          <a:ln/>
        </p:spPr>
        <p:txBody>
          <a:bodyPr wrap="square" lIns="0" tIns="0" rIns="0" bIns="0" rtlCol="0" anchor="ctr"/>
          <a:lstStyle/>
          <a:p>
            <a:pPr indent="0" marL="0">
              <a:buNone/>
            </a:pPr>
            <a:r>
              <a:rPr lang="en-US" sz="900" i="1" dirty="0">
                <a:solidFill>
                  <a:srgbClr val="B5443C"/>
                </a:solidFill>
                <a:latin typeface="Arial" pitchFamily="34" charset="0"/>
                <a:ea typeface="Arial" pitchFamily="34" charset="-122"/>
                <a:cs typeface="Arial" pitchFamily="34" charset="-120"/>
              </a:rPr>
              <a:t>update the network (training only)</a:t>
            </a:r>
            <a:endParaRPr lang="en-US" sz="900" dirty="0"/>
          </a:p>
        </p:txBody>
      </p:sp>
      <p:sp>
        <p:nvSpPr>
          <p:cNvPr id="42" name="Text 40"/>
          <p:cNvSpPr txBox="1"/>
          <p:nvPr/>
        </p:nvSpPr>
        <p:spPr>
          <a:xfrm>
            <a:off x="548640" y="1600200"/>
            <a:ext cx="7223760" cy="228600"/>
          </a:xfrm>
          <a:prstGeom prst="rect">
            <a:avLst/>
          </a:prstGeom>
          <a:noFill/>
          <a:ln/>
        </p:spPr>
        <p:txBody>
          <a:bodyPr wrap="square" lIns="0" tIns="0" rIns="0" bIns="0" rtlCol="0" anchor="ctr"/>
          <a:lstStyle/>
          <a:p>
            <a:pPr indent="0" marL="0">
              <a:buNone/>
            </a:pPr>
            <a:r>
              <a:rPr lang="en-US" sz="1000" b="1" dirty="0">
                <a:solidFill>
                  <a:srgbClr val="4A3D7A"/>
                </a:solidFill>
                <a:latin typeface="Arial" pitchFamily="34" charset="0"/>
                <a:ea typeface="Arial" pitchFamily="34" charset="-122"/>
                <a:cs typeface="Arial" pitchFamily="34" charset="-120"/>
              </a:rPr>
              <a:t>Training (top row) · Prediction (bottom row)</a:t>
            </a:r>
            <a:endParaRPr lang="en-US" sz="1000" dirty="0"/>
          </a:p>
        </p:txBody>
      </p:sp>
      <p:sp>
        <p:nvSpPr>
          <p:cNvPr id="43" name="Text 41"/>
          <p:cNvSpPr txBox="1"/>
          <p:nvPr/>
        </p:nvSpPr>
        <p:spPr>
          <a:xfrm>
            <a:off x="7863840" y="1783080"/>
            <a:ext cx="3749040" cy="3931920"/>
          </a:xfrm>
          <a:prstGeom prst="rect">
            <a:avLst/>
          </a:prstGeom>
          <a:noFill/>
          <a:ln/>
        </p:spPr>
        <p:txBody>
          <a:bodyPr wrap="square" lIns="0" tIns="0" rIns="0" bIns="0" rtlCol="0" anchor="t"/>
          <a:lstStyle/>
          <a:p>
            <a:pPr indent="0" marL="0">
              <a:spcAft>
                <a:spcPts val="700"/>
              </a:spcAft>
              <a:buNone/>
            </a:pPr>
            <a:r>
              <a:rPr lang="en-US" sz="1300" b="1" dirty="0">
                <a:solidFill>
                  <a:srgbClr val="1F1F2E"/>
                </a:solidFill>
                <a:latin typeface="Arial" pitchFamily="34" charset="0"/>
                <a:ea typeface="Arial" pitchFamily="34" charset="-122"/>
                <a:cs typeface="Arial" pitchFamily="34" charset="-120"/>
              </a:rPr>
              <a:t>Three changes, nothing else: </a:t>
            </a:r>
            <a:pPr indent="0" marL="0">
              <a:spcAft>
                <a:spcPts val="700"/>
              </a:spcAft>
              <a:buNone/>
            </a:pPr>
            <a:endParaRPr lang="en-US" sz="1300" dirty="0"/>
          </a:p>
          <a:p>
            <a:pPr indent="0" marL="0">
              <a:spcAft>
                <a:spcPts val="700"/>
              </a:spcAft>
              <a:buNone/>
            </a:pPr>
            <a:r>
              <a:rPr lang="en-US" sz="1300" b="1" dirty="0">
                <a:solidFill>
                  <a:srgbClr val="1F1F2E"/>
                </a:solidFill>
                <a:latin typeface="Arial" pitchFamily="34" charset="0"/>
                <a:ea typeface="Arial" pitchFamily="34" charset="-122"/>
                <a:cs typeface="Arial" pitchFamily="34" charset="-120"/>
              </a:rPr>
              <a:t>1 </a:t>
            </a:r>
            <a:pPr indent="0" marL="0">
              <a:spcAft>
                <a:spcPts val="700"/>
              </a:spcAft>
              <a:buNone/>
            </a:pPr>
            <a:r>
              <a:rPr lang="en-US" sz="1300" dirty="0">
                <a:solidFill>
                  <a:srgbClr val="1F1F2E"/>
                </a:solidFill>
                <a:latin typeface="Arial" pitchFamily="34" charset="0"/>
                <a:ea typeface="Arial" pitchFamily="34" charset="-122"/>
                <a:cs typeface="Arial" pitchFamily="34" charset="-120"/>
              </a:rPr>
              <a:t>One training example = one storm (57 of them), split by storm.</a:t>
            </a:r>
            <a:endParaRPr lang="en-US" sz="1300" dirty="0"/>
          </a:p>
          <a:p>
            <a:pPr indent="0" marL="0">
              <a:spcAft>
                <a:spcPts val="700"/>
              </a:spcAft>
              <a:buNone/>
            </a:pPr>
            <a:r>
              <a:rPr lang="en-US" sz="1300" b="1" dirty="0">
                <a:solidFill>
                  <a:srgbClr val="1F1F2E"/>
                </a:solidFill>
                <a:latin typeface="Arial" pitchFamily="34" charset="0"/>
                <a:ea typeface="Arial" pitchFamily="34" charset="-122"/>
                <a:cs typeface="Arial" pitchFamily="34" charset="-120"/>
              </a:rPr>
              <a:t>2 </a:t>
            </a:r>
            <a:pPr indent="0" marL="0">
              <a:spcAft>
                <a:spcPts val="700"/>
              </a:spcAft>
              <a:buNone/>
            </a:pPr>
            <a:r>
              <a:rPr lang="en-US" sz="1300" dirty="0">
                <a:solidFill>
                  <a:srgbClr val="1F1F2E"/>
                </a:solidFill>
                <a:latin typeface="Arial" pitchFamily="34" charset="0"/>
                <a:ea typeface="Arial" pitchFamily="34" charset="-122"/>
                <a:cs typeface="Arial" pitchFamily="34" charset="-120"/>
              </a:rPr>
              <a:t>Inputs = the flood map: depth, the fragility probability φ from the Hazus curve, the expected number of flooded sites, timing. No seed bit, nothing sampled.</a:t>
            </a:r>
            <a:endParaRPr lang="en-US" sz="1300" dirty="0"/>
          </a:p>
          <a:p>
            <a:pPr indent="0" marL="0">
              <a:spcAft>
                <a:spcPts val="700"/>
              </a:spcAft>
              <a:buNone/>
            </a:pPr>
            <a:r>
              <a:rPr lang="en-US" sz="1300" b="1" dirty="0">
                <a:solidFill>
                  <a:srgbClr val="1F1F2E"/>
                </a:solidFill>
                <a:latin typeface="Arial" pitchFamily="34" charset="0"/>
                <a:ea typeface="Arial" pitchFamily="34" charset="-122"/>
                <a:cs typeface="Arial" pitchFamily="34" charset="-120"/>
              </a:rPr>
              <a:t>3 </a:t>
            </a:r>
            <a:pPr indent="0" marL="0">
              <a:spcAft>
                <a:spcPts val="700"/>
              </a:spcAft>
              <a:buNone/>
            </a:pPr>
            <a:r>
              <a:rPr lang="en-US" sz="1300" dirty="0">
                <a:solidFill>
                  <a:srgbClr val="1F1F2E"/>
                </a:solidFill>
                <a:latin typeface="Arial" pitchFamily="34" charset="0"/>
                <a:ea typeface="Arial" pitchFamily="34" charset="-122"/>
                <a:cs typeface="Arial" pitchFamily="34" charset="-120"/>
              </a:rPr>
              <a:t>Target = the storm's 1,000-run failure probability per site, which we already have for all 70 storms.</a:t>
            </a:r>
            <a:endParaRPr lang="en-US" sz="1300" dirty="0"/>
          </a:p>
          <a:p>
            <a:pPr indent="0" marL="0">
              <a:spcAft>
                <a:spcPts val="700"/>
              </a:spcAft>
              <a:buNone/>
            </a:pPr>
            <a:r>
              <a:rPr lang="en-US" sz="1300" b="1" dirty="0">
                <a:solidFill>
                  <a:srgbClr val="1F1F2E"/>
                </a:solidFill>
                <a:latin typeface="Arial" pitchFamily="34" charset="0"/>
                <a:ea typeface="Arial" pitchFamily="34" charset="-122"/>
                <a:cs typeface="Arial" pitchFamily="34" charset="-120"/>
              </a:rPr>
              <a:t>Output p = φ + (1 − φ) · g: </a:t>
            </a:r>
            <a:pPr indent="0" marL="0">
              <a:spcAft>
                <a:spcPts val="700"/>
              </a:spcAft>
              <a:buNone/>
            </a:pPr>
            <a:r>
              <a:rPr lang="en-US" sz="1300" dirty="0">
                <a:solidFill>
                  <a:srgbClr val="1F1F2E"/>
                </a:solidFill>
                <a:latin typeface="Arial" pitchFamily="34" charset="0"/>
                <a:ea typeface="Arial" pitchFamily="34" charset="-122"/>
                <a:cs typeface="Arial" pitchFamily="34" charset="-120"/>
              </a:rPr>
              <a:t>the flood part is exact, the network learns only the cascade part g. Example: φ = 0.5, g = 0.6 → p = 0.80.</a:t>
            </a:r>
            <a:endParaRPr lang="en-US" sz="1300" dirty="0"/>
          </a:p>
        </p:txBody>
      </p:sp>
      <p:sp>
        <p:nvSpPr>
          <p:cNvPr id="44" name="Text 42"/>
          <p:cNvSpPr txBox="1"/>
          <p:nvPr/>
        </p:nvSpPr>
        <p:spPr>
          <a:xfrm>
            <a:off x="548640" y="5760720"/>
            <a:ext cx="11064240" cy="365760"/>
          </a:xfrm>
          <a:prstGeom prst="rect">
            <a:avLst/>
          </a:prstGeom>
          <a:noFill/>
          <a:ln/>
        </p:spPr>
        <p:txBody>
          <a:bodyPr wrap="square" lIns="0" tIns="0" rIns="0" bIns="0" rtlCol="0" anchor="ctr"/>
          <a:lstStyle/>
          <a:p>
            <a:pPr indent="0" marL="0">
              <a:buNone/>
            </a:pPr>
            <a:r>
              <a:rPr lang="en-US" sz="1100" dirty="0">
                <a:solidFill>
                  <a:srgbClr val="5B5B70"/>
                </a:solidFill>
                <a:latin typeface="Arial" pitchFamily="34" charset="0"/>
                <a:ea typeface="Arial" pitchFamily="34" charset="-122"/>
                <a:cs typeface="Arial" pitchFamily="34" charset="-120"/>
              </a:rPr>
              <a:t>Same network, same message passing, same training discipline. Red-outlined boxes are new; the rest is unchanged. Full diagram in the design note.</a:t>
            </a:r>
            <a:endParaRPr lang="en-US" sz="1100" dirty="0"/>
          </a:p>
        </p:txBody>
      </p:sp>
      <p:sp>
        <p:nvSpPr>
          <p:cNvPr id="45" name="Text 43"/>
          <p:cNvSpPr txBox="1"/>
          <p:nvPr/>
        </p:nvSpPr>
        <p:spPr>
          <a:xfrm>
            <a:off x="548640" y="6144768"/>
            <a:ext cx="11064240" cy="411480"/>
          </a:xfrm>
          <a:prstGeom prst="rect">
            <a:avLst/>
          </a:prstGeom>
          <a:noFill/>
          <a:ln/>
        </p:spPr>
        <p:txBody>
          <a:bodyPr wrap="square" lIns="0" tIns="0" rIns="0" bIns="0" rtlCol="0" anchor="ctr"/>
          <a:lstStyle/>
          <a:p>
            <a:pPr indent="0" marL="0">
              <a:buNone/>
            </a:pPr>
            <a:r>
              <a:rPr lang="en-US" sz="1200" b="1" i="1" dirty="0">
                <a:solidFill>
                  <a:srgbClr val="4A3D7A"/>
                </a:solidFill>
                <a:latin typeface="Arial" pitchFamily="34" charset="0"/>
                <a:ea typeface="Arial" pitchFamily="34" charset="-122"/>
                <a:cs typeface="Arial" pitchFamily="34" charset="-120"/>
              </a:rPr>
              <a:t>Say:  </a:t>
            </a:r>
            <a:pPr indent="0" marL="0">
              <a:buNone/>
            </a:pPr>
            <a:r>
              <a:rPr lang="en-US" sz="1200" i="1" dirty="0">
                <a:solidFill>
                  <a:srgbClr val="4A3D7A"/>
                </a:solidFill>
                <a:latin typeface="Arial" pitchFamily="34" charset="0"/>
                <a:ea typeface="Arial" pitchFamily="34" charset="-122"/>
                <a:cs typeface="Arial" pitchFamily="34" charset="-120"/>
              </a:rPr>
              <a:t>Same network, new inputs, new target: flood map in, probabilities out, no sampling.</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ctr"/>
          <a:lstStyle/>
          <a:p>
            <a:pPr indent="0" marL="0">
              <a:buNone/>
            </a:pPr>
            <a:r>
              <a:rPr lang="en-US" sz="1100" b="1" spc="200" kern="0" dirty="0">
                <a:solidFill>
                  <a:srgbClr val="4A3D7A"/>
                </a:solidFill>
                <a:latin typeface="Arial" pitchFamily="34" charset="0"/>
                <a:ea typeface="Arial" pitchFamily="34" charset="-122"/>
                <a:cs typeface="Arial" pitchFamily="34" charset="-120"/>
              </a:rPr>
              <a:t>WHAT COMES NEXT · 2 OF 2</a:t>
            </a:r>
            <a:endParaRPr lang="en-US" sz="11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indent="0" marL="0">
              <a:buNone/>
            </a:pPr>
            <a:r>
              <a:rPr lang="en-US" sz="2400" b="1" dirty="0">
                <a:solidFill>
                  <a:srgbClr val="1F1F2E"/>
                </a:solidFill>
                <a:latin typeface="Arial" pitchFamily="34" charset="0"/>
                <a:ea typeface="Arial" pitchFamily="34" charset="-122"/>
                <a:cs typeface="Arial" pitchFamily="34" charset="-120"/>
              </a:rPr>
              <a:t>How we will test it before believing it — and what we need from you</a:t>
            </a:r>
            <a:endParaRPr lang="en-US" sz="2400" dirty="0"/>
          </a:p>
        </p:txBody>
      </p:sp>
      <p:sp>
        <p:nvSpPr>
          <p:cNvPr id="4" name="Shape 2"/>
          <p:cNvSpPr/>
          <p:nvPr/>
        </p:nvSpPr>
        <p:spPr>
          <a:xfrm>
            <a:off x="548640" y="1737360"/>
            <a:ext cx="6035040" cy="3931920"/>
          </a:xfrm>
          <a:prstGeom prst="roundRect">
            <a:avLst>
              <a:gd name="adj" fmla="val 1860"/>
            </a:avLst>
          </a:prstGeom>
          <a:solidFill>
            <a:srgbClr val="EFEBF9"/>
          </a:solidFill>
          <a:ln w="9525">
            <a:solidFill>
              <a:srgbClr val="D9D0F0"/>
            </a:solidFill>
            <a:prstDash val="solid"/>
          </a:ln>
        </p:spPr>
      </p:sp>
      <p:sp>
        <p:nvSpPr>
          <p:cNvPr id="5" name="Text 3"/>
          <p:cNvSpPr txBox="1"/>
          <p:nvPr/>
        </p:nvSpPr>
        <p:spPr>
          <a:xfrm>
            <a:off x="777240" y="1874520"/>
            <a:ext cx="5577840" cy="365760"/>
          </a:xfrm>
          <a:prstGeom prst="rect">
            <a:avLst/>
          </a:prstGeom>
          <a:noFill/>
          <a:ln/>
        </p:spPr>
        <p:txBody>
          <a:bodyPr wrap="square" lIns="0" tIns="0" rIns="0" bIns="0" rtlCol="0" anchor="ctr"/>
          <a:lstStyle/>
          <a:p>
            <a:pPr indent="0" marL="0">
              <a:buNone/>
            </a:pPr>
            <a:r>
              <a:rPr lang="en-US" sz="1500" b="1" dirty="0">
                <a:solidFill>
                  <a:srgbClr val="4A3D7A"/>
                </a:solidFill>
                <a:latin typeface="Arial" pitchFamily="34" charset="0"/>
                <a:ea typeface="Arial" pitchFamily="34" charset="-122"/>
                <a:cs typeface="Arial" pitchFamily="34" charset="-120"/>
              </a:rPr>
              <a:t>The test, pre-registered again</a:t>
            </a:r>
            <a:endParaRPr lang="en-US" sz="1500" dirty="0"/>
          </a:p>
        </p:txBody>
      </p:sp>
      <p:sp>
        <p:nvSpPr>
          <p:cNvPr id="6" name="Text 4"/>
          <p:cNvSpPr txBox="1"/>
          <p:nvPr/>
        </p:nvSpPr>
        <p:spPr>
          <a:xfrm>
            <a:off x="777240" y="2331720"/>
            <a:ext cx="5577840" cy="3291840"/>
          </a:xfrm>
          <a:prstGeom prst="rect">
            <a:avLst/>
          </a:prstGeom>
          <a:noFill/>
          <a:ln/>
        </p:spPr>
        <p:txBody>
          <a:bodyPr wrap="square" lIns="0" tIns="0" rIns="0" bIns="0" rtlCol="0" anchor="t"/>
          <a:lstStyle/>
          <a:p>
            <a:pPr indent="0" marL="0">
              <a:spcAft>
                <a:spcPts val="900"/>
              </a:spcAft>
              <a:buNone/>
            </a:pPr>
            <a:r>
              <a:rPr lang="en-US" sz="1350" b="1" dirty="0">
                <a:solidFill>
                  <a:srgbClr val="1F1F2E"/>
                </a:solidFill>
                <a:latin typeface="Arial" pitchFamily="34" charset="0"/>
                <a:ea typeface="Arial" pitchFamily="34" charset="-122"/>
                <a:cs typeface="Arial" pitchFamily="34" charset="-120"/>
              </a:rPr>
              <a:t>Same 13 unseen storms, </a:t>
            </a:r>
            <a:pPr indent="0" marL="0">
              <a:spcAft>
                <a:spcPts val="900"/>
              </a:spcAft>
              <a:buNone/>
            </a:pPr>
            <a:r>
              <a:rPr lang="en-US" sz="1350" dirty="0">
                <a:solidFill>
                  <a:srgbClr val="1F1F2E"/>
                </a:solidFill>
                <a:latin typeface="Arial" pitchFamily="34" charset="0"/>
                <a:ea typeface="Arial" pitchFamily="34" charset="-122"/>
                <a:cs typeface="Arial" pitchFamily="34" charset="-120"/>
              </a:rPr>
              <a:t>scored against the simulator's own probabilities.</a:t>
            </a:r>
            <a:endParaRPr lang="en-US" sz="1350" dirty="0"/>
          </a:p>
          <a:p>
            <a:pPr indent="0" marL="0">
              <a:spcAft>
                <a:spcPts val="900"/>
              </a:spcAft>
              <a:buNone/>
            </a:pPr>
            <a:r>
              <a:rPr lang="en-US" sz="1350" b="1" dirty="0">
                <a:solidFill>
                  <a:srgbClr val="1F1F2E"/>
                </a:solidFill>
                <a:latin typeface="Arial" pitchFamily="34" charset="0"/>
                <a:ea typeface="Arial" pitchFamily="34" charset="-122"/>
                <a:cs typeface="Arial" pitchFamily="34" charset="-120"/>
              </a:rPr>
              <a:t>Compared with: </a:t>
            </a:r>
            <a:pPr indent="0" marL="0">
              <a:spcAft>
                <a:spcPts val="900"/>
              </a:spcAft>
              <a:buNone/>
            </a:pPr>
            <a:r>
              <a:rPr lang="en-US" sz="1350" dirty="0">
                <a:solidFill>
                  <a:srgbClr val="1F1F2E"/>
                </a:solidFill>
                <a:latin typeface="Arial" pitchFamily="34" charset="0"/>
                <a:ea typeface="Arial" pitchFamily="34" charset="-122"/>
                <a:cs typeface="Arial" pitchFamily="34" charset="-120"/>
              </a:rPr>
              <a:t>fragility only (no cascade) · the lookup table · today's two-stage model (100 draws, averaged) · the simulator's split-half disagreement, which is the floor.</a:t>
            </a:r>
            <a:endParaRPr lang="en-US" sz="1350" dirty="0"/>
          </a:p>
          <a:p>
            <a:pPr indent="0" marL="0">
              <a:spcAft>
                <a:spcPts val="900"/>
              </a:spcAft>
              <a:buNone/>
            </a:pPr>
            <a:r>
              <a:rPr lang="en-US" sz="1350" b="1" dirty="0">
                <a:solidFill>
                  <a:srgbClr val="1F1F2E"/>
                </a:solidFill>
                <a:latin typeface="Arial" pitchFamily="34" charset="0"/>
                <a:ea typeface="Arial" pitchFamily="34" charset="-122"/>
                <a:cs typeface="Arial" pitchFamily="34" charset="-120"/>
              </a:rPr>
              <a:t>Training-size curve 17 → 37 → 57 storms: </a:t>
            </a:r>
            <a:pPr indent="0" marL="0">
              <a:spcAft>
                <a:spcPts val="900"/>
              </a:spcAft>
              <a:buNone/>
            </a:pPr>
            <a:r>
              <a:rPr lang="en-US" sz="1350" dirty="0">
                <a:solidFill>
                  <a:srgbClr val="1F1F2E"/>
                </a:solidFill>
                <a:latin typeface="Arial" pitchFamily="34" charset="0"/>
                <a:ea typeface="Arial" pitchFamily="34" charset="-122"/>
                <a:cs typeface="Arial" pitchFamily="34" charset="-120"/>
              </a:rPr>
              <a:t>does the error keep falling, or flatten? If it flattens, more GISSR maps will not help; different maps would.</a:t>
            </a:r>
            <a:endParaRPr lang="en-US" sz="1350" dirty="0"/>
          </a:p>
          <a:p>
            <a:pPr indent="0" marL="0">
              <a:spcAft>
                <a:spcPts val="900"/>
              </a:spcAft>
              <a:buNone/>
            </a:pPr>
            <a:r>
              <a:rPr lang="en-US" sz="1350" b="1" dirty="0">
                <a:solidFill>
                  <a:srgbClr val="1F1F2E"/>
                </a:solidFill>
                <a:latin typeface="Arial" pitchFamily="34" charset="0"/>
                <a:ea typeface="Arial" pitchFamily="34" charset="-122"/>
                <a:cs typeface="Arial" pitchFamily="34" charset="-120"/>
              </a:rPr>
              <a:t>Predictions D0–D6 frozen before training. </a:t>
            </a:r>
            <a:pPr indent="0" marL="0">
              <a:spcAft>
                <a:spcPts val="900"/>
              </a:spcAft>
              <a:buNone/>
            </a:pPr>
            <a:r>
              <a:rPr lang="en-US" sz="1350" dirty="0">
                <a:solidFill>
                  <a:srgbClr val="1F1F2E"/>
                </a:solidFill>
                <a:latin typeface="Arial" pitchFamily="34" charset="0"/>
                <a:ea typeface="Arial" pitchFamily="34" charset="-122"/>
                <a:cs typeface="Arial" pitchFamily="34" charset="-120"/>
              </a:rPr>
              <a:t>24 runs, under an hour each. Verdicts Monday.</a:t>
            </a:r>
            <a:endParaRPr lang="en-US" sz="1350" dirty="0"/>
          </a:p>
        </p:txBody>
      </p:sp>
      <p:sp>
        <p:nvSpPr>
          <p:cNvPr id="7" name="Shape 5"/>
          <p:cNvSpPr/>
          <p:nvPr/>
        </p:nvSpPr>
        <p:spPr>
          <a:xfrm>
            <a:off x="6858000" y="1737360"/>
            <a:ext cx="4782312" cy="3931920"/>
          </a:xfrm>
          <a:prstGeom prst="roundRect">
            <a:avLst>
              <a:gd name="adj" fmla="val 1860"/>
            </a:avLst>
          </a:prstGeom>
          <a:solidFill>
            <a:srgbClr val="FFFFFF"/>
          </a:solidFill>
          <a:ln w="9525">
            <a:solidFill>
              <a:srgbClr val="4A3D7A"/>
            </a:solidFill>
            <a:prstDash val="solid"/>
          </a:ln>
        </p:spPr>
      </p:sp>
      <p:sp>
        <p:nvSpPr>
          <p:cNvPr id="8" name="Text 6"/>
          <p:cNvSpPr txBox="1"/>
          <p:nvPr/>
        </p:nvSpPr>
        <p:spPr>
          <a:xfrm>
            <a:off x="7086600" y="1874520"/>
            <a:ext cx="4389120" cy="365760"/>
          </a:xfrm>
          <a:prstGeom prst="rect">
            <a:avLst/>
          </a:prstGeom>
          <a:noFill/>
          <a:ln/>
        </p:spPr>
        <p:txBody>
          <a:bodyPr wrap="square" lIns="0" tIns="0" rIns="0" bIns="0" rtlCol="0" anchor="ctr"/>
          <a:lstStyle/>
          <a:p>
            <a:pPr indent="0" marL="0">
              <a:buNone/>
            </a:pPr>
            <a:r>
              <a:rPr lang="en-US" sz="1500" b="1" dirty="0">
                <a:solidFill>
                  <a:srgbClr val="4A3D7A"/>
                </a:solidFill>
                <a:latin typeface="Arial" pitchFamily="34" charset="0"/>
                <a:ea typeface="Arial" pitchFamily="34" charset="-122"/>
                <a:cs typeface="Arial" pitchFamily="34" charset="-120"/>
              </a:rPr>
              <a:t>Questions for you</a:t>
            </a:r>
            <a:endParaRPr lang="en-US" sz="1500" dirty="0"/>
          </a:p>
        </p:txBody>
      </p:sp>
      <p:sp>
        <p:nvSpPr>
          <p:cNvPr id="9" name="Text 7"/>
          <p:cNvSpPr txBox="1"/>
          <p:nvPr/>
        </p:nvSpPr>
        <p:spPr>
          <a:xfrm>
            <a:off x="7086600" y="2331720"/>
            <a:ext cx="4389120" cy="3291840"/>
          </a:xfrm>
          <a:prstGeom prst="rect">
            <a:avLst/>
          </a:prstGeom>
          <a:noFill/>
          <a:ln/>
        </p:spPr>
        <p:txBody>
          <a:bodyPr wrap="square" lIns="0" tIns="0" rIns="0" bIns="0" rtlCol="0" anchor="t"/>
          <a:lstStyle/>
          <a:p>
            <a:pPr indent="0" marL="0">
              <a:spcAft>
                <a:spcPts val="900"/>
              </a:spcAft>
              <a:buNone/>
            </a:pPr>
            <a:r>
              <a:rPr lang="en-US" sz="1350" b="1" dirty="0">
                <a:solidFill>
                  <a:srgbClr val="1F1F2E"/>
                </a:solidFill>
                <a:latin typeface="Arial" pitchFamily="34" charset="0"/>
                <a:ea typeface="Arial" pitchFamily="34" charset="-122"/>
                <a:cs typeface="Arial" pitchFamily="34" charset="-120"/>
              </a:rPr>
              <a:t>1 </a:t>
            </a:r>
            <a:pPr indent="0" marL="0">
              <a:spcAft>
                <a:spcPts val="900"/>
              </a:spcAft>
              <a:buNone/>
            </a:pPr>
            <a:r>
              <a:rPr lang="en-US" sz="1350" dirty="0">
                <a:solidFill>
                  <a:srgbClr val="1F1F2E"/>
                </a:solidFill>
                <a:latin typeface="Arial" pitchFamily="34" charset="0"/>
                <a:ea typeface="Arial" pitchFamily="34" charset="-122"/>
                <a:cs typeface="Arial" pitchFamily="34" charset="-120"/>
              </a:rPr>
              <a:t>Agree the split: 50 train / 7 validation / 13 test, by storm?</a:t>
            </a:r>
            <a:endParaRPr lang="en-US" sz="1350" dirty="0"/>
          </a:p>
          <a:p>
            <a:pPr indent="0" marL="0">
              <a:spcAft>
                <a:spcPts val="900"/>
              </a:spcAft>
              <a:buNone/>
            </a:pPr>
            <a:r>
              <a:rPr lang="en-US" sz="1350" b="1" dirty="0">
                <a:solidFill>
                  <a:srgbClr val="1F1F2E"/>
                </a:solidFill>
                <a:latin typeface="Arial" pitchFamily="34" charset="0"/>
                <a:ea typeface="Arial" pitchFamily="34" charset="-122"/>
                <a:cs typeface="Arial" pitchFamily="34" charset="-120"/>
              </a:rPr>
              <a:t>2 </a:t>
            </a:r>
            <a:pPr indent="0" marL="0">
              <a:spcAft>
                <a:spcPts val="900"/>
              </a:spcAft>
              <a:buNone/>
            </a:pPr>
            <a:r>
              <a:rPr lang="en-US" sz="1350" dirty="0">
                <a:solidFill>
                  <a:srgbClr val="1F1F2E"/>
                </a:solidFill>
                <a:latin typeface="Arial" pitchFamily="34" charset="0"/>
                <a:ea typeface="Arial" pitchFamily="34" charset="-122"/>
                <a:cs typeface="Arial" pitchFamily="34" charset="-120"/>
              </a:rPr>
              <a:t>Agree the predictions, especially the flatten rule?</a:t>
            </a:r>
            <a:endParaRPr lang="en-US" sz="1350" dirty="0"/>
          </a:p>
          <a:p>
            <a:pPr indent="0" marL="0">
              <a:spcAft>
                <a:spcPts val="900"/>
              </a:spcAft>
              <a:buNone/>
            </a:pPr>
            <a:r>
              <a:rPr lang="en-US" sz="1350" b="1" dirty="0">
                <a:solidFill>
                  <a:srgbClr val="1F1F2E"/>
                </a:solidFill>
                <a:latin typeface="Arial" pitchFamily="34" charset="0"/>
                <a:ea typeface="Arial" pitchFamily="34" charset="-122"/>
                <a:cs typeface="Arial" pitchFamily="34" charset="-120"/>
              </a:rPr>
              <a:t>3 </a:t>
            </a:r>
            <a:pPr indent="0" marL="0">
              <a:spcAft>
                <a:spcPts val="900"/>
              </a:spcAft>
              <a:buNone/>
            </a:pPr>
            <a:r>
              <a:rPr lang="en-US" sz="1350" dirty="0">
                <a:solidFill>
                  <a:srgbClr val="1F1F2E"/>
                </a:solidFill>
                <a:latin typeface="Arial" pitchFamily="34" charset="0"/>
                <a:ea typeface="Arial" pitchFamily="34" charset="-122"/>
                <a:cs typeface="Arial" pitchFamily="34" charset="-120"/>
              </a:rPr>
              <a:t>Flood-map sources: can we get a few hundred maps that differ in pattern, not only in water level?</a:t>
            </a:r>
            <a:endParaRPr lang="en-US" sz="1350" dirty="0"/>
          </a:p>
          <a:p>
            <a:pPr indent="0" marL="0">
              <a:spcAft>
                <a:spcPts val="900"/>
              </a:spcAft>
              <a:buNone/>
            </a:pPr>
            <a:r>
              <a:rPr lang="en-US" sz="1350" b="1" dirty="0">
                <a:solidFill>
                  <a:srgbClr val="1F1F2E"/>
                </a:solidFill>
                <a:latin typeface="Arial" pitchFamily="34" charset="0"/>
                <a:ea typeface="Arial" pitchFamily="34" charset="-122"/>
                <a:cs typeface="Arial" pitchFamily="34" charset="-120"/>
              </a:rPr>
              <a:t>4 </a:t>
            </a:r>
            <a:pPr indent="0" marL="0">
              <a:spcAft>
                <a:spcPts val="900"/>
              </a:spcAft>
              <a:buNone/>
            </a:pPr>
            <a:r>
              <a:rPr lang="en-US" sz="1350" dirty="0">
                <a:solidFill>
                  <a:srgbClr val="1F1F2E"/>
                </a:solidFill>
                <a:latin typeface="Arial" pitchFamily="34" charset="0"/>
                <a:ea typeface="Arial" pitchFamily="34" charset="-122"/>
                <a:cs typeface="Arial" pitchFamily="34" charset="-120"/>
              </a:rPr>
              <a:t>Drop the no-size-input arm from future runs?</a:t>
            </a:r>
            <a:endParaRPr lang="en-US" sz="1350" dirty="0"/>
          </a:p>
        </p:txBody>
      </p:sp>
      <p:sp>
        <p:nvSpPr>
          <p:cNvPr id="10" name="Text 8"/>
          <p:cNvSpPr txBox="1"/>
          <p:nvPr/>
        </p:nvSpPr>
        <p:spPr>
          <a:xfrm>
            <a:off x="548640" y="6144768"/>
            <a:ext cx="11064240" cy="411480"/>
          </a:xfrm>
          <a:prstGeom prst="rect">
            <a:avLst/>
          </a:prstGeom>
          <a:noFill/>
          <a:ln/>
        </p:spPr>
        <p:txBody>
          <a:bodyPr wrap="square" lIns="0" tIns="0" rIns="0" bIns="0" rtlCol="0" anchor="ctr"/>
          <a:lstStyle/>
          <a:p>
            <a:pPr indent="0" marL="0">
              <a:buNone/>
            </a:pPr>
            <a:r>
              <a:rPr lang="en-US" sz="1200" b="1" i="1" dirty="0">
                <a:solidFill>
                  <a:srgbClr val="4A3D7A"/>
                </a:solidFill>
                <a:latin typeface="Arial" pitchFamily="34" charset="0"/>
                <a:ea typeface="Arial" pitchFamily="34" charset="-122"/>
                <a:cs typeface="Arial" pitchFamily="34" charset="-120"/>
              </a:rPr>
              <a:t>Say:  </a:t>
            </a:r>
            <a:pPr indent="0" marL="0">
              <a:buNone/>
            </a:pPr>
            <a:r>
              <a:rPr lang="en-US" sz="1200" i="1" dirty="0">
                <a:solidFill>
                  <a:srgbClr val="4A3D7A"/>
                </a:solidFill>
                <a:latin typeface="Arial" pitchFamily="34" charset="0"/>
                <a:ea typeface="Arial" pitchFamily="34" charset="-122"/>
                <a:cs typeface="Arial" pitchFamily="34" charset="-120"/>
              </a:rPr>
              <a:t>Pre-registered again. The training-size curve tells us whether more maps would help, or only different ones.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31: metrics, the more-storms result, and the direct model</dc:title>
  <dc:subject>PptxGenJS Presentation</dc:subject>
  <dc:creator>PptxGenJS</dc:creator>
  <cp:lastModifiedBy>PptxGenJS</cp:lastModifiedBy>
  <cp:revision>1</cp:revision>
  <dcterms:created xsi:type="dcterms:W3CDTF">2026-10-22T02:55:13Z</dcterms:created>
  <dcterms:modified xsi:type="dcterms:W3CDTF">2026-10-22T02:55:13Z</dcterms:modified>
</cp:coreProperties>
</file>